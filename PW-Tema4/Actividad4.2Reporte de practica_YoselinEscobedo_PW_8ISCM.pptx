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3"/>
  </p:notesMasterIdLst>
  <p:sldIdLst>
    <p:sldId id="262" r:id="rId3"/>
    <p:sldId id="273" r:id="rId4"/>
    <p:sldId id="275" r:id="rId5"/>
    <p:sldId id="265" r:id="rId6"/>
    <p:sldId id="276" r:id="rId7"/>
    <p:sldId id="256" r:id="rId8"/>
    <p:sldId id="257" r:id="rId9"/>
    <p:sldId id="258" r:id="rId10"/>
    <p:sldId id="277" r:id="rId11"/>
    <p:sldId id="278" r:id="rId12"/>
    <p:sldId id="279" r:id="rId13"/>
    <p:sldId id="261" r:id="rId14"/>
    <p:sldId id="280" r:id="rId15"/>
    <p:sldId id="282" r:id="rId16"/>
    <p:sldId id="281" r:id="rId17"/>
    <p:sldId id="283" r:id="rId18"/>
    <p:sldId id="284" r:id="rId19"/>
    <p:sldId id="263" r:id="rId20"/>
    <p:sldId id="264" r:id="rId21"/>
    <p:sldId id="286" r:id="rId2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721" autoAdjust="0"/>
    <p:restoredTop sz="94660"/>
  </p:normalViewPr>
  <p:slideViewPr>
    <p:cSldViewPr snapToGrid="0">
      <p:cViewPr varScale="1">
        <p:scale>
          <a:sx n="71" d="100"/>
          <a:sy n="71" d="100"/>
        </p:scale>
        <p:origin x="9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7E1F7E-1671-4129-B45C-E5E236F77733}" type="datetimeFigureOut">
              <a:rPr lang="es-MX" smtClean="0"/>
              <a:t>12/06/2026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DE5224-41A5-4DD7-8C58-A3CDED28D1EF}" type="slidenum">
              <a:rPr lang="es-MX" smtClean="0"/>
              <a:t>‹Nº›</a:t>
            </a:fld>
            <a:endParaRPr lang="es-MX"/>
          </a:p>
        </p:txBody>
      </p:sp>
    </p:spTree>
    <p:extLst>
      <p:ext uri="{BB962C8B-B14F-4D97-AF65-F5344CB8AC3E}">
        <p14:creationId xmlns:p14="http://schemas.microsoft.com/office/powerpoint/2010/main" val="2625259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0569BB-D1AA-41BC-9020-12FA9072CA7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F5541158-CFD6-4C3C-BDE3-79C9F5F31E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C156E42B-87AB-4AF8-88AF-930AFB3369FC}"/>
              </a:ext>
            </a:extLst>
          </p:cNvPr>
          <p:cNvSpPr>
            <a:spLocks noGrp="1"/>
          </p:cNvSpPr>
          <p:nvPr>
            <p:ph type="dt" sz="half" idx="10"/>
          </p:nvPr>
        </p:nvSpPr>
        <p:spPr/>
        <p:txBody>
          <a:bodyPr/>
          <a:lstStyle/>
          <a:p>
            <a:fld id="{A8FE2299-2572-4464-8163-5DB48D5381ED}" type="datetime1">
              <a:rPr lang="es-MX" smtClean="0"/>
              <a:t>12/06/2026</a:t>
            </a:fld>
            <a:endParaRPr lang="es-MX"/>
          </a:p>
        </p:txBody>
      </p:sp>
      <p:sp>
        <p:nvSpPr>
          <p:cNvPr id="5" name="Marcador de pie de página 4">
            <a:extLst>
              <a:ext uri="{FF2B5EF4-FFF2-40B4-BE49-F238E27FC236}">
                <a16:creationId xmlns:a16="http://schemas.microsoft.com/office/drawing/2014/main" id="{E2AD6A0D-EA8B-453D-AE10-AC76323DAF3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6BB4BCA-5729-478B-B189-05322C120D41}"/>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2959232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DBE825-AE03-46CC-B509-C2868569C1D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5C182F8-7F8B-4132-8504-639CE9B6A65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FB52CFE-7F0E-4B86-A717-CC8B5F37B5A9}"/>
              </a:ext>
            </a:extLst>
          </p:cNvPr>
          <p:cNvSpPr>
            <a:spLocks noGrp="1"/>
          </p:cNvSpPr>
          <p:nvPr>
            <p:ph type="dt" sz="half" idx="10"/>
          </p:nvPr>
        </p:nvSpPr>
        <p:spPr/>
        <p:txBody>
          <a:bodyPr/>
          <a:lstStyle/>
          <a:p>
            <a:fld id="{24DD198F-E588-455A-B284-8E22EAD3CEB1}" type="datetime1">
              <a:rPr lang="es-MX" smtClean="0"/>
              <a:t>12/06/2026</a:t>
            </a:fld>
            <a:endParaRPr lang="es-MX"/>
          </a:p>
        </p:txBody>
      </p:sp>
      <p:sp>
        <p:nvSpPr>
          <p:cNvPr id="5" name="Marcador de pie de página 4">
            <a:extLst>
              <a:ext uri="{FF2B5EF4-FFF2-40B4-BE49-F238E27FC236}">
                <a16:creationId xmlns:a16="http://schemas.microsoft.com/office/drawing/2014/main" id="{9BC654AE-C89B-4BEA-A2C6-3A2912190CF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11FBAAC-DACC-40C3-8808-14B34FDC2AA5}"/>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4033494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9024A9-ADC0-475C-A4CE-52EC4194E9C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388DEDB7-2AC4-4038-9094-37466A0EA4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C127CF8-A74A-4A66-80CA-4069A986E340}"/>
              </a:ext>
            </a:extLst>
          </p:cNvPr>
          <p:cNvSpPr>
            <a:spLocks noGrp="1"/>
          </p:cNvSpPr>
          <p:nvPr>
            <p:ph type="dt" sz="half" idx="10"/>
          </p:nvPr>
        </p:nvSpPr>
        <p:spPr/>
        <p:txBody>
          <a:bodyPr/>
          <a:lstStyle/>
          <a:p>
            <a:fld id="{260E2C0D-C35E-4F2F-B39F-6965F2AA64C3}" type="datetime1">
              <a:rPr lang="es-MX" smtClean="0"/>
              <a:t>12/06/2026</a:t>
            </a:fld>
            <a:endParaRPr lang="es-MX"/>
          </a:p>
        </p:txBody>
      </p:sp>
      <p:sp>
        <p:nvSpPr>
          <p:cNvPr id="5" name="Marcador de pie de página 4">
            <a:extLst>
              <a:ext uri="{FF2B5EF4-FFF2-40B4-BE49-F238E27FC236}">
                <a16:creationId xmlns:a16="http://schemas.microsoft.com/office/drawing/2014/main" id="{89E4F050-3352-46A9-9F93-62EEA78D880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A020346-687C-4755-BD4B-F4FCB309E9F3}"/>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673341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03DBBE-D2E4-4F04-B922-5FD7577268A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4BC68BAE-5D08-4DB1-B4F8-B7570F89E75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C093BADE-23A4-4D42-A5BB-1FA6BDBCDF4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E52EA602-54A7-45EB-A826-11A0035CFF6F}"/>
              </a:ext>
            </a:extLst>
          </p:cNvPr>
          <p:cNvSpPr>
            <a:spLocks noGrp="1"/>
          </p:cNvSpPr>
          <p:nvPr>
            <p:ph type="dt" sz="half" idx="10"/>
          </p:nvPr>
        </p:nvSpPr>
        <p:spPr/>
        <p:txBody>
          <a:bodyPr/>
          <a:lstStyle/>
          <a:p>
            <a:fld id="{DD194AF0-3162-4291-B6C0-CD6AFCA70BF0}" type="datetime1">
              <a:rPr lang="es-MX" smtClean="0"/>
              <a:t>12/06/2026</a:t>
            </a:fld>
            <a:endParaRPr lang="es-MX"/>
          </a:p>
        </p:txBody>
      </p:sp>
      <p:sp>
        <p:nvSpPr>
          <p:cNvPr id="6" name="Marcador de pie de página 5">
            <a:extLst>
              <a:ext uri="{FF2B5EF4-FFF2-40B4-BE49-F238E27FC236}">
                <a16:creationId xmlns:a16="http://schemas.microsoft.com/office/drawing/2014/main" id="{844EBFCF-024B-4F45-AE25-565676518D1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66EC06DF-BE02-4D50-976E-47B7A16B6B82}"/>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1238102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460EC7-1D14-4C95-A1F8-137DF6F397A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E1B9F03-7F8A-4BB3-8FB2-248C69A9FB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E931729C-46FF-4211-B612-707528778B1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F51AC62D-32E8-41C0-A71D-01FC60F837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A1F56A6-EE9F-46F9-9F6C-F5C0C65834D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5AC8D94F-CE70-4ACA-A646-58C05D558820}"/>
              </a:ext>
            </a:extLst>
          </p:cNvPr>
          <p:cNvSpPr>
            <a:spLocks noGrp="1"/>
          </p:cNvSpPr>
          <p:nvPr>
            <p:ph type="dt" sz="half" idx="10"/>
          </p:nvPr>
        </p:nvSpPr>
        <p:spPr/>
        <p:txBody>
          <a:bodyPr/>
          <a:lstStyle/>
          <a:p>
            <a:fld id="{4E468F8A-2C08-4E62-8F8A-0D7DB966BE26}" type="datetime1">
              <a:rPr lang="es-MX" smtClean="0"/>
              <a:t>12/06/2026</a:t>
            </a:fld>
            <a:endParaRPr lang="es-MX"/>
          </a:p>
        </p:txBody>
      </p:sp>
      <p:sp>
        <p:nvSpPr>
          <p:cNvPr id="8" name="Marcador de pie de página 7">
            <a:extLst>
              <a:ext uri="{FF2B5EF4-FFF2-40B4-BE49-F238E27FC236}">
                <a16:creationId xmlns:a16="http://schemas.microsoft.com/office/drawing/2014/main" id="{65D87F43-1A42-46F0-943E-15A74E8443D5}"/>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F4D81AF9-C612-4360-9AA5-05A9FA1A3B33}"/>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1821705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D94446-690F-49EA-9935-A793775A3BD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7CEF97F0-CD59-4395-819D-575B099BCC59}"/>
              </a:ext>
            </a:extLst>
          </p:cNvPr>
          <p:cNvSpPr>
            <a:spLocks noGrp="1"/>
          </p:cNvSpPr>
          <p:nvPr>
            <p:ph type="dt" sz="half" idx="10"/>
          </p:nvPr>
        </p:nvSpPr>
        <p:spPr/>
        <p:txBody>
          <a:bodyPr/>
          <a:lstStyle/>
          <a:p>
            <a:fld id="{48A8C8E8-3840-4A61-A7FF-E32A40863D48}" type="datetime1">
              <a:rPr lang="es-MX" smtClean="0"/>
              <a:t>12/06/2026</a:t>
            </a:fld>
            <a:endParaRPr lang="es-MX"/>
          </a:p>
        </p:txBody>
      </p:sp>
      <p:sp>
        <p:nvSpPr>
          <p:cNvPr id="4" name="Marcador de pie de página 3">
            <a:extLst>
              <a:ext uri="{FF2B5EF4-FFF2-40B4-BE49-F238E27FC236}">
                <a16:creationId xmlns:a16="http://schemas.microsoft.com/office/drawing/2014/main" id="{B1445D2D-714D-4012-B8DB-9A6A2B389F6A}"/>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5CCCAFA4-38B3-479F-A478-DA1E2C33EF16}"/>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1373491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290A9B8-38BB-46D4-9638-31D7C88E3905}"/>
              </a:ext>
            </a:extLst>
          </p:cNvPr>
          <p:cNvSpPr>
            <a:spLocks noGrp="1"/>
          </p:cNvSpPr>
          <p:nvPr>
            <p:ph type="dt" sz="half" idx="10"/>
          </p:nvPr>
        </p:nvSpPr>
        <p:spPr/>
        <p:txBody>
          <a:bodyPr/>
          <a:lstStyle/>
          <a:p>
            <a:fld id="{D1254554-DA6D-45F0-8350-14EC85064622}" type="datetime1">
              <a:rPr lang="es-MX" smtClean="0"/>
              <a:t>12/06/2026</a:t>
            </a:fld>
            <a:endParaRPr lang="es-MX"/>
          </a:p>
        </p:txBody>
      </p:sp>
      <p:sp>
        <p:nvSpPr>
          <p:cNvPr id="3" name="Marcador de pie de página 2">
            <a:extLst>
              <a:ext uri="{FF2B5EF4-FFF2-40B4-BE49-F238E27FC236}">
                <a16:creationId xmlns:a16="http://schemas.microsoft.com/office/drawing/2014/main" id="{8BE665E4-512D-4688-B71F-8EBF1E9EA2FA}"/>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B6B721AF-AC52-44F9-B8E1-2942BB55CA4E}"/>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496716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5E4005-27CE-4673-8E2A-3E393024B82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E6CD5B0-4D5F-4626-8167-9BDAB9E027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B160094B-F4D6-45B5-A313-1E20154FF2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F293834-E6EA-4CA6-85FC-579B32CF794E}"/>
              </a:ext>
            </a:extLst>
          </p:cNvPr>
          <p:cNvSpPr>
            <a:spLocks noGrp="1"/>
          </p:cNvSpPr>
          <p:nvPr>
            <p:ph type="dt" sz="half" idx="10"/>
          </p:nvPr>
        </p:nvSpPr>
        <p:spPr/>
        <p:txBody>
          <a:bodyPr/>
          <a:lstStyle/>
          <a:p>
            <a:fld id="{4D56B13F-0668-42D1-8B50-D5193F121249}" type="datetime1">
              <a:rPr lang="es-MX" smtClean="0"/>
              <a:t>12/06/2026</a:t>
            </a:fld>
            <a:endParaRPr lang="es-MX"/>
          </a:p>
        </p:txBody>
      </p:sp>
      <p:sp>
        <p:nvSpPr>
          <p:cNvPr id="6" name="Marcador de pie de página 5">
            <a:extLst>
              <a:ext uri="{FF2B5EF4-FFF2-40B4-BE49-F238E27FC236}">
                <a16:creationId xmlns:a16="http://schemas.microsoft.com/office/drawing/2014/main" id="{00CA0BAB-DDE7-4DFE-90A0-23ED645316B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23202B5-385C-450E-86FD-EDE657DCA17B}"/>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1078034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D6DA8C-5A92-4395-8B52-1B64C0012F6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39150023-BFFF-4E45-BB48-B33318C3A6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9BECFF12-0C6F-4BB4-96CE-B003C0EA2E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F40389C-C27C-4B18-95B7-A39C92F10F94}"/>
              </a:ext>
            </a:extLst>
          </p:cNvPr>
          <p:cNvSpPr>
            <a:spLocks noGrp="1"/>
          </p:cNvSpPr>
          <p:nvPr>
            <p:ph type="dt" sz="half" idx="10"/>
          </p:nvPr>
        </p:nvSpPr>
        <p:spPr/>
        <p:txBody>
          <a:bodyPr/>
          <a:lstStyle/>
          <a:p>
            <a:fld id="{66CBB79D-AA1D-4D5B-B550-A83D69A9EA54}" type="datetime1">
              <a:rPr lang="es-MX" smtClean="0"/>
              <a:t>12/06/2026</a:t>
            </a:fld>
            <a:endParaRPr lang="es-MX"/>
          </a:p>
        </p:txBody>
      </p:sp>
      <p:sp>
        <p:nvSpPr>
          <p:cNvPr id="6" name="Marcador de pie de página 5">
            <a:extLst>
              <a:ext uri="{FF2B5EF4-FFF2-40B4-BE49-F238E27FC236}">
                <a16:creationId xmlns:a16="http://schemas.microsoft.com/office/drawing/2014/main" id="{7E478831-E1D8-4A43-8974-AB1822DCD2F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6602E3EF-8287-47CA-9B6F-1494D91C6ADF}"/>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718620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F10128-0488-488A-9C5F-6BE7434A08E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57090DA6-E9CE-4F26-9757-6DB2E7EAF8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E5E9C56-F4C1-48CE-AE02-C2F84544E0F0}"/>
              </a:ext>
            </a:extLst>
          </p:cNvPr>
          <p:cNvSpPr>
            <a:spLocks noGrp="1"/>
          </p:cNvSpPr>
          <p:nvPr>
            <p:ph type="dt" sz="half" idx="10"/>
          </p:nvPr>
        </p:nvSpPr>
        <p:spPr/>
        <p:txBody>
          <a:bodyPr/>
          <a:lstStyle/>
          <a:p>
            <a:fld id="{79D962F6-F9E0-4712-9CF2-45CAFDE39EBF}" type="datetime1">
              <a:rPr lang="es-MX" smtClean="0"/>
              <a:t>12/06/2026</a:t>
            </a:fld>
            <a:endParaRPr lang="es-MX"/>
          </a:p>
        </p:txBody>
      </p:sp>
      <p:sp>
        <p:nvSpPr>
          <p:cNvPr id="5" name="Marcador de pie de página 4">
            <a:extLst>
              <a:ext uri="{FF2B5EF4-FFF2-40B4-BE49-F238E27FC236}">
                <a16:creationId xmlns:a16="http://schemas.microsoft.com/office/drawing/2014/main" id="{60D66ACF-0E09-42A4-8BD5-A09F849FCF8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0FAB16C-4B13-4E12-9330-698178DFD3EF}"/>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2187047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2C6105C-27C2-4857-83E2-F751F27E66C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F4A8E83D-195D-4EFF-9F61-045A05AE49A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456A393-A363-4812-8C9C-B24C41992E65}"/>
              </a:ext>
            </a:extLst>
          </p:cNvPr>
          <p:cNvSpPr>
            <a:spLocks noGrp="1"/>
          </p:cNvSpPr>
          <p:nvPr>
            <p:ph type="dt" sz="half" idx="10"/>
          </p:nvPr>
        </p:nvSpPr>
        <p:spPr/>
        <p:txBody>
          <a:bodyPr/>
          <a:lstStyle/>
          <a:p>
            <a:fld id="{11CB940F-DCBD-42E6-9CC2-998F61F5CBFF}" type="datetime1">
              <a:rPr lang="es-MX" smtClean="0"/>
              <a:t>12/06/2026</a:t>
            </a:fld>
            <a:endParaRPr lang="es-MX"/>
          </a:p>
        </p:txBody>
      </p:sp>
      <p:sp>
        <p:nvSpPr>
          <p:cNvPr id="5" name="Marcador de pie de página 4">
            <a:extLst>
              <a:ext uri="{FF2B5EF4-FFF2-40B4-BE49-F238E27FC236}">
                <a16:creationId xmlns:a16="http://schemas.microsoft.com/office/drawing/2014/main" id="{5DB29CA4-6735-4DFB-9D4F-0CDF0341646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F7443E7-C4C5-4D96-8315-AC8570BF4FC2}"/>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4231746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5C2DCD-AC8A-449F-8B6B-BF54A68B454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53BB7105-F4B5-48B9-9492-1CFE864DF2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B8851AB1-5EA5-4092-A6A7-77546AF3F78E}"/>
              </a:ext>
            </a:extLst>
          </p:cNvPr>
          <p:cNvSpPr>
            <a:spLocks noGrp="1"/>
          </p:cNvSpPr>
          <p:nvPr>
            <p:ph type="dt" sz="half" idx="10"/>
          </p:nvPr>
        </p:nvSpPr>
        <p:spPr/>
        <p:txBody>
          <a:bodyPr/>
          <a:lstStyle/>
          <a:p>
            <a:fld id="{E6408482-6913-4CD8-988D-F8CEB3846481}" type="datetime1">
              <a:rPr lang="es-MX" smtClean="0"/>
              <a:t>12/06/2026</a:t>
            </a:fld>
            <a:endParaRPr lang="es-MX"/>
          </a:p>
        </p:txBody>
      </p:sp>
      <p:sp>
        <p:nvSpPr>
          <p:cNvPr id="5" name="Marcador de pie de página 4">
            <a:extLst>
              <a:ext uri="{FF2B5EF4-FFF2-40B4-BE49-F238E27FC236}">
                <a16:creationId xmlns:a16="http://schemas.microsoft.com/office/drawing/2014/main" id="{1528A527-841C-48D7-9023-3B22FB0EA3A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61BA832-955B-4C1C-ACE2-DBFCAC872B2A}"/>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36885664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EA191A-A004-4ACC-A7E4-9869F8A8F3B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60295D4-71A2-4340-8242-727F4354F5C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959995C-43A4-4E8C-B7DA-4C83C1BF8231}"/>
              </a:ext>
            </a:extLst>
          </p:cNvPr>
          <p:cNvSpPr>
            <a:spLocks noGrp="1"/>
          </p:cNvSpPr>
          <p:nvPr>
            <p:ph type="dt" sz="half" idx="10"/>
          </p:nvPr>
        </p:nvSpPr>
        <p:spPr/>
        <p:txBody>
          <a:bodyPr/>
          <a:lstStyle/>
          <a:p>
            <a:fld id="{CECC4C02-817C-4D06-88CE-9B92DA7C4F34}" type="datetime1">
              <a:rPr lang="es-MX" smtClean="0"/>
              <a:t>12/06/2026</a:t>
            </a:fld>
            <a:endParaRPr lang="es-MX"/>
          </a:p>
        </p:txBody>
      </p:sp>
      <p:sp>
        <p:nvSpPr>
          <p:cNvPr id="5" name="Marcador de pie de página 4">
            <a:extLst>
              <a:ext uri="{FF2B5EF4-FFF2-40B4-BE49-F238E27FC236}">
                <a16:creationId xmlns:a16="http://schemas.microsoft.com/office/drawing/2014/main" id="{BB976FA6-467E-48EB-9E30-01FC48CDCB1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448C06C-278A-4110-8A82-46FA38F281E2}"/>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32771072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10E0EC-5487-4690-8752-1AC0B2BCE24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C931B0-47BC-449A-B9F0-2AFAE658C1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B547297-227A-4308-AC01-5EE97D30918D}"/>
              </a:ext>
            </a:extLst>
          </p:cNvPr>
          <p:cNvSpPr>
            <a:spLocks noGrp="1"/>
          </p:cNvSpPr>
          <p:nvPr>
            <p:ph type="dt" sz="half" idx="10"/>
          </p:nvPr>
        </p:nvSpPr>
        <p:spPr/>
        <p:txBody>
          <a:bodyPr/>
          <a:lstStyle/>
          <a:p>
            <a:fld id="{034197B3-77B6-4A95-80AC-A657951F7151}" type="datetime1">
              <a:rPr lang="es-MX" smtClean="0"/>
              <a:t>12/06/2026</a:t>
            </a:fld>
            <a:endParaRPr lang="es-MX"/>
          </a:p>
        </p:txBody>
      </p:sp>
      <p:sp>
        <p:nvSpPr>
          <p:cNvPr id="5" name="Marcador de pie de página 4">
            <a:extLst>
              <a:ext uri="{FF2B5EF4-FFF2-40B4-BE49-F238E27FC236}">
                <a16:creationId xmlns:a16="http://schemas.microsoft.com/office/drawing/2014/main" id="{A99CDE20-3BE9-484D-866D-20CCC8D3E6F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C791FF6-E693-4506-976B-9C837A1DF916}"/>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5135422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C1E57B-7FAF-4FF0-B7A7-F4D35109D1A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542F37D2-2597-4D1A-B5BD-CE34F4C94D7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EEC009A9-9921-466E-A087-E32790D830D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11D5E3CD-F50B-4B9D-8A96-84E1B41AAFC8}"/>
              </a:ext>
            </a:extLst>
          </p:cNvPr>
          <p:cNvSpPr>
            <a:spLocks noGrp="1"/>
          </p:cNvSpPr>
          <p:nvPr>
            <p:ph type="dt" sz="half" idx="10"/>
          </p:nvPr>
        </p:nvSpPr>
        <p:spPr/>
        <p:txBody>
          <a:bodyPr/>
          <a:lstStyle/>
          <a:p>
            <a:fld id="{30F6801C-C1FE-48B2-A82A-D189F13D779A}" type="datetime1">
              <a:rPr lang="es-MX" smtClean="0"/>
              <a:t>12/06/2026</a:t>
            </a:fld>
            <a:endParaRPr lang="es-MX"/>
          </a:p>
        </p:txBody>
      </p:sp>
      <p:sp>
        <p:nvSpPr>
          <p:cNvPr id="6" name="Marcador de pie de página 5">
            <a:extLst>
              <a:ext uri="{FF2B5EF4-FFF2-40B4-BE49-F238E27FC236}">
                <a16:creationId xmlns:a16="http://schemas.microsoft.com/office/drawing/2014/main" id="{1AF5FDA7-1722-499C-BE43-31BF162C1A1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FAE19A0-C731-468E-B322-6AFD9590050C}"/>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10367816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573388-20B4-4B4D-943A-1A84E6070E9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96A7C44A-C018-43A4-8B98-B58C66DE2B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0371149-191F-437C-9E31-C38889A4B2C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E77189FE-9214-4887-AECD-D58B07DBB9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61C7D89-F676-41C1-8137-9CADC7939B4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7ECBE8C5-D2D9-4984-85D5-49477B8FA3D5}"/>
              </a:ext>
            </a:extLst>
          </p:cNvPr>
          <p:cNvSpPr>
            <a:spLocks noGrp="1"/>
          </p:cNvSpPr>
          <p:nvPr>
            <p:ph type="dt" sz="half" idx="10"/>
          </p:nvPr>
        </p:nvSpPr>
        <p:spPr/>
        <p:txBody>
          <a:bodyPr/>
          <a:lstStyle/>
          <a:p>
            <a:fld id="{BAA01098-4464-488E-8D58-8BFC77422190}" type="datetime1">
              <a:rPr lang="es-MX" smtClean="0"/>
              <a:t>12/06/2026</a:t>
            </a:fld>
            <a:endParaRPr lang="es-MX"/>
          </a:p>
        </p:txBody>
      </p:sp>
      <p:sp>
        <p:nvSpPr>
          <p:cNvPr id="8" name="Marcador de pie de página 7">
            <a:extLst>
              <a:ext uri="{FF2B5EF4-FFF2-40B4-BE49-F238E27FC236}">
                <a16:creationId xmlns:a16="http://schemas.microsoft.com/office/drawing/2014/main" id="{2D7C5BED-6910-40D3-AFA5-EF145FCEBEC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01F61E42-5E4B-4FEE-AFDD-E1247A974B75}"/>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39359904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B41831-2C98-460B-AD33-5FE8D9170F0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5644DD64-B05B-4C1D-92C1-DA57D6884A3C}"/>
              </a:ext>
            </a:extLst>
          </p:cNvPr>
          <p:cNvSpPr>
            <a:spLocks noGrp="1"/>
          </p:cNvSpPr>
          <p:nvPr>
            <p:ph type="dt" sz="half" idx="10"/>
          </p:nvPr>
        </p:nvSpPr>
        <p:spPr/>
        <p:txBody>
          <a:bodyPr/>
          <a:lstStyle/>
          <a:p>
            <a:fld id="{1F44FD41-6F3A-4FFE-8BD3-0465E47A0E24}" type="datetime1">
              <a:rPr lang="es-MX" smtClean="0"/>
              <a:t>12/06/2026</a:t>
            </a:fld>
            <a:endParaRPr lang="es-MX"/>
          </a:p>
        </p:txBody>
      </p:sp>
      <p:sp>
        <p:nvSpPr>
          <p:cNvPr id="4" name="Marcador de pie de página 3">
            <a:extLst>
              <a:ext uri="{FF2B5EF4-FFF2-40B4-BE49-F238E27FC236}">
                <a16:creationId xmlns:a16="http://schemas.microsoft.com/office/drawing/2014/main" id="{56B981B8-AE69-428A-B794-A01FC27747AB}"/>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601B8BD4-D0AA-4F35-9912-000A6A80919E}"/>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24219862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9710AA4-FE97-4196-B1EF-2A6C309D7FCC}"/>
              </a:ext>
            </a:extLst>
          </p:cNvPr>
          <p:cNvSpPr>
            <a:spLocks noGrp="1"/>
          </p:cNvSpPr>
          <p:nvPr>
            <p:ph type="dt" sz="half" idx="10"/>
          </p:nvPr>
        </p:nvSpPr>
        <p:spPr/>
        <p:txBody>
          <a:bodyPr/>
          <a:lstStyle/>
          <a:p>
            <a:fld id="{1704393C-B2FA-4365-8EE8-5659808E6630}" type="datetime1">
              <a:rPr lang="es-MX" smtClean="0"/>
              <a:t>12/06/2026</a:t>
            </a:fld>
            <a:endParaRPr lang="es-MX"/>
          </a:p>
        </p:txBody>
      </p:sp>
      <p:sp>
        <p:nvSpPr>
          <p:cNvPr id="3" name="Marcador de pie de página 2">
            <a:extLst>
              <a:ext uri="{FF2B5EF4-FFF2-40B4-BE49-F238E27FC236}">
                <a16:creationId xmlns:a16="http://schemas.microsoft.com/office/drawing/2014/main" id="{1EDD75C2-48F9-4A34-A144-438E4E36DAF8}"/>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C34D066D-F48D-4ED2-BB23-0B02471F95E6}"/>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36795807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6EE4BB-82F7-48D2-B765-0C407BAB937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18C936E-C0F2-44C9-9867-1895093C2C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77287E58-CA61-406D-9915-CE96E1AD60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DD64CC4-37F3-430A-B755-3981B50635ED}"/>
              </a:ext>
            </a:extLst>
          </p:cNvPr>
          <p:cNvSpPr>
            <a:spLocks noGrp="1"/>
          </p:cNvSpPr>
          <p:nvPr>
            <p:ph type="dt" sz="half" idx="10"/>
          </p:nvPr>
        </p:nvSpPr>
        <p:spPr/>
        <p:txBody>
          <a:bodyPr/>
          <a:lstStyle/>
          <a:p>
            <a:fld id="{F624F48B-5B65-4BF8-AE9A-C969B0FF3472}" type="datetime1">
              <a:rPr lang="es-MX" smtClean="0"/>
              <a:t>12/06/2026</a:t>
            </a:fld>
            <a:endParaRPr lang="es-MX"/>
          </a:p>
        </p:txBody>
      </p:sp>
      <p:sp>
        <p:nvSpPr>
          <p:cNvPr id="6" name="Marcador de pie de página 5">
            <a:extLst>
              <a:ext uri="{FF2B5EF4-FFF2-40B4-BE49-F238E27FC236}">
                <a16:creationId xmlns:a16="http://schemas.microsoft.com/office/drawing/2014/main" id="{3A4289FA-6025-42C6-ADEF-390811F93FF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DD37AAA-FECB-4045-BCBF-C62CFD0DC5B2}"/>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30770723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C1A7A3-54EC-492A-B1E3-4AA38494DA1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B4D3CBAA-70ED-458A-A5C7-042136290D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FF3BCADC-C214-407F-A166-86FF8AFED7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AF6BDCB-EDF3-4D55-ADB2-33A1B274E918}"/>
              </a:ext>
            </a:extLst>
          </p:cNvPr>
          <p:cNvSpPr>
            <a:spLocks noGrp="1"/>
          </p:cNvSpPr>
          <p:nvPr>
            <p:ph type="dt" sz="half" idx="10"/>
          </p:nvPr>
        </p:nvSpPr>
        <p:spPr/>
        <p:txBody>
          <a:bodyPr/>
          <a:lstStyle/>
          <a:p>
            <a:fld id="{71AB5556-0165-463F-947C-5DBE59740843}" type="datetime1">
              <a:rPr lang="es-MX" smtClean="0"/>
              <a:t>12/06/2026</a:t>
            </a:fld>
            <a:endParaRPr lang="es-MX"/>
          </a:p>
        </p:txBody>
      </p:sp>
      <p:sp>
        <p:nvSpPr>
          <p:cNvPr id="6" name="Marcador de pie de página 5">
            <a:extLst>
              <a:ext uri="{FF2B5EF4-FFF2-40B4-BE49-F238E27FC236}">
                <a16:creationId xmlns:a16="http://schemas.microsoft.com/office/drawing/2014/main" id="{45DE1DA8-DAEB-4105-A6F4-4237CB7AA72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BDEC9FA-8053-47E1-84A9-5C010B809527}"/>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24197646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C5136-58E4-4D50-ABA7-AEF24858B22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63F3E1B-09E8-4C21-A572-C7CB386AE70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98F2573-EE02-42FA-999A-E6C15072AE00}"/>
              </a:ext>
            </a:extLst>
          </p:cNvPr>
          <p:cNvSpPr>
            <a:spLocks noGrp="1"/>
          </p:cNvSpPr>
          <p:nvPr>
            <p:ph type="dt" sz="half" idx="10"/>
          </p:nvPr>
        </p:nvSpPr>
        <p:spPr/>
        <p:txBody>
          <a:bodyPr/>
          <a:lstStyle/>
          <a:p>
            <a:fld id="{55BBD965-4C7C-453E-8575-8EB33E3D31F8}" type="datetime1">
              <a:rPr lang="es-MX" smtClean="0"/>
              <a:t>12/06/2026</a:t>
            </a:fld>
            <a:endParaRPr lang="es-MX"/>
          </a:p>
        </p:txBody>
      </p:sp>
      <p:sp>
        <p:nvSpPr>
          <p:cNvPr id="5" name="Marcador de pie de página 4">
            <a:extLst>
              <a:ext uri="{FF2B5EF4-FFF2-40B4-BE49-F238E27FC236}">
                <a16:creationId xmlns:a16="http://schemas.microsoft.com/office/drawing/2014/main" id="{421ED450-3AE5-4FF3-85C4-D05B7C7D251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730AECC-21CB-45C1-A0BE-6C4F8559F377}"/>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11602378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7593D92-0149-4C30-8F32-2FB45357E71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74265086-F3C6-4C0E-948D-6098979540A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E7CAFC2-9B76-4329-A360-EDC068ACC448}"/>
              </a:ext>
            </a:extLst>
          </p:cNvPr>
          <p:cNvSpPr>
            <a:spLocks noGrp="1"/>
          </p:cNvSpPr>
          <p:nvPr>
            <p:ph type="dt" sz="half" idx="10"/>
          </p:nvPr>
        </p:nvSpPr>
        <p:spPr/>
        <p:txBody>
          <a:bodyPr/>
          <a:lstStyle/>
          <a:p>
            <a:fld id="{1CB822E0-8237-4399-B7AA-585A5E1817EB}" type="datetime1">
              <a:rPr lang="es-MX" smtClean="0"/>
              <a:t>12/06/2026</a:t>
            </a:fld>
            <a:endParaRPr lang="es-MX"/>
          </a:p>
        </p:txBody>
      </p:sp>
      <p:sp>
        <p:nvSpPr>
          <p:cNvPr id="5" name="Marcador de pie de página 4">
            <a:extLst>
              <a:ext uri="{FF2B5EF4-FFF2-40B4-BE49-F238E27FC236}">
                <a16:creationId xmlns:a16="http://schemas.microsoft.com/office/drawing/2014/main" id="{8CD1CFF8-6936-4283-8104-F6CE0CEE0DD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301C631-B822-40DE-80CA-54EF54773D83}"/>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1746269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39B675D-071B-4847-9543-0DCB7D9C78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8D314C1-8F19-418C-856F-AC97FC978A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7BC66FD-9D89-41C0-BC61-80EDD1C390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92D27E-E11C-4E94-B260-FAC56AC4A330}" type="datetime1">
              <a:rPr lang="es-MX" smtClean="0"/>
              <a:t>12/06/2026</a:t>
            </a:fld>
            <a:endParaRPr lang="es-MX"/>
          </a:p>
        </p:txBody>
      </p:sp>
      <p:sp>
        <p:nvSpPr>
          <p:cNvPr id="5" name="Marcador de pie de página 4">
            <a:extLst>
              <a:ext uri="{FF2B5EF4-FFF2-40B4-BE49-F238E27FC236}">
                <a16:creationId xmlns:a16="http://schemas.microsoft.com/office/drawing/2014/main" id="{7AA1CAEC-B7C9-432B-A5D8-7E64531535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3DC3655C-7C03-453D-8F41-CD80804D8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FAD80A-BD4B-4644-B5A4-99133F8C7605}" type="slidenum">
              <a:rPr lang="es-MX" smtClean="0"/>
              <a:t>‹Nº›</a:t>
            </a:fld>
            <a:endParaRPr lang="es-MX"/>
          </a:p>
        </p:txBody>
      </p:sp>
    </p:spTree>
    <p:extLst>
      <p:ext uri="{BB962C8B-B14F-4D97-AF65-F5344CB8AC3E}">
        <p14:creationId xmlns:p14="http://schemas.microsoft.com/office/powerpoint/2010/main" val="1465128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454B1E2-0AC7-496A-BEFA-96D3257DC3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FE087CF1-8B2C-49E2-AFC5-A64F9C12A5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3D5F78A-4156-447D-BEF5-C5C2F7FFA7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6E07ED-99B2-44E9-B616-C015C1D5AEDE}" type="datetime1">
              <a:rPr lang="es-MX" smtClean="0"/>
              <a:t>12/06/2026</a:t>
            </a:fld>
            <a:endParaRPr lang="es-MX"/>
          </a:p>
        </p:txBody>
      </p:sp>
      <p:sp>
        <p:nvSpPr>
          <p:cNvPr id="5" name="Marcador de pie de página 4">
            <a:extLst>
              <a:ext uri="{FF2B5EF4-FFF2-40B4-BE49-F238E27FC236}">
                <a16:creationId xmlns:a16="http://schemas.microsoft.com/office/drawing/2014/main" id="{21522330-613B-443E-906B-D6CCC369FF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6608A37D-C0D8-40F1-AB6E-EFCDDA4A2C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502DAC-90BF-45A6-8B5C-07C61D9A2095}" type="slidenum">
              <a:rPr lang="es-MX" smtClean="0"/>
              <a:t>‹Nº›</a:t>
            </a:fld>
            <a:endParaRPr lang="es-MX"/>
          </a:p>
        </p:txBody>
      </p:sp>
    </p:spTree>
    <p:extLst>
      <p:ext uri="{BB962C8B-B14F-4D97-AF65-F5344CB8AC3E}">
        <p14:creationId xmlns:p14="http://schemas.microsoft.com/office/powerpoint/2010/main" val="25197584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1EC1F6CC-7BF3-471C-ACB4-A42ECE5F5FC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10600" y="399828"/>
            <a:ext cx="1685296" cy="687876"/>
          </a:xfrm>
          <a:prstGeom prst="rect">
            <a:avLst/>
          </a:prstGeom>
        </p:spPr>
      </p:pic>
      <p:pic>
        <p:nvPicPr>
          <p:cNvPr id="3" name="Imagen 2">
            <a:extLst>
              <a:ext uri="{FF2B5EF4-FFF2-40B4-BE49-F238E27FC236}">
                <a16:creationId xmlns:a16="http://schemas.microsoft.com/office/drawing/2014/main" id="{D5AFBEAA-4C56-4B12-A262-9A51F25B018C}"/>
              </a:ext>
            </a:extLst>
          </p:cNvPr>
          <p:cNvPicPr>
            <a:picLocks noChangeAspect="1"/>
          </p:cNvPicPr>
          <p:nvPr/>
        </p:nvPicPr>
        <p:blipFill>
          <a:blip r:embed="rId3">
            <a:extLst>
              <a:ext uri="{28A0092B-C50C-407E-A947-70E740481C1C}">
                <a14:useLocalDpi xmlns:a14="http://schemas.microsoft.com/office/drawing/2010/main" val="0"/>
              </a:ext>
            </a:extLst>
          </a:blip>
          <a:srcRect l="65474" t="-1" b="-40163"/>
          <a:stretch/>
        </p:blipFill>
        <p:spPr>
          <a:xfrm>
            <a:off x="5725501" y="309135"/>
            <a:ext cx="1752758" cy="1054163"/>
          </a:xfrm>
          <a:prstGeom prst="rect">
            <a:avLst/>
          </a:prstGeom>
        </p:spPr>
      </p:pic>
      <p:sp>
        <p:nvSpPr>
          <p:cNvPr id="4" name="CuadroTexto 3">
            <a:extLst>
              <a:ext uri="{FF2B5EF4-FFF2-40B4-BE49-F238E27FC236}">
                <a16:creationId xmlns:a16="http://schemas.microsoft.com/office/drawing/2014/main" id="{DDFEC3B5-7446-4AA9-9BA0-C981DBC6B43E}"/>
              </a:ext>
            </a:extLst>
          </p:cNvPr>
          <p:cNvSpPr txBox="1"/>
          <p:nvPr/>
        </p:nvSpPr>
        <p:spPr>
          <a:xfrm>
            <a:off x="2547226" y="1359301"/>
            <a:ext cx="7234002" cy="5362174"/>
          </a:xfrm>
          <a:prstGeom prst="rect">
            <a:avLst/>
          </a:prstGeom>
          <a:noFill/>
        </p:spPr>
        <p:txBody>
          <a:bodyPr wrap="square">
            <a:spAutoFit/>
          </a:bodyPr>
          <a:ls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Tecnológico Nacional de México</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Instituto Tecnológico de Frontera Comalapa </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0"/>
              </a:spcBef>
              <a:spcAft>
                <a:spcPts val="800"/>
              </a:spcAft>
              <a:buClrTx/>
              <a:buSzTx/>
              <a:buFontTx/>
              <a:buNone/>
              <a:tabLst/>
              <a:defRPr/>
            </a:pPr>
            <a:r>
              <a:rPr kumimoji="0" lang="es-MX"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Reporte de práctica </a:t>
            </a:r>
          </a:p>
          <a:p>
            <a:pPr marL="0" marR="0" lvl="0" indent="0" algn="ctr" defTabSz="914400" rtl="0" eaLnBrk="1" fontAlgn="auto" latinLnBrk="0" hangingPunct="1">
              <a:lnSpc>
                <a:spcPct val="150000"/>
              </a:lnSpc>
              <a:spcBef>
                <a:spcPts val="0"/>
              </a:spcBef>
              <a:spcAft>
                <a:spcPts val="8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ptos" panose="020B0004020202020204" pitchFamily="34" charset="0"/>
                <a:cs typeface="Arial" panose="020B0604020202020204" pitchFamily="34" charset="0"/>
              </a:rPr>
              <a:t>Programación web</a:t>
            </a:r>
          </a:p>
          <a:p>
            <a:pPr marL="0" marR="0" lvl="0" indent="0" algn="ctr" defTabSz="914400" rtl="0" eaLnBrk="1" fontAlgn="auto" latinLnBrk="0" hangingPunct="1">
              <a:lnSpc>
                <a:spcPct val="150000"/>
              </a:lnSpc>
              <a:spcBef>
                <a:spcPts val="0"/>
              </a:spcBef>
              <a:spcAft>
                <a:spcPts val="800"/>
              </a:spcAft>
              <a:buClrTx/>
              <a:buSzTx/>
              <a:buFontTx/>
              <a:buNone/>
              <a:tabLst/>
              <a:defRPr/>
            </a:pPr>
            <a:endPar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0"/>
              </a:spcBef>
              <a:spcAft>
                <a:spcPts val="8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Alumna: Gleysi Yoselin Escobedo López</a:t>
            </a: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Semestre: 8</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rial" panose="020B06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Número de control: 22270456</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Carrera: Ingeniería en Sistemas Computacionales</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Docente: Ing. </a:t>
            </a:r>
            <a:r>
              <a:rPr kumimoji="0" lang="es-E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Francisco Javier Velázquez Mingo</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Fecha de entrega: 4 de junio de 2026</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9D4C9BBF-FEB7-426F-9540-01718B54F0DD}"/>
              </a:ext>
            </a:extLst>
          </p:cNvPr>
          <p:cNvPicPr>
            <a:picLocks noChangeAspect="1"/>
          </p:cNvPicPr>
          <p:nvPr/>
        </p:nvPicPr>
        <p:blipFill>
          <a:blip r:embed="rId3">
            <a:extLst>
              <a:ext uri="{28A0092B-C50C-407E-A947-70E740481C1C}">
                <a14:useLocalDpi xmlns:a14="http://schemas.microsoft.com/office/drawing/2010/main" val="0"/>
              </a:ext>
            </a:extLst>
          </a:blip>
          <a:srcRect r="37787" b="6206"/>
          <a:stretch/>
        </p:blipFill>
        <p:spPr>
          <a:xfrm>
            <a:off x="2017468" y="122721"/>
            <a:ext cx="2599700" cy="580650"/>
          </a:xfrm>
          <a:prstGeom prst="rect">
            <a:avLst/>
          </a:prstGeom>
        </p:spPr>
      </p:pic>
      <p:sp>
        <p:nvSpPr>
          <p:cNvPr id="6" name="Marcador de número de diapositiva 5">
            <a:extLst>
              <a:ext uri="{FF2B5EF4-FFF2-40B4-BE49-F238E27FC236}">
                <a16:creationId xmlns:a16="http://schemas.microsoft.com/office/drawing/2014/main" id="{D0B9732A-2E66-4426-B98C-DE2B98A09ABC}"/>
              </a:ext>
            </a:extLst>
          </p:cNvPr>
          <p:cNvSpPr>
            <a:spLocks noGrp="1"/>
          </p:cNvSpPr>
          <p:nvPr>
            <p:ph type="sldNum" sz="quarter" idx="12"/>
          </p:nvPr>
        </p:nvSpPr>
        <p:spPr/>
        <p:txBody>
          <a:bodyPr/>
          <a:lstStyle/>
          <a:p>
            <a:fld id="{28FAD80A-BD4B-4644-B5A4-99133F8C7605}" type="slidenum">
              <a:rPr lang="es-MX" smtClean="0"/>
              <a:t>1</a:t>
            </a:fld>
            <a:endParaRPr lang="es-MX"/>
          </a:p>
        </p:txBody>
      </p:sp>
    </p:spTree>
    <p:extLst>
      <p:ext uri="{BB962C8B-B14F-4D97-AF65-F5344CB8AC3E}">
        <p14:creationId xmlns:p14="http://schemas.microsoft.com/office/powerpoint/2010/main" val="1222595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8E05B76-8C46-41F1-8E3D-E9CCAACF8FAF}"/>
              </a:ext>
            </a:extLst>
          </p:cNvPr>
          <p:cNvSpPr txBox="1"/>
          <p:nvPr/>
        </p:nvSpPr>
        <p:spPr>
          <a:xfrm>
            <a:off x="2528303" y="458858"/>
            <a:ext cx="9305144" cy="10234084"/>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Contenido</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Introducción……………………………………………………………..……………3</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Justificación……………………………………………………………..……………4</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Reporte de tercer avance </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Avance…………………………………………….…………………………………5</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Ajuste en el manejo de roles y seguridad de navegación- Administrador…….6-8</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Ajuste en el manejo de roles y seguridad de navegación- Alumno……………</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9</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-11</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App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Routes</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……...…………..…………………………………………………12</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Inicio de sesión como Administrador……..……...…………..……………………13-14</a:t>
            </a:r>
          </a:p>
          <a:p>
            <a:pPr algn="just">
              <a:lnSpc>
                <a:spcPct val="150000"/>
              </a:lnSpc>
              <a:spcAft>
                <a:spcPts val="800"/>
              </a:spcAf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Botón para cerrar sesión…………………..……...…………..……………………15-17</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Conclusión…………………………………………………………………………....</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18</a:t>
            </a: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Fuentes de información………………………..…………………………………....</a:t>
            </a:r>
            <a:r>
              <a:rPr lang="es-MX" sz="1600">
                <a:solidFill>
                  <a:prstClr val="black"/>
                </a:solidFill>
                <a:latin typeface="Arial" panose="020B0604020202020204" pitchFamily="34" charset="0"/>
                <a:ea typeface="Aptos" panose="020B0004020202020204" pitchFamily="34" charset="0"/>
                <a:cs typeface="Arial" panose="020B0604020202020204" pitchFamily="34" charset="0"/>
              </a:rPr>
              <a:t>19</a:t>
            </a: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ES"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ES"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ES" sz="14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ES" sz="14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ES"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3" name="Marcador de número de diapositiva 2">
            <a:extLst>
              <a:ext uri="{FF2B5EF4-FFF2-40B4-BE49-F238E27FC236}">
                <a16:creationId xmlns:a16="http://schemas.microsoft.com/office/drawing/2014/main" id="{D0658A4E-72AE-4243-BE78-EB0ECDB469D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4A6827-6711-499C-91D6-E14C610205BC}"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1573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0CE0191-9C54-491F-AFCD-659839E54898}"/>
              </a:ext>
            </a:extLst>
          </p:cNvPr>
          <p:cNvSpPr txBox="1"/>
          <p:nvPr/>
        </p:nvSpPr>
        <p:spPr>
          <a:xfrm>
            <a:off x="1578009" y="1140937"/>
            <a:ext cx="9305144" cy="4770537"/>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Introducción</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El presente reporte documenta un avance más del proyecto "Solicita-</a:t>
            </a:r>
            <a:r>
              <a:rPr kumimoji="0" lang="es-MX" sz="1800" b="0"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Tec</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un sistema de gestión de solicitudes de documentos académicos desarrollado para el Instituto Tecnológico de Frontera Comalapa. En esta etapa del desarrollo, el enfoque principal se centra en la implementación de mecanismos de autenticación y control de acceso.</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Utilizando el </a:t>
            </a:r>
            <a:r>
              <a:rPr kumimoji="0" lang="es-MX" sz="1800" b="0"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framework</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Angular en el </a:t>
            </a:r>
            <a:r>
              <a:rPr kumimoji="0" lang="es-MX" sz="1800" b="0"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frontend</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y </a:t>
            </a:r>
            <a:r>
              <a:rPr kumimoji="0" lang="es-MX" sz="1800" b="0"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Supabase</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como plataforma de </a:t>
            </a:r>
            <a:r>
              <a:rPr kumimoji="0" lang="es-MX" sz="1800" b="0"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Backend</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-as-a-</a:t>
            </a:r>
            <a:r>
              <a:rPr kumimoji="0" lang="es-MX" sz="1800" b="0"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Service</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se han integrado funcionalidades para garantizar que la navegación entre los paneles de Administrador y Alumno sea segura y restringida. A lo largo de este documento, se detallará el proceso técnico de creación de "</a:t>
            </a:r>
            <a:r>
              <a:rPr kumimoji="0" lang="es-MX" sz="1800" b="0"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Guards</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la gestión de sesiones y el manejo de roles a nivel de base de datos, asegurando así la integridad de la información y una experiencia de usuario personalizada según su perfil.</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3" name="Marcador de número de diapositiva 2">
            <a:extLst>
              <a:ext uri="{FF2B5EF4-FFF2-40B4-BE49-F238E27FC236}">
                <a16:creationId xmlns:a16="http://schemas.microsoft.com/office/drawing/2014/main" id="{C0844D1A-B0B6-46CC-A6F2-230A2CC20DD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2C58D8-1624-4D54-ACD0-789AEADE08C3}"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0446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69FE783-E8E1-4393-A7C7-9A7FFD018D1D}"/>
              </a:ext>
            </a:extLst>
          </p:cNvPr>
          <p:cNvSpPr txBox="1"/>
          <p:nvPr/>
        </p:nvSpPr>
        <p:spPr>
          <a:xfrm>
            <a:off x="1559542" y="1304383"/>
            <a:ext cx="9305144" cy="3103927"/>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Justificación</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En el desarrollo de aplicaciones web, la seguridad es una característica primordial. Durante las fases previas del proyecto, se identificó una vulnerabilidad: el acceso a rutas mediante la manipulación directa de la URL, permitiendo a usuarios no autenticados visualizar interfaces administrativas o de alumnos. La implementación de este avance se basa en la necesidad de reducir dichos riesgos de seguridad. Al integrar Angular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Guards</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CanActivate</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y servicios de autenticación con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Supabase</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se logra un control de las rutas. Esto protege los datos sensibles de los estudiantes y también establece una jerarquía de permisos exclusivos.</a:t>
            </a: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3" name="Marcador de número de diapositiva 2">
            <a:extLst>
              <a:ext uri="{FF2B5EF4-FFF2-40B4-BE49-F238E27FC236}">
                <a16:creationId xmlns:a16="http://schemas.microsoft.com/office/drawing/2014/main" id="{956A23CC-72DB-482E-A641-B0ED1127D5FB}"/>
              </a:ext>
            </a:extLst>
          </p:cNvPr>
          <p:cNvSpPr>
            <a:spLocks noGrp="1"/>
          </p:cNvSpPr>
          <p:nvPr>
            <p:ph type="sldNum" sz="quarter" idx="12"/>
          </p:nvPr>
        </p:nvSpPr>
        <p:spPr/>
        <p:txBody>
          <a:bodyPr/>
          <a:lstStyle/>
          <a:p>
            <a:fld id="{28FAD80A-BD4B-4644-B5A4-99133F8C7605}" type="slidenum">
              <a:rPr lang="es-MX" smtClean="0"/>
              <a:t>4</a:t>
            </a:fld>
            <a:endParaRPr lang="es-MX"/>
          </a:p>
        </p:txBody>
      </p:sp>
    </p:spTree>
    <p:extLst>
      <p:ext uri="{BB962C8B-B14F-4D97-AF65-F5344CB8AC3E}">
        <p14:creationId xmlns:p14="http://schemas.microsoft.com/office/powerpoint/2010/main" val="2120629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69FE783-E8E1-4393-A7C7-9A7FFD018D1D}"/>
              </a:ext>
            </a:extLst>
          </p:cNvPr>
          <p:cNvSpPr txBox="1"/>
          <p:nvPr/>
        </p:nvSpPr>
        <p:spPr>
          <a:xfrm>
            <a:off x="1815036" y="937110"/>
            <a:ext cx="9305144" cy="1626599"/>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Ajuste en el manejo de roles y seguridad de navegación</a:t>
            </a:r>
          </a:p>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dirty="0">
                <a:solidFill>
                  <a:prstClr val="black"/>
                </a:solidFill>
                <a:latin typeface="Arial" panose="020B0604020202020204" pitchFamily="34" charset="0"/>
                <a:cs typeface="Arial" panose="020B0604020202020204" pitchFamily="34" charset="0"/>
              </a:rPr>
              <a:t>En avances anteriores, se identificó que podía navegarse a los paneles de administrador y alumno sin haber iniciado sesión, únicamente usando la ruta correspondiente. Esta vulnerabilidad se resolvió ajustando ciertas líneas de código.</a:t>
            </a: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1026" name="Picture 2" descr="21. Privilegios y Roles de Usuarios – Academia Códigos de Programación">
            <a:extLst>
              <a:ext uri="{FF2B5EF4-FFF2-40B4-BE49-F238E27FC236}">
                <a16:creationId xmlns:a16="http://schemas.microsoft.com/office/drawing/2014/main" id="{A66529B9-D7DC-484F-92E6-5524A01ACA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7662" y="3001963"/>
            <a:ext cx="3876675" cy="1938338"/>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número de diapositiva 2">
            <a:extLst>
              <a:ext uri="{FF2B5EF4-FFF2-40B4-BE49-F238E27FC236}">
                <a16:creationId xmlns:a16="http://schemas.microsoft.com/office/drawing/2014/main" id="{29BC5E48-6405-464F-977D-DC75704FBF13}"/>
              </a:ext>
            </a:extLst>
          </p:cNvPr>
          <p:cNvSpPr>
            <a:spLocks noGrp="1"/>
          </p:cNvSpPr>
          <p:nvPr>
            <p:ph type="sldNum" sz="quarter" idx="12"/>
          </p:nvPr>
        </p:nvSpPr>
        <p:spPr/>
        <p:txBody>
          <a:bodyPr/>
          <a:lstStyle/>
          <a:p>
            <a:fld id="{28FAD80A-BD4B-4644-B5A4-99133F8C7605}" type="slidenum">
              <a:rPr lang="es-MX" smtClean="0"/>
              <a:t>5</a:t>
            </a:fld>
            <a:endParaRPr lang="es-MX"/>
          </a:p>
        </p:txBody>
      </p:sp>
    </p:spTree>
    <p:extLst>
      <p:ext uri="{BB962C8B-B14F-4D97-AF65-F5344CB8AC3E}">
        <p14:creationId xmlns:p14="http://schemas.microsoft.com/office/powerpoint/2010/main" val="2554034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C89F5F5F-8B86-43E1-BCAE-6ECFD35AAE54}"/>
              </a:ext>
            </a:extLst>
          </p:cNvPr>
          <p:cNvPicPr>
            <a:picLocks noChangeAspect="1"/>
          </p:cNvPicPr>
          <p:nvPr/>
        </p:nvPicPr>
        <p:blipFill rotWithShape="1">
          <a:blip r:embed="rId2"/>
          <a:srcRect t="17928" r="14290"/>
          <a:stretch/>
        </p:blipFill>
        <p:spPr>
          <a:xfrm>
            <a:off x="6594849" y="758265"/>
            <a:ext cx="4289049" cy="1990424"/>
          </a:xfrm>
          <a:prstGeom prst="rect">
            <a:avLst/>
          </a:prstGeom>
        </p:spPr>
      </p:pic>
      <p:pic>
        <p:nvPicPr>
          <p:cNvPr id="7" name="Imagen 6">
            <a:extLst>
              <a:ext uri="{FF2B5EF4-FFF2-40B4-BE49-F238E27FC236}">
                <a16:creationId xmlns:a16="http://schemas.microsoft.com/office/drawing/2014/main" id="{AE5AB2A9-56A3-421B-827A-10AA477B4FED}"/>
              </a:ext>
            </a:extLst>
          </p:cNvPr>
          <p:cNvPicPr>
            <a:picLocks noChangeAspect="1"/>
          </p:cNvPicPr>
          <p:nvPr/>
        </p:nvPicPr>
        <p:blipFill rotWithShape="1">
          <a:blip r:embed="rId3"/>
          <a:srcRect l="19525" t="25333" b="9062"/>
          <a:stretch/>
        </p:blipFill>
        <p:spPr>
          <a:xfrm>
            <a:off x="5843775" y="3333376"/>
            <a:ext cx="5791199" cy="2654300"/>
          </a:xfrm>
          <a:prstGeom prst="rect">
            <a:avLst/>
          </a:prstGeom>
        </p:spPr>
      </p:pic>
      <p:sp>
        <p:nvSpPr>
          <p:cNvPr id="8" name="CuadroTexto 7">
            <a:extLst>
              <a:ext uri="{FF2B5EF4-FFF2-40B4-BE49-F238E27FC236}">
                <a16:creationId xmlns:a16="http://schemas.microsoft.com/office/drawing/2014/main" id="{C73DA289-AA1F-470E-9D1F-05AC632AEA21}"/>
              </a:ext>
            </a:extLst>
          </p:cNvPr>
          <p:cNvSpPr txBox="1"/>
          <p:nvPr/>
        </p:nvSpPr>
        <p:spPr>
          <a:xfrm>
            <a:off x="1002236" y="1260570"/>
            <a:ext cx="4446064" cy="5094215"/>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Ajuste en el manejo de roles y seguridad de navegación- Administrador</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sz="1600" dirty="0">
                <a:solidFill>
                  <a:prstClr val="black"/>
                </a:solidFill>
                <a:latin typeface="Arial" panose="020B0604020202020204" pitchFamily="34" charset="0"/>
                <a:cs typeface="Arial" panose="020B0604020202020204" pitchFamily="34" charset="0"/>
              </a:rPr>
              <a:t>Para asignarle seguridad al rol de administrador, primero se ingresó al proyecto.</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Se abrió una nueva terminal.</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Una vez asegurado que la ubicación es la raíz del documento, se ejecutó el comando:</a:t>
            </a:r>
          </a:p>
          <a:p>
            <a:pPr marR="0" lvl="0" algn="just" defTabSz="914400" rtl="0" eaLnBrk="1" fontAlgn="auto" latinLnBrk="0" hangingPunct="1">
              <a:lnSpc>
                <a:spcPct val="150000"/>
              </a:lnSpc>
              <a:spcBef>
                <a:spcPts val="0"/>
              </a:spcBef>
              <a:spcAft>
                <a:spcPts val="800"/>
              </a:spcAft>
              <a:buClrTx/>
              <a:buSzTx/>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ng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generate</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guard</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guards</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admin</a:t>
            </a: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R="0" lvl="0" algn="just" defTabSz="914400" rtl="0" eaLnBrk="1" fontAlgn="auto" latinLnBrk="0" hangingPunct="1">
              <a:lnSpc>
                <a:spcPct val="150000"/>
              </a:lnSpc>
              <a:spcBef>
                <a:spcPts val="0"/>
              </a:spcBef>
              <a:spcAft>
                <a:spcPts val="800"/>
              </a:spcAft>
              <a:buClrTx/>
              <a:buSzTx/>
              <a:tabLst/>
              <a:defRPr/>
            </a:pP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Para crear un nuevo </a:t>
            </a:r>
            <a:r>
              <a:rPr lang="es-MX" sz="1600" dirty="0" err="1">
                <a:solidFill>
                  <a:prstClr val="black"/>
                </a:solidFill>
                <a:latin typeface="Arial" panose="020B0604020202020204" pitchFamily="34" charset="0"/>
                <a:ea typeface="Aptos" panose="020B0004020202020204" pitchFamily="34" charset="0"/>
                <a:cs typeface="Arial" panose="020B0604020202020204" pitchFamily="34" charset="0"/>
              </a:rPr>
              <a:t>archivo.ts</a:t>
            </a: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E418B735-F26A-447D-A60B-F3C98BF310E7}"/>
              </a:ext>
            </a:extLst>
          </p:cNvPr>
          <p:cNvSpPr>
            <a:spLocks noGrp="1"/>
          </p:cNvSpPr>
          <p:nvPr>
            <p:ph type="sldNum" sz="quarter" idx="12"/>
          </p:nvPr>
        </p:nvSpPr>
        <p:spPr/>
        <p:txBody>
          <a:bodyPr/>
          <a:lstStyle/>
          <a:p>
            <a:fld id="{28FAD80A-BD4B-4644-B5A4-99133F8C7605}" type="slidenum">
              <a:rPr lang="es-MX" smtClean="0"/>
              <a:t>6</a:t>
            </a:fld>
            <a:endParaRPr lang="es-MX"/>
          </a:p>
        </p:txBody>
      </p:sp>
    </p:spTree>
    <p:extLst>
      <p:ext uri="{BB962C8B-B14F-4D97-AF65-F5344CB8AC3E}">
        <p14:creationId xmlns:p14="http://schemas.microsoft.com/office/powerpoint/2010/main" val="2686197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CA6A080-34CF-4B2A-B9B8-2C1F3D74A2FC}"/>
              </a:ext>
            </a:extLst>
          </p:cNvPr>
          <p:cNvPicPr>
            <a:picLocks noChangeAspect="1"/>
          </p:cNvPicPr>
          <p:nvPr/>
        </p:nvPicPr>
        <p:blipFill rotWithShape="1">
          <a:blip r:embed="rId2"/>
          <a:srcRect r="21799" b="13263"/>
          <a:stretch/>
        </p:blipFill>
        <p:spPr>
          <a:xfrm>
            <a:off x="5730370" y="1500916"/>
            <a:ext cx="6183726" cy="3856167"/>
          </a:xfrm>
          <a:prstGeom prst="rect">
            <a:avLst/>
          </a:prstGeom>
        </p:spPr>
      </p:pic>
      <p:sp>
        <p:nvSpPr>
          <p:cNvPr id="6" name="CuadroTexto 5">
            <a:extLst>
              <a:ext uri="{FF2B5EF4-FFF2-40B4-BE49-F238E27FC236}">
                <a16:creationId xmlns:a16="http://schemas.microsoft.com/office/drawing/2014/main" id="{202EF60B-847D-4E37-89CC-B32E080F6AF4}"/>
              </a:ext>
            </a:extLst>
          </p:cNvPr>
          <p:cNvSpPr txBox="1"/>
          <p:nvPr/>
        </p:nvSpPr>
        <p:spPr>
          <a:xfrm>
            <a:off x="1002236" y="1260570"/>
            <a:ext cx="4344464" cy="4314514"/>
          </a:xfrm>
          <a:prstGeom prst="rect">
            <a:avLst/>
          </a:prstGeom>
          <a:noFill/>
        </p:spPr>
        <p:txBody>
          <a:bodyPr wrap="square">
            <a:spAutoFit/>
          </a:bodyPr>
          <a:lstStyle/>
          <a:p>
            <a:pPr algn="just">
              <a:lnSpc>
                <a:spcPct val="150000"/>
              </a:lnSpc>
              <a:spcAft>
                <a:spcPts val="800"/>
              </a:spcAf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Ajuste en el manejo de roles y seguridad de navegación-Administrador</a:t>
            </a:r>
          </a:p>
          <a:p>
            <a:pPr marR="0" lvl="0" algn="just" defTabSz="914400" rtl="0" eaLnBrk="1" fontAlgn="auto" latinLnBrk="0" hangingPunct="1">
              <a:lnSpc>
                <a:spcPct val="150000"/>
              </a:lnSpc>
              <a:spcBef>
                <a:spcPts val="0"/>
              </a:spcBef>
              <a:spcAft>
                <a:spcPts val="800"/>
              </a:spcAft>
              <a:buClrTx/>
              <a:buSzTx/>
              <a:tabLst/>
              <a:defRPr/>
            </a:pPr>
            <a:r>
              <a:rPr lang="es-MX" sz="1600" dirty="0">
                <a:solidFill>
                  <a:prstClr val="black"/>
                </a:solidFill>
                <a:latin typeface="Arial" panose="020B0604020202020204" pitchFamily="34" charset="0"/>
                <a:cs typeface="Arial" panose="020B0604020202020204" pitchFamily="34" charset="0"/>
              </a:rPr>
              <a:t>4. En el archivo antes creado, se importó el servicio de </a:t>
            </a:r>
            <a:r>
              <a:rPr lang="es-MX" sz="1600" dirty="0" err="1">
                <a:solidFill>
                  <a:prstClr val="black"/>
                </a:solidFill>
                <a:latin typeface="Arial" panose="020B0604020202020204" pitchFamily="34" charset="0"/>
                <a:cs typeface="Arial" panose="020B0604020202020204" pitchFamily="34" charset="0"/>
              </a:rPr>
              <a:t>Supabase</a:t>
            </a:r>
            <a:r>
              <a:rPr lang="es-MX" sz="1600" dirty="0">
                <a:solidFill>
                  <a:prstClr val="black"/>
                </a:solidFill>
                <a:latin typeface="Arial" panose="020B0604020202020204" pitchFamily="34" charset="0"/>
                <a:cs typeface="Arial" panose="020B0604020202020204" pitchFamily="34" charset="0"/>
              </a:rPr>
              <a:t> ya que para validar el acceso del administrador, los datos se obtienen de la base de datos.</a:t>
            </a:r>
          </a:p>
          <a:p>
            <a:pPr marR="0" lvl="0" algn="just" defTabSz="914400" rtl="0" eaLnBrk="1" fontAlgn="auto" latinLnBrk="0" hangingPunct="1">
              <a:lnSpc>
                <a:spcPct val="150000"/>
              </a:lnSpc>
              <a:spcBef>
                <a:spcPts val="0"/>
              </a:spcBef>
              <a:spcAft>
                <a:spcPts val="800"/>
              </a:spcAft>
              <a:buClrTx/>
              <a:buSzTx/>
              <a:tabLst/>
              <a:defRPr/>
            </a:pP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5. Se aplicó una condicionante para detectar cuando se intenta burlar la seguridad y acceder a través de URL, en esta situación se especificó que se redirigirá a la pantalla del </a:t>
            </a:r>
            <a:r>
              <a:rPr lang="es-MX" sz="1600" dirty="0" err="1">
                <a:solidFill>
                  <a:prstClr val="black"/>
                </a:solidFill>
                <a:latin typeface="Arial" panose="020B0604020202020204" pitchFamily="34" charset="0"/>
                <a:ea typeface="Aptos" panose="020B0004020202020204" pitchFamily="34" charset="0"/>
                <a:cs typeface="Arial" panose="020B0604020202020204" pitchFamily="34" charset="0"/>
              </a:rPr>
              <a:t>login</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a:t>
            </a:r>
          </a:p>
        </p:txBody>
      </p:sp>
      <p:cxnSp>
        <p:nvCxnSpPr>
          <p:cNvPr id="3" name="Conector recto de flecha 2">
            <a:extLst>
              <a:ext uri="{FF2B5EF4-FFF2-40B4-BE49-F238E27FC236}">
                <a16:creationId xmlns:a16="http://schemas.microsoft.com/office/drawing/2014/main" id="{64F580E8-21D1-4B0D-9BF9-285895BF295B}"/>
              </a:ext>
            </a:extLst>
          </p:cNvPr>
          <p:cNvCxnSpPr/>
          <p:nvPr/>
        </p:nvCxnSpPr>
        <p:spPr>
          <a:xfrm flipH="1">
            <a:off x="7143750" y="2952750"/>
            <a:ext cx="857250" cy="10858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 name="Marcador de número de diapositiva 3">
            <a:extLst>
              <a:ext uri="{FF2B5EF4-FFF2-40B4-BE49-F238E27FC236}">
                <a16:creationId xmlns:a16="http://schemas.microsoft.com/office/drawing/2014/main" id="{45E6BAF5-0F2E-49FD-8F05-F8A9BFCE1A80}"/>
              </a:ext>
            </a:extLst>
          </p:cNvPr>
          <p:cNvSpPr>
            <a:spLocks noGrp="1"/>
          </p:cNvSpPr>
          <p:nvPr>
            <p:ph type="sldNum" sz="quarter" idx="12"/>
          </p:nvPr>
        </p:nvSpPr>
        <p:spPr/>
        <p:txBody>
          <a:bodyPr/>
          <a:lstStyle/>
          <a:p>
            <a:fld id="{28FAD80A-BD4B-4644-B5A4-99133F8C7605}" type="slidenum">
              <a:rPr lang="es-MX" smtClean="0"/>
              <a:t>7</a:t>
            </a:fld>
            <a:endParaRPr lang="es-MX"/>
          </a:p>
        </p:txBody>
      </p:sp>
    </p:spTree>
    <p:extLst>
      <p:ext uri="{BB962C8B-B14F-4D97-AF65-F5344CB8AC3E}">
        <p14:creationId xmlns:p14="http://schemas.microsoft.com/office/powerpoint/2010/main" val="1912125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074F7E0-DD00-40A9-8031-DDE3BDF3580F}"/>
              </a:ext>
            </a:extLst>
          </p:cNvPr>
          <p:cNvPicPr>
            <a:picLocks noChangeAspect="1"/>
          </p:cNvPicPr>
          <p:nvPr/>
        </p:nvPicPr>
        <p:blipFill rotWithShape="1">
          <a:blip r:embed="rId2"/>
          <a:srcRect l="7106" t="10138" b="7078"/>
          <a:stretch/>
        </p:blipFill>
        <p:spPr>
          <a:xfrm>
            <a:off x="5943601" y="1938359"/>
            <a:ext cx="5567082" cy="2981281"/>
          </a:xfrm>
          <a:prstGeom prst="rect">
            <a:avLst/>
          </a:prstGeom>
        </p:spPr>
      </p:pic>
      <p:sp>
        <p:nvSpPr>
          <p:cNvPr id="4" name="CuadroTexto 3">
            <a:extLst>
              <a:ext uri="{FF2B5EF4-FFF2-40B4-BE49-F238E27FC236}">
                <a16:creationId xmlns:a16="http://schemas.microsoft.com/office/drawing/2014/main" id="{BEDED283-19FC-458B-8705-B71ABD030D0B}"/>
              </a:ext>
            </a:extLst>
          </p:cNvPr>
          <p:cNvSpPr txBox="1"/>
          <p:nvPr/>
        </p:nvSpPr>
        <p:spPr>
          <a:xfrm>
            <a:off x="1002236" y="1260570"/>
            <a:ext cx="4407964" cy="4417107"/>
          </a:xfrm>
          <a:prstGeom prst="rect">
            <a:avLst/>
          </a:prstGeom>
          <a:noFill/>
        </p:spPr>
        <p:txBody>
          <a:bodyPr wrap="square">
            <a:spAutoFit/>
          </a:bodyPr>
          <a:lstStyle/>
          <a:p>
            <a:pPr algn="just">
              <a:lnSpc>
                <a:spcPct val="150000"/>
              </a:lnSpc>
              <a:spcAft>
                <a:spcPts val="800"/>
              </a:spcAf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Ajuste en el manejo de roles y seguridad de navegación- Administrador</a:t>
            </a:r>
          </a:p>
          <a:p>
            <a:pPr marR="0" lvl="0" algn="just" defTabSz="914400" rtl="0" eaLnBrk="1" fontAlgn="auto" latinLnBrk="0" hangingPunct="1">
              <a:lnSpc>
                <a:spcPct val="150000"/>
              </a:lnSpc>
              <a:spcBef>
                <a:spcPts val="0"/>
              </a:spcBef>
              <a:spcAft>
                <a:spcPts val="800"/>
              </a:spcAft>
              <a:buClrTx/>
              <a:buSzTx/>
              <a:tabLst/>
              <a:defRPr/>
            </a:pPr>
            <a:r>
              <a:rPr lang="es-MX" sz="1600" dirty="0">
                <a:solidFill>
                  <a:prstClr val="black"/>
                </a:solidFill>
                <a:latin typeface="Arial" panose="020B0604020202020204" pitchFamily="34" charset="0"/>
                <a:cs typeface="Arial" panose="020B0604020202020204" pitchFamily="34" charset="0"/>
              </a:rPr>
              <a:t>El perfil de administrador es el que mayor seguridad debe tener, por lo tanto en este caso dentro de la aplicación no se puede crear una cuenta de administrador; las credenciales necesarias deben crearse en la base de datos directamente.</a:t>
            </a:r>
          </a:p>
          <a:p>
            <a:pPr marR="0" lvl="0" algn="just" defTabSz="914400" rtl="0" eaLnBrk="1" fontAlgn="auto" latinLnBrk="0" hangingPunct="1">
              <a:lnSpc>
                <a:spcPct val="150000"/>
              </a:lnSpc>
              <a:spcBef>
                <a:spcPts val="0"/>
              </a:spcBef>
              <a:spcAft>
                <a:spcPts val="800"/>
              </a:spcAft>
              <a:buClrTx/>
              <a:buSzTx/>
              <a:tabLst/>
              <a:defRPr/>
            </a:pP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6. Se accedió al proyecto en </a:t>
            </a:r>
            <a:r>
              <a:rPr lang="es-MX" sz="1600" dirty="0" err="1">
                <a:solidFill>
                  <a:prstClr val="black"/>
                </a:solidFill>
                <a:latin typeface="Arial" panose="020B0604020202020204" pitchFamily="34" charset="0"/>
                <a:ea typeface="Aptos" panose="020B0004020202020204" pitchFamily="34" charset="0"/>
                <a:cs typeface="Arial" panose="020B0604020202020204" pitchFamily="34" charset="0"/>
              </a:rPr>
              <a:t>Supabase</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a:t>
            </a:r>
          </a:p>
          <a:p>
            <a:pPr marR="0" lvl="0" algn="just" defTabSz="914400" rtl="0" eaLnBrk="1" fontAlgn="auto" latinLnBrk="0" hangingPunct="1">
              <a:lnSpc>
                <a:spcPct val="150000"/>
              </a:lnSpc>
              <a:spcBef>
                <a:spcPts val="0"/>
              </a:spcBef>
              <a:spcAft>
                <a:spcPts val="800"/>
              </a:spcAft>
              <a:buClrTx/>
              <a:buSzTx/>
              <a:tabLst/>
              <a:defRPr/>
            </a:pP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7. En el apartado Table Editor se cambió un perfil a administrador.</a:t>
            </a:r>
          </a:p>
        </p:txBody>
      </p:sp>
      <p:sp>
        <p:nvSpPr>
          <p:cNvPr id="2" name="Marcador de número de diapositiva 1">
            <a:extLst>
              <a:ext uri="{FF2B5EF4-FFF2-40B4-BE49-F238E27FC236}">
                <a16:creationId xmlns:a16="http://schemas.microsoft.com/office/drawing/2014/main" id="{BAB25018-1187-408A-861D-EDF760B00C28}"/>
              </a:ext>
            </a:extLst>
          </p:cNvPr>
          <p:cNvSpPr>
            <a:spLocks noGrp="1"/>
          </p:cNvSpPr>
          <p:nvPr>
            <p:ph type="sldNum" sz="quarter" idx="12"/>
          </p:nvPr>
        </p:nvSpPr>
        <p:spPr/>
        <p:txBody>
          <a:bodyPr/>
          <a:lstStyle/>
          <a:p>
            <a:fld id="{28FAD80A-BD4B-4644-B5A4-99133F8C7605}" type="slidenum">
              <a:rPr lang="es-MX" smtClean="0"/>
              <a:t>8</a:t>
            </a:fld>
            <a:endParaRPr lang="es-MX"/>
          </a:p>
        </p:txBody>
      </p:sp>
    </p:spTree>
    <p:extLst>
      <p:ext uri="{BB962C8B-B14F-4D97-AF65-F5344CB8AC3E}">
        <p14:creationId xmlns:p14="http://schemas.microsoft.com/office/powerpoint/2010/main" val="3894176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BEDED283-19FC-458B-8705-B71ABD030D0B}"/>
              </a:ext>
            </a:extLst>
          </p:cNvPr>
          <p:cNvSpPr txBox="1"/>
          <p:nvPr/>
        </p:nvSpPr>
        <p:spPr>
          <a:xfrm>
            <a:off x="1078881" y="892013"/>
            <a:ext cx="4026964" cy="5258363"/>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Ajuste en el manejo de roles y seguridad de navegación-Alumno</a:t>
            </a:r>
          </a:p>
          <a:p>
            <a:pPr marR="0" lvl="0" algn="just" defTabSz="914400" rtl="0" eaLnBrk="1" fontAlgn="auto" latinLnBrk="0" hangingPunct="1">
              <a:lnSpc>
                <a:spcPct val="150000"/>
              </a:lnSpc>
              <a:spcBef>
                <a:spcPts val="0"/>
              </a:spcBef>
              <a:spcAft>
                <a:spcPts val="800"/>
              </a:spcAft>
              <a:buClrTx/>
              <a:buSzTx/>
              <a:tabLst/>
              <a:defRPr/>
            </a:pPr>
            <a:r>
              <a:rPr lang="es-MX" sz="1600" dirty="0">
                <a:solidFill>
                  <a:prstClr val="black"/>
                </a:solidFill>
                <a:latin typeface="Arial" panose="020B0604020202020204" pitchFamily="34" charset="0"/>
                <a:cs typeface="Arial" panose="020B0604020202020204" pitchFamily="34" charset="0"/>
              </a:rPr>
              <a:t>El perfil de alumno también fue modificado en seguridad.</a:t>
            </a:r>
          </a:p>
          <a:p>
            <a:pPr marL="342900" marR="0" lvl="0" indent="-342900" algn="just" defTabSz="914400" rtl="0" eaLnBrk="1" fontAlgn="auto" latinLnBrk="0" hangingPunct="1">
              <a:lnSpc>
                <a:spcPct val="150000"/>
              </a:lnSpc>
              <a:spcBef>
                <a:spcPts val="0"/>
              </a:spcBef>
              <a:spcAft>
                <a:spcPts val="800"/>
              </a:spcAft>
              <a:buClrTx/>
              <a:buSzTx/>
              <a:buAutoNum type="arabicPeriod"/>
              <a:tabLst/>
              <a:defRPr/>
            </a:pP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Primero nos dirigimos a la raíz del proyecto: solicita-</a:t>
            </a:r>
            <a:r>
              <a:rPr lang="es-MX" sz="1600" dirty="0" err="1">
                <a:solidFill>
                  <a:prstClr val="black"/>
                </a:solidFill>
                <a:latin typeface="Arial" panose="020B0604020202020204" pitchFamily="34" charset="0"/>
                <a:ea typeface="Aptos" panose="020B0004020202020204" pitchFamily="34" charset="0"/>
                <a:cs typeface="Arial" panose="020B0604020202020204" pitchFamily="34" charset="0"/>
              </a:rPr>
              <a:t>tec</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a:t>
            </a:r>
          </a:p>
          <a:p>
            <a:pPr marL="342900" marR="0" lvl="0" indent="-342900" algn="just" defTabSz="914400" rtl="0" eaLnBrk="1" fontAlgn="auto" latinLnBrk="0" hangingPunct="1">
              <a:lnSpc>
                <a:spcPct val="150000"/>
              </a:lnSpc>
              <a:spcBef>
                <a:spcPts val="0"/>
              </a:spcBef>
              <a:spcAft>
                <a:spcPts val="800"/>
              </a:spcAft>
              <a:buClrTx/>
              <a:buSzTx/>
              <a:buAutoNum type="arabicPeriod"/>
              <a:tabLst/>
              <a:defRPr/>
            </a:pP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Para generar el archivo encargado de proteger la ruta al </a:t>
            </a:r>
            <a:r>
              <a:rPr lang="es-MX" sz="1600" dirty="0" err="1">
                <a:solidFill>
                  <a:prstClr val="black"/>
                </a:solidFill>
                <a:latin typeface="Arial" panose="020B0604020202020204" pitchFamily="34" charset="0"/>
                <a:ea typeface="Aptos" panose="020B0004020202020204" pitchFamily="34" charset="0"/>
                <a:cs typeface="Arial" panose="020B0604020202020204" pitchFamily="34" charset="0"/>
              </a:rPr>
              <a:t>Dashboard</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 del alumno se ejecutó el comando mostrado en la imagen: ng </a:t>
            </a:r>
            <a:r>
              <a:rPr lang="es-MX" sz="1600" dirty="0" err="1">
                <a:solidFill>
                  <a:prstClr val="black"/>
                </a:solidFill>
                <a:latin typeface="Arial" panose="020B0604020202020204" pitchFamily="34" charset="0"/>
                <a:ea typeface="Aptos" panose="020B0004020202020204" pitchFamily="34" charset="0"/>
                <a:cs typeface="Arial" panose="020B0604020202020204" pitchFamily="34" charset="0"/>
              </a:rPr>
              <a:t>generate</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 </a:t>
            </a:r>
            <a:r>
              <a:rPr lang="es-MX" sz="1600" dirty="0" err="1">
                <a:solidFill>
                  <a:prstClr val="black"/>
                </a:solidFill>
                <a:latin typeface="Arial" panose="020B0604020202020204" pitchFamily="34" charset="0"/>
                <a:ea typeface="Aptos" panose="020B0004020202020204" pitchFamily="34" charset="0"/>
                <a:cs typeface="Arial" panose="020B0604020202020204" pitchFamily="34" charset="0"/>
              </a:rPr>
              <a:t>guard</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 </a:t>
            </a:r>
            <a:r>
              <a:rPr lang="es-MX" sz="1600" dirty="0" err="1">
                <a:solidFill>
                  <a:prstClr val="black"/>
                </a:solidFill>
                <a:latin typeface="Arial" panose="020B0604020202020204" pitchFamily="34" charset="0"/>
                <a:ea typeface="Aptos" panose="020B0004020202020204" pitchFamily="34" charset="0"/>
                <a:cs typeface="Arial" panose="020B0604020202020204" pitchFamily="34" charset="0"/>
              </a:rPr>
              <a:t>guards</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/alumno</a:t>
            </a:r>
          </a:p>
          <a:p>
            <a:pPr marL="342900" marR="0" lvl="0" indent="-342900" algn="just" defTabSz="914400" rtl="0" eaLnBrk="1" fontAlgn="auto" latinLnBrk="0" hangingPunct="1">
              <a:lnSpc>
                <a:spcPct val="150000"/>
              </a:lnSpc>
              <a:spcBef>
                <a:spcPts val="0"/>
              </a:spcBef>
              <a:spcAft>
                <a:spcPts val="800"/>
              </a:spcAft>
              <a:buClrTx/>
              <a:buSzTx/>
              <a:buAutoNum type="arabicPeriod"/>
              <a:tabLst/>
              <a:defRPr/>
            </a:pP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Después se seleccionó la primera opción para activar el alumno-</a:t>
            </a:r>
            <a:r>
              <a:rPr lang="es-MX" sz="1600" dirty="0" err="1">
                <a:solidFill>
                  <a:prstClr val="black"/>
                </a:solidFill>
                <a:latin typeface="Arial" panose="020B0604020202020204" pitchFamily="34" charset="0"/>
                <a:ea typeface="Aptos" panose="020B0004020202020204" pitchFamily="34" charset="0"/>
                <a:cs typeface="Arial" panose="020B0604020202020204" pitchFamily="34" charset="0"/>
              </a:rPr>
              <a:t>guard</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a:t>
            </a:r>
          </a:p>
        </p:txBody>
      </p:sp>
      <p:pic>
        <p:nvPicPr>
          <p:cNvPr id="5" name="Imagen 4">
            <a:extLst>
              <a:ext uri="{FF2B5EF4-FFF2-40B4-BE49-F238E27FC236}">
                <a16:creationId xmlns:a16="http://schemas.microsoft.com/office/drawing/2014/main" id="{60BA8CA6-6FA3-4959-84E5-C3EE9CFFE85D}"/>
              </a:ext>
            </a:extLst>
          </p:cNvPr>
          <p:cNvPicPr>
            <a:picLocks noChangeAspect="1"/>
          </p:cNvPicPr>
          <p:nvPr/>
        </p:nvPicPr>
        <p:blipFill rotWithShape="1">
          <a:blip r:embed="rId2"/>
          <a:srcRect l="4249" t="7912" r="12537" b="17678"/>
          <a:stretch/>
        </p:blipFill>
        <p:spPr>
          <a:xfrm>
            <a:off x="6095999" y="632012"/>
            <a:ext cx="5746751" cy="2889183"/>
          </a:xfrm>
          <a:prstGeom prst="rect">
            <a:avLst/>
          </a:prstGeom>
        </p:spPr>
      </p:pic>
      <p:cxnSp>
        <p:nvCxnSpPr>
          <p:cNvPr id="6" name="Conector recto de flecha 5">
            <a:extLst>
              <a:ext uri="{FF2B5EF4-FFF2-40B4-BE49-F238E27FC236}">
                <a16:creationId xmlns:a16="http://schemas.microsoft.com/office/drawing/2014/main" id="{1F2A6664-A84B-461B-8CAB-47C5C94B63B2}"/>
              </a:ext>
            </a:extLst>
          </p:cNvPr>
          <p:cNvCxnSpPr/>
          <p:nvPr/>
        </p:nvCxnSpPr>
        <p:spPr>
          <a:xfrm flipH="1">
            <a:off x="10134600" y="1260570"/>
            <a:ext cx="368300" cy="182036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 name="Marcador de número de diapositiva 6">
            <a:extLst>
              <a:ext uri="{FF2B5EF4-FFF2-40B4-BE49-F238E27FC236}">
                <a16:creationId xmlns:a16="http://schemas.microsoft.com/office/drawing/2014/main" id="{C37E05B1-CD42-44F2-93A6-D991E4F35AF5}"/>
              </a:ext>
            </a:extLst>
          </p:cNvPr>
          <p:cNvSpPr>
            <a:spLocks noGrp="1"/>
          </p:cNvSpPr>
          <p:nvPr>
            <p:ph type="sldNum" sz="quarter" idx="12"/>
          </p:nvPr>
        </p:nvSpPr>
        <p:spPr/>
        <p:txBody>
          <a:bodyPr/>
          <a:lstStyle/>
          <a:p>
            <a:fld id="{28FAD80A-BD4B-4644-B5A4-99133F8C7605}" type="slidenum">
              <a:rPr lang="es-MX" smtClean="0"/>
              <a:t>9</a:t>
            </a:fld>
            <a:endParaRPr lang="es-MX"/>
          </a:p>
        </p:txBody>
      </p:sp>
      <p:pic>
        <p:nvPicPr>
          <p:cNvPr id="8" name="Imagen 7">
            <a:extLst>
              <a:ext uri="{FF2B5EF4-FFF2-40B4-BE49-F238E27FC236}">
                <a16:creationId xmlns:a16="http://schemas.microsoft.com/office/drawing/2014/main" id="{7F132712-F744-45FD-9764-A84B842CC09A}"/>
              </a:ext>
            </a:extLst>
          </p:cNvPr>
          <p:cNvPicPr>
            <a:picLocks noChangeAspect="1"/>
          </p:cNvPicPr>
          <p:nvPr/>
        </p:nvPicPr>
        <p:blipFill rotWithShape="1">
          <a:blip r:embed="rId3"/>
          <a:srcRect l="3750" t="11778" r="4427" b="5589"/>
          <a:stretch/>
        </p:blipFill>
        <p:spPr>
          <a:xfrm>
            <a:off x="6532154" y="4038600"/>
            <a:ext cx="4580965" cy="2317750"/>
          </a:xfrm>
          <a:prstGeom prst="rect">
            <a:avLst/>
          </a:prstGeom>
        </p:spPr>
      </p:pic>
      <p:cxnSp>
        <p:nvCxnSpPr>
          <p:cNvPr id="9" name="Conector recto de flecha 8">
            <a:extLst>
              <a:ext uri="{FF2B5EF4-FFF2-40B4-BE49-F238E27FC236}">
                <a16:creationId xmlns:a16="http://schemas.microsoft.com/office/drawing/2014/main" id="{E47066CB-8177-4F82-B8EB-476AD538A4C4}"/>
              </a:ext>
            </a:extLst>
          </p:cNvPr>
          <p:cNvCxnSpPr>
            <a:cxnSpLocks/>
          </p:cNvCxnSpPr>
          <p:nvPr/>
        </p:nvCxnSpPr>
        <p:spPr>
          <a:xfrm flipH="1">
            <a:off x="8042275" y="4751854"/>
            <a:ext cx="368300" cy="112363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1383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BEDED283-19FC-458B-8705-B71ABD030D0B}"/>
              </a:ext>
            </a:extLst>
          </p:cNvPr>
          <p:cNvSpPr txBox="1"/>
          <p:nvPr/>
        </p:nvSpPr>
        <p:spPr>
          <a:xfrm>
            <a:off x="838200" y="786004"/>
            <a:ext cx="4864719" cy="6304803"/>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Ajuste en el manejo de roles y seguridad de navegación-Alumno</a:t>
            </a:r>
          </a:p>
          <a:p>
            <a:pPr marR="0" lvl="0" algn="just" defTabSz="914400" rtl="0" eaLnBrk="1" fontAlgn="auto" latinLnBrk="0" hangingPunct="1">
              <a:lnSpc>
                <a:spcPct val="150000"/>
              </a:lnSpc>
              <a:spcBef>
                <a:spcPts val="0"/>
              </a:spcBef>
              <a:spcAft>
                <a:spcPts val="800"/>
              </a:spcAft>
              <a:buClrTx/>
              <a:buSzTx/>
              <a:tabLst/>
              <a:defRPr/>
            </a:pPr>
            <a:r>
              <a:rPr lang="es-MX" sz="1600" dirty="0">
                <a:solidFill>
                  <a:prstClr val="black"/>
                </a:solidFill>
                <a:latin typeface="Arial" panose="020B0604020202020204" pitchFamily="34" charset="0"/>
                <a:cs typeface="Arial" panose="020B0604020202020204" pitchFamily="34" charset="0"/>
              </a:rPr>
              <a:t>Se utiliza para proteger rutas y decidir si un usuario puede acceder o no a una página determinada.</a:t>
            </a:r>
          </a:p>
          <a:p>
            <a:pPr marR="0" lvl="0" algn="just" defTabSz="914400" rtl="0" eaLnBrk="1" fontAlgn="auto" latinLnBrk="0" hangingPunct="1">
              <a:lnSpc>
                <a:spcPct val="150000"/>
              </a:lnSpc>
              <a:spcBef>
                <a:spcPts val="0"/>
              </a:spcBef>
              <a:spcAft>
                <a:spcPts val="800"/>
              </a:spcAft>
              <a:buClrTx/>
              <a:buSzTx/>
              <a:tabLst/>
              <a:defRPr/>
            </a:pP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4. Primero se realizaron las importaciones indispensables:</a:t>
            </a:r>
          </a:p>
          <a:p>
            <a:pPr marL="285750" marR="0" lvl="0" indent="-285750" algn="just" defTabSz="914400" rtl="0" eaLnBrk="1" fontAlgn="auto" latinLnBrk="0" hangingPunct="1">
              <a:lnSpc>
                <a:spcPct val="150000"/>
              </a:lnSpc>
              <a:spcBef>
                <a:spcPts val="0"/>
              </a:spcBef>
              <a:spcAft>
                <a:spcPts val="800"/>
              </a:spcAft>
              <a:buClrTx/>
              <a:buSzTx/>
              <a:buFont typeface="Arial" panose="020B0604020202020204" pitchFamily="34" charset="0"/>
              <a:buChar char="•"/>
              <a:tabLst/>
              <a:defRPr/>
            </a:pPr>
            <a:r>
              <a:rPr lang="es-MX" sz="1600" dirty="0" err="1">
                <a:solidFill>
                  <a:prstClr val="black"/>
                </a:solidFill>
                <a:latin typeface="Arial" panose="020B0604020202020204" pitchFamily="34" charset="0"/>
                <a:ea typeface="Aptos" panose="020B0004020202020204" pitchFamily="34" charset="0"/>
                <a:cs typeface="Arial" panose="020B0604020202020204" pitchFamily="34" charset="0"/>
              </a:rPr>
              <a:t>CanActivate</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 para implementar el método </a:t>
            </a:r>
            <a:r>
              <a:rPr lang="es-MX" sz="1600" dirty="0" err="1">
                <a:solidFill>
                  <a:prstClr val="black"/>
                </a:solidFill>
                <a:latin typeface="Arial" panose="020B0604020202020204" pitchFamily="34" charset="0"/>
                <a:ea typeface="Aptos" panose="020B0004020202020204" pitchFamily="34" charset="0"/>
                <a:cs typeface="Arial" panose="020B0604020202020204" pitchFamily="34" charset="0"/>
              </a:rPr>
              <a:t>canActivate</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a:t>
            </a:r>
          </a:p>
          <a:p>
            <a:pPr marL="285750" marR="0" lvl="0" indent="-285750" algn="just" defTabSz="914400" rtl="0" eaLnBrk="1" fontAlgn="auto" latinLnBrk="0" hangingPunct="1">
              <a:lnSpc>
                <a:spcPct val="150000"/>
              </a:lnSpc>
              <a:spcBef>
                <a:spcPts val="0"/>
              </a:spcBef>
              <a:spcAft>
                <a:spcPts val="800"/>
              </a:spcAft>
              <a:buClrTx/>
              <a:buSzTx/>
              <a:buFont typeface="Arial" panose="020B0604020202020204" pitchFamily="34" charset="0"/>
              <a:buChar char="•"/>
              <a:tabLst/>
              <a:defRPr/>
            </a:pPr>
            <a:r>
              <a:rPr lang="es-MX" sz="1600" dirty="0" err="1">
                <a:solidFill>
                  <a:prstClr val="black"/>
                </a:solidFill>
                <a:latin typeface="Arial" panose="020B0604020202020204" pitchFamily="34" charset="0"/>
                <a:ea typeface="Aptos" panose="020B0004020202020204" pitchFamily="34" charset="0"/>
                <a:cs typeface="Arial" panose="020B0604020202020204" pitchFamily="34" charset="0"/>
              </a:rPr>
              <a:t>Router</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 para redirigir al usuario a otras rutas.</a:t>
            </a:r>
          </a:p>
          <a:p>
            <a:pPr marL="285750" marR="0" lvl="0" indent="-285750" algn="just" defTabSz="914400" rtl="0" eaLnBrk="1" fontAlgn="auto" latinLnBrk="0" hangingPunct="1">
              <a:lnSpc>
                <a:spcPct val="150000"/>
              </a:lnSpc>
              <a:spcBef>
                <a:spcPts val="0"/>
              </a:spcBef>
              <a:spcAft>
                <a:spcPts val="800"/>
              </a:spcAft>
              <a:buClrTx/>
              <a:buSzTx/>
              <a:buFont typeface="Arial" panose="020B0604020202020204" pitchFamily="34" charset="0"/>
              <a:buChar char="•"/>
              <a:tabLst/>
              <a:defRPr/>
            </a:pPr>
            <a:r>
              <a:rPr lang="es-MX" sz="1600" dirty="0" err="1">
                <a:solidFill>
                  <a:prstClr val="black"/>
                </a:solidFill>
                <a:latin typeface="Arial" panose="020B0604020202020204" pitchFamily="34" charset="0"/>
                <a:ea typeface="Aptos" panose="020B0004020202020204" pitchFamily="34" charset="0"/>
                <a:cs typeface="Arial" panose="020B0604020202020204" pitchFamily="34" charset="0"/>
              </a:rPr>
              <a:t>SupabaseService</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 servicio que contiene la conexión con </a:t>
            </a:r>
            <a:r>
              <a:rPr lang="es-MX" sz="1600" dirty="0" err="1">
                <a:solidFill>
                  <a:prstClr val="black"/>
                </a:solidFill>
                <a:latin typeface="Arial" panose="020B0604020202020204" pitchFamily="34" charset="0"/>
                <a:ea typeface="Aptos" panose="020B0004020202020204" pitchFamily="34" charset="0"/>
                <a:cs typeface="Arial" panose="020B0604020202020204" pitchFamily="34" charset="0"/>
              </a:rPr>
              <a:t>Supabase</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a:t>
            </a:r>
          </a:p>
          <a:p>
            <a:pPr marR="0" lvl="0" algn="just" defTabSz="914400" rtl="0" eaLnBrk="1" fontAlgn="auto" latinLnBrk="0" hangingPunct="1">
              <a:lnSpc>
                <a:spcPct val="150000"/>
              </a:lnSpc>
              <a:spcBef>
                <a:spcPts val="0"/>
              </a:spcBef>
              <a:spcAft>
                <a:spcPts val="800"/>
              </a:spcAft>
              <a:buClrTx/>
              <a:buSzTx/>
              <a:tabLst/>
              <a:defRPr/>
            </a:pP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5. Después de implementar la clase Angular exige que exista el método: </a:t>
            </a:r>
            <a:r>
              <a:rPr lang="es-MX" sz="1600" dirty="0" err="1">
                <a:solidFill>
                  <a:prstClr val="black"/>
                </a:solidFill>
                <a:latin typeface="Arial" panose="020B0604020202020204" pitchFamily="34" charset="0"/>
                <a:ea typeface="Aptos" panose="020B0004020202020204" pitchFamily="34" charset="0"/>
                <a:cs typeface="Arial" panose="020B0604020202020204" pitchFamily="34" charset="0"/>
              </a:rPr>
              <a:t>canActivate</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 que devuelve valor true o false.</a:t>
            </a:r>
          </a:p>
          <a:p>
            <a:pPr marL="285750" marR="0" lvl="0" indent="-285750" algn="just" defTabSz="914400" rtl="0" eaLnBrk="1" fontAlgn="auto" latinLnBrk="0" hangingPunct="1">
              <a:lnSpc>
                <a:spcPct val="150000"/>
              </a:lnSpc>
              <a:spcBef>
                <a:spcPts val="0"/>
              </a:spcBef>
              <a:spcAft>
                <a:spcPts val="800"/>
              </a:spcAft>
              <a:buClrTx/>
              <a:buSzTx/>
              <a:buFont typeface="Arial" panose="020B0604020202020204" pitchFamily="34" charset="0"/>
              <a:buChar char="•"/>
              <a:tabLst/>
              <a:defRPr/>
            </a:pPr>
            <a:endParaRPr lang="es-MX" sz="1600" dirty="0">
              <a:solidFill>
                <a:prstClr val="black"/>
              </a:solidFill>
              <a:latin typeface="Arial" panose="020B0604020202020204" pitchFamily="34" charset="0"/>
              <a:ea typeface="Aptos" panose="020B0004020202020204" pitchFamily="34" charset="0"/>
              <a:cs typeface="Arial" panose="020B0604020202020204" pitchFamily="34" charset="0"/>
            </a:endParaRPr>
          </a:p>
        </p:txBody>
      </p:sp>
      <p:sp>
        <p:nvSpPr>
          <p:cNvPr id="7" name="Marcador de número de diapositiva 6">
            <a:extLst>
              <a:ext uri="{FF2B5EF4-FFF2-40B4-BE49-F238E27FC236}">
                <a16:creationId xmlns:a16="http://schemas.microsoft.com/office/drawing/2014/main" id="{C37E05B1-CD42-44F2-93A6-D991E4F35AF5}"/>
              </a:ext>
            </a:extLst>
          </p:cNvPr>
          <p:cNvSpPr>
            <a:spLocks noGrp="1"/>
          </p:cNvSpPr>
          <p:nvPr>
            <p:ph type="sldNum" sz="quarter" idx="12"/>
          </p:nvPr>
        </p:nvSpPr>
        <p:spPr/>
        <p:txBody>
          <a:bodyPr/>
          <a:lstStyle/>
          <a:p>
            <a:fld id="{28FAD80A-BD4B-4644-B5A4-99133F8C7605}" type="slidenum">
              <a:rPr lang="es-MX" smtClean="0"/>
              <a:t>10</a:t>
            </a:fld>
            <a:endParaRPr lang="es-MX"/>
          </a:p>
        </p:txBody>
      </p:sp>
      <p:pic>
        <p:nvPicPr>
          <p:cNvPr id="3" name="Imagen 2">
            <a:extLst>
              <a:ext uri="{FF2B5EF4-FFF2-40B4-BE49-F238E27FC236}">
                <a16:creationId xmlns:a16="http://schemas.microsoft.com/office/drawing/2014/main" id="{85A48D3D-083A-43F6-A8A7-93E8AFAEFBCD}"/>
              </a:ext>
            </a:extLst>
          </p:cNvPr>
          <p:cNvPicPr>
            <a:picLocks noChangeAspect="1"/>
          </p:cNvPicPr>
          <p:nvPr/>
        </p:nvPicPr>
        <p:blipFill rotWithShape="1">
          <a:blip r:embed="rId2"/>
          <a:srcRect l="22779" t="1967" r="7918" b="33140"/>
          <a:stretch/>
        </p:blipFill>
        <p:spPr>
          <a:xfrm>
            <a:off x="6235700" y="1866899"/>
            <a:ext cx="5524499" cy="2908300"/>
          </a:xfrm>
          <a:prstGeom prst="rect">
            <a:avLst/>
          </a:prstGeom>
        </p:spPr>
      </p:pic>
    </p:spTree>
    <p:extLst>
      <p:ext uri="{BB962C8B-B14F-4D97-AF65-F5344CB8AC3E}">
        <p14:creationId xmlns:p14="http://schemas.microsoft.com/office/powerpoint/2010/main" val="29554540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BEDED283-19FC-458B-8705-B71ABD030D0B}"/>
              </a:ext>
            </a:extLst>
          </p:cNvPr>
          <p:cNvSpPr txBox="1"/>
          <p:nvPr/>
        </p:nvSpPr>
        <p:spPr>
          <a:xfrm>
            <a:off x="723900" y="1272576"/>
            <a:ext cx="4864719" cy="4991623"/>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Ajuste en el manejo de roles y seguridad de navegación-Alumno</a:t>
            </a:r>
          </a:p>
          <a:p>
            <a:pPr marR="0" lvl="0" algn="just" defTabSz="914400" rtl="0" eaLnBrk="1" fontAlgn="auto" latinLnBrk="0" hangingPunct="1">
              <a:lnSpc>
                <a:spcPct val="150000"/>
              </a:lnSpc>
              <a:spcBef>
                <a:spcPts val="0"/>
              </a:spcBef>
              <a:spcAft>
                <a:spcPts val="800"/>
              </a:spcAft>
              <a:buClrTx/>
              <a:buSzTx/>
              <a:tabLst/>
              <a:defRPr/>
            </a:pPr>
            <a:r>
              <a:rPr lang="es-MX" sz="1600" dirty="0">
                <a:solidFill>
                  <a:prstClr val="black"/>
                </a:solidFill>
                <a:latin typeface="Arial" panose="020B0604020202020204" pitchFamily="34" charset="0"/>
                <a:cs typeface="Arial" panose="020B0604020202020204" pitchFamily="34" charset="0"/>
              </a:rPr>
              <a:t>6. El constructor inyecta el </a:t>
            </a:r>
            <a:r>
              <a:rPr lang="es-MX" sz="1600" dirty="0" err="1">
                <a:solidFill>
                  <a:prstClr val="black"/>
                </a:solidFill>
                <a:latin typeface="Arial" panose="020B0604020202020204" pitchFamily="34" charset="0"/>
                <a:cs typeface="Arial" panose="020B0604020202020204" pitchFamily="34" charset="0"/>
              </a:rPr>
              <a:t>SupabeseService</a:t>
            </a:r>
            <a:r>
              <a:rPr lang="es-MX" sz="1600" dirty="0">
                <a:solidFill>
                  <a:prstClr val="black"/>
                </a:solidFill>
                <a:latin typeface="Arial" panose="020B0604020202020204" pitchFamily="34" charset="0"/>
                <a:cs typeface="Arial" panose="020B0604020202020204" pitchFamily="34" charset="0"/>
              </a:rPr>
              <a:t> para consultar usuarios y tablas.</a:t>
            </a:r>
          </a:p>
          <a:p>
            <a:pPr marR="0" lvl="0" algn="just" defTabSz="914400" rtl="0" eaLnBrk="1" fontAlgn="auto" latinLnBrk="0" hangingPunct="1">
              <a:lnSpc>
                <a:spcPct val="150000"/>
              </a:lnSpc>
              <a:spcBef>
                <a:spcPts val="0"/>
              </a:spcBef>
              <a:spcAft>
                <a:spcPts val="800"/>
              </a:spcAft>
              <a:buClrTx/>
              <a:buSzTx/>
              <a:tabLst/>
              <a:defRPr/>
            </a:pPr>
            <a:r>
              <a:rPr lang="es-MX" sz="1600" dirty="0">
                <a:solidFill>
                  <a:prstClr val="black"/>
                </a:solidFill>
                <a:latin typeface="Arial" panose="020B0604020202020204" pitchFamily="34" charset="0"/>
                <a:cs typeface="Arial" panose="020B0604020202020204" pitchFamily="34" charset="0"/>
              </a:rPr>
              <a:t>7. Se consultaron los datos en la tabla “perfiles” para para verificar errores y llevar a la ruta correcta o impedir accesos solo con cambios de URL.</a:t>
            </a:r>
          </a:p>
          <a:p>
            <a:pPr marR="0" lvl="0" algn="just" defTabSz="914400" rtl="0" eaLnBrk="1" fontAlgn="auto" latinLnBrk="0" hangingPunct="1">
              <a:lnSpc>
                <a:spcPct val="150000"/>
              </a:lnSpc>
              <a:spcBef>
                <a:spcPts val="0"/>
              </a:spcBef>
              <a:spcAft>
                <a:spcPts val="800"/>
              </a:spcAft>
              <a:buClrTx/>
              <a:buSzTx/>
              <a:tabLst/>
              <a:defRPr/>
            </a:pPr>
            <a:r>
              <a:rPr lang="es-MX" sz="1600" dirty="0">
                <a:solidFill>
                  <a:prstClr val="black"/>
                </a:solidFill>
                <a:latin typeface="Arial" panose="020B0604020202020204" pitchFamily="34" charset="0"/>
                <a:cs typeface="Arial" panose="020B0604020202020204" pitchFamily="34" charset="0"/>
              </a:rPr>
              <a:t>8.  Se verificó si existe un inicio de sesión con:</a:t>
            </a:r>
          </a:p>
          <a:p>
            <a:pPr marR="0" lvl="0" algn="just" defTabSz="914400" rtl="0" eaLnBrk="1" fontAlgn="auto" latinLnBrk="0" hangingPunct="1">
              <a:lnSpc>
                <a:spcPct val="150000"/>
              </a:lnSpc>
              <a:spcBef>
                <a:spcPts val="0"/>
              </a:spcBef>
              <a:spcAft>
                <a:spcPts val="800"/>
              </a:spcAft>
              <a:buClrTx/>
              <a:buSzTx/>
              <a:tabLst/>
              <a:defRPr/>
            </a:pPr>
            <a:r>
              <a:rPr lang="es-MX" sz="1600" dirty="0" err="1">
                <a:solidFill>
                  <a:prstClr val="black"/>
                </a:solidFill>
                <a:latin typeface="Arial" panose="020B0604020202020204" pitchFamily="34" charset="0"/>
                <a:cs typeface="Arial" panose="020B0604020202020204" pitchFamily="34" charset="0"/>
              </a:rPr>
              <a:t>sesiónif</a:t>
            </a:r>
            <a:r>
              <a:rPr lang="es-MX" sz="1600" dirty="0">
                <a:solidFill>
                  <a:prstClr val="black"/>
                </a:solidFill>
                <a:latin typeface="Arial" panose="020B0604020202020204" pitchFamily="34" charset="0"/>
                <a:cs typeface="Arial" panose="020B0604020202020204" pitchFamily="34" charset="0"/>
              </a:rPr>
              <a:t> (!</a:t>
            </a:r>
            <a:r>
              <a:rPr lang="es-MX" sz="1600" dirty="0" err="1">
                <a:solidFill>
                  <a:prstClr val="black"/>
                </a:solidFill>
                <a:latin typeface="Arial" panose="020B0604020202020204" pitchFamily="34" charset="0"/>
                <a:cs typeface="Arial" panose="020B0604020202020204" pitchFamily="34" charset="0"/>
              </a:rPr>
              <a:t>user</a:t>
            </a:r>
            <a:r>
              <a:rPr lang="es-MX" sz="1600" dirty="0">
                <a:solidFill>
                  <a:prstClr val="black"/>
                </a:solidFill>
                <a:latin typeface="Arial" panose="020B0604020202020204" pitchFamily="34" charset="0"/>
                <a:cs typeface="Arial" panose="020B0604020202020204" pitchFamily="34" charset="0"/>
              </a:rPr>
              <a:t>) {  </a:t>
            </a:r>
            <a:r>
              <a:rPr lang="es-MX" sz="1600" dirty="0" err="1">
                <a:solidFill>
                  <a:prstClr val="black"/>
                </a:solidFill>
                <a:latin typeface="Arial" panose="020B0604020202020204" pitchFamily="34" charset="0"/>
                <a:cs typeface="Arial" panose="020B0604020202020204" pitchFamily="34" charset="0"/>
              </a:rPr>
              <a:t>this.router.navigate</a:t>
            </a:r>
            <a:r>
              <a:rPr lang="es-MX" sz="1600" dirty="0">
                <a:solidFill>
                  <a:prstClr val="black"/>
                </a:solidFill>
                <a:latin typeface="Arial" panose="020B0604020202020204" pitchFamily="34" charset="0"/>
                <a:cs typeface="Arial" panose="020B0604020202020204" pitchFamily="34" charset="0"/>
              </a:rPr>
              <a:t>(['/</a:t>
            </a:r>
            <a:r>
              <a:rPr lang="es-MX" sz="1600" dirty="0" err="1">
                <a:solidFill>
                  <a:prstClr val="black"/>
                </a:solidFill>
                <a:latin typeface="Arial" panose="020B0604020202020204" pitchFamily="34" charset="0"/>
                <a:cs typeface="Arial" panose="020B0604020202020204" pitchFamily="34" charset="0"/>
              </a:rPr>
              <a:t>login</a:t>
            </a:r>
            <a:r>
              <a:rPr lang="es-MX" sz="1600" dirty="0">
                <a:solidFill>
                  <a:prstClr val="black"/>
                </a:solidFill>
                <a:latin typeface="Arial" panose="020B0604020202020204" pitchFamily="34" charset="0"/>
                <a:cs typeface="Arial" panose="020B0604020202020204" pitchFamily="34" charset="0"/>
              </a:rPr>
              <a:t>']);  </a:t>
            </a:r>
            <a:r>
              <a:rPr lang="es-MX" sz="1600" dirty="0" err="1">
                <a:solidFill>
                  <a:prstClr val="black"/>
                </a:solidFill>
                <a:latin typeface="Arial" panose="020B0604020202020204" pitchFamily="34" charset="0"/>
                <a:cs typeface="Arial" panose="020B0604020202020204" pitchFamily="34" charset="0"/>
              </a:rPr>
              <a:t>return</a:t>
            </a:r>
            <a:r>
              <a:rPr lang="es-MX" sz="1600" dirty="0">
                <a:solidFill>
                  <a:prstClr val="black"/>
                </a:solidFill>
                <a:latin typeface="Arial" panose="020B0604020202020204" pitchFamily="34" charset="0"/>
                <a:cs typeface="Arial" panose="020B0604020202020204" pitchFamily="34" charset="0"/>
              </a:rPr>
              <a:t> false;}</a:t>
            </a:r>
          </a:p>
          <a:p>
            <a:pPr marR="0" lvl="0" algn="just" defTabSz="914400" rtl="0" eaLnBrk="1" fontAlgn="auto" latinLnBrk="0" hangingPunct="1">
              <a:lnSpc>
                <a:spcPct val="150000"/>
              </a:lnSpc>
              <a:spcBef>
                <a:spcPts val="0"/>
              </a:spcBef>
              <a:spcAft>
                <a:spcPts val="800"/>
              </a:spcAft>
              <a:buClrTx/>
              <a:buSzTx/>
              <a:tabLst/>
              <a:defRPr/>
            </a:pPr>
            <a:r>
              <a:rPr lang="es-MX" sz="1600" dirty="0">
                <a:solidFill>
                  <a:prstClr val="black"/>
                </a:solidFill>
                <a:latin typeface="Arial" panose="020B0604020202020204" pitchFamily="34" charset="0"/>
                <a:cs typeface="Arial" panose="020B0604020202020204" pitchFamily="34" charset="0"/>
              </a:rPr>
              <a:t>Si no hay usuario autenticado se envía al </a:t>
            </a:r>
            <a:r>
              <a:rPr lang="es-MX" sz="1600" dirty="0" err="1">
                <a:solidFill>
                  <a:prstClr val="black"/>
                </a:solidFill>
                <a:latin typeface="Arial" panose="020B0604020202020204" pitchFamily="34" charset="0"/>
                <a:cs typeface="Arial" panose="020B0604020202020204" pitchFamily="34" charset="0"/>
              </a:rPr>
              <a:t>login</a:t>
            </a:r>
            <a:r>
              <a:rPr lang="es-MX" sz="1600" dirty="0">
                <a:solidFill>
                  <a:prstClr val="black"/>
                </a:solidFill>
                <a:latin typeface="Arial" panose="020B0604020202020204" pitchFamily="34" charset="0"/>
                <a:cs typeface="Arial" panose="020B0604020202020204" pitchFamily="34" charset="0"/>
              </a:rPr>
              <a:t> y se bloquea la ruta.</a:t>
            </a:r>
          </a:p>
        </p:txBody>
      </p:sp>
      <p:sp>
        <p:nvSpPr>
          <p:cNvPr id="7" name="Marcador de número de diapositiva 6">
            <a:extLst>
              <a:ext uri="{FF2B5EF4-FFF2-40B4-BE49-F238E27FC236}">
                <a16:creationId xmlns:a16="http://schemas.microsoft.com/office/drawing/2014/main" id="{C37E05B1-CD42-44F2-93A6-D991E4F35AF5}"/>
              </a:ext>
            </a:extLst>
          </p:cNvPr>
          <p:cNvSpPr>
            <a:spLocks noGrp="1"/>
          </p:cNvSpPr>
          <p:nvPr>
            <p:ph type="sldNum" sz="quarter" idx="12"/>
          </p:nvPr>
        </p:nvSpPr>
        <p:spPr/>
        <p:txBody>
          <a:bodyPr/>
          <a:lstStyle/>
          <a:p>
            <a:fld id="{28FAD80A-BD4B-4644-B5A4-99133F8C7605}" type="slidenum">
              <a:rPr lang="es-MX" smtClean="0"/>
              <a:t>11</a:t>
            </a:fld>
            <a:endParaRPr lang="es-MX"/>
          </a:p>
        </p:txBody>
      </p:sp>
      <p:pic>
        <p:nvPicPr>
          <p:cNvPr id="11" name="Imagen 10">
            <a:extLst>
              <a:ext uri="{FF2B5EF4-FFF2-40B4-BE49-F238E27FC236}">
                <a16:creationId xmlns:a16="http://schemas.microsoft.com/office/drawing/2014/main" id="{7DDD4F52-624F-419C-9553-761C330C80F9}"/>
              </a:ext>
            </a:extLst>
          </p:cNvPr>
          <p:cNvPicPr>
            <a:picLocks noChangeAspect="1"/>
          </p:cNvPicPr>
          <p:nvPr/>
        </p:nvPicPr>
        <p:blipFill rotWithShape="1">
          <a:blip r:embed="rId2"/>
          <a:srcRect l="28229" t="1967" r="7708" b="33140"/>
          <a:stretch/>
        </p:blipFill>
        <p:spPr>
          <a:xfrm>
            <a:off x="5944631" y="3189213"/>
            <a:ext cx="5399333" cy="3074986"/>
          </a:xfrm>
          <a:prstGeom prst="rect">
            <a:avLst/>
          </a:prstGeom>
        </p:spPr>
      </p:pic>
      <p:pic>
        <p:nvPicPr>
          <p:cNvPr id="6" name="Imagen 5">
            <a:extLst>
              <a:ext uri="{FF2B5EF4-FFF2-40B4-BE49-F238E27FC236}">
                <a16:creationId xmlns:a16="http://schemas.microsoft.com/office/drawing/2014/main" id="{DC165677-0F69-4A04-9938-E57050B2712A}"/>
              </a:ext>
            </a:extLst>
          </p:cNvPr>
          <p:cNvPicPr>
            <a:picLocks noChangeAspect="1"/>
          </p:cNvPicPr>
          <p:nvPr/>
        </p:nvPicPr>
        <p:blipFill rotWithShape="1">
          <a:blip r:embed="rId3"/>
          <a:srcRect l="22779" t="1967" r="7918" b="33140"/>
          <a:stretch/>
        </p:blipFill>
        <p:spPr>
          <a:xfrm>
            <a:off x="5848350" y="136525"/>
            <a:ext cx="5524499" cy="2908300"/>
          </a:xfrm>
          <a:prstGeom prst="rect">
            <a:avLst/>
          </a:prstGeom>
        </p:spPr>
      </p:pic>
      <p:cxnSp>
        <p:nvCxnSpPr>
          <p:cNvPr id="9" name="Conector recto de flecha 8">
            <a:extLst>
              <a:ext uri="{FF2B5EF4-FFF2-40B4-BE49-F238E27FC236}">
                <a16:creationId xmlns:a16="http://schemas.microsoft.com/office/drawing/2014/main" id="{17CB931F-A2DC-408D-835D-ABBC84DFC7B5}"/>
              </a:ext>
            </a:extLst>
          </p:cNvPr>
          <p:cNvCxnSpPr>
            <a:cxnSpLocks/>
          </p:cNvCxnSpPr>
          <p:nvPr/>
        </p:nvCxnSpPr>
        <p:spPr>
          <a:xfrm flipH="1">
            <a:off x="7315200" y="1224951"/>
            <a:ext cx="685800" cy="46414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Elipse 12">
            <a:extLst>
              <a:ext uri="{FF2B5EF4-FFF2-40B4-BE49-F238E27FC236}">
                <a16:creationId xmlns:a16="http://schemas.microsoft.com/office/drawing/2014/main" id="{A63D5FAE-8F02-4F2D-A9EC-109798B80B55}"/>
              </a:ext>
            </a:extLst>
          </p:cNvPr>
          <p:cNvSpPr/>
          <p:nvPr/>
        </p:nvSpPr>
        <p:spPr>
          <a:xfrm>
            <a:off x="7871134" y="1106681"/>
            <a:ext cx="259731" cy="21669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MX" dirty="0"/>
              <a:t>6</a:t>
            </a:r>
          </a:p>
        </p:txBody>
      </p:sp>
      <p:sp>
        <p:nvSpPr>
          <p:cNvPr id="14" name="Elipse 13">
            <a:extLst>
              <a:ext uri="{FF2B5EF4-FFF2-40B4-BE49-F238E27FC236}">
                <a16:creationId xmlns:a16="http://schemas.microsoft.com/office/drawing/2014/main" id="{EAFD9532-39DD-4BBE-BCB7-64D29D3E894F}"/>
              </a:ext>
            </a:extLst>
          </p:cNvPr>
          <p:cNvSpPr/>
          <p:nvPr/>
        </p:nvSpPr>
        <p:spPr>
          <a:xfrm>
            <a:off x="7924799" y="4409378"/>
            <a:ext cx="259731" cy="21669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MX" dirty="0"/>
              <a:t>8</a:t>
            </a:r>
          </a:p>
        </p:txBody>
      </p:sp>
      <p:cxnSp>
        <p:nvCxnSpPr>
          <p:cNvPr id="15" name="Conector recto de flecha 14">
            <a:extLst>
              <a:ext uri="{FF2B5EF4-FFF2-40B4-BE49-F238E27FC236}">
                <a16:creationId xmlns:a16="http://schemas.microsoft.com/office/drawing/2014/main" id="{7D6BD765-6E2B-4B82-BD97-5983B8677D38}"/>
              </a:ext>
            </a:extLst>
          </p:cNvPr>
          <p:cNvCxnSpPr>
            <a:cxnSpLocks/>
          </p:cNvCxnSpPr>
          <p:nvPr/>
        </p:nvCxnSpPr>
        <p:spPr>
          <a:xfrm flipH="1">
            <a:off x="7181850" y="4576859"/>
            <a:ext cx="819150" cy="47675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Elipse 16">
            <a:extLst>
              <a:ext uri="{FF2B5EF4-FFF2-40B4-BE49-F238E27FC236}">
                <a16:creationId xmlns:a16="http://schemas.microsoft.com/office/drawing/2014/main" id="{9F716030-7160-4DD9-9699-C2C01E534A12}"/>
              </a:ext>
            </a:extLst>
          </p:cNvPr>
          <p:cNvSpPr/>
          <p:nvPr/>
        </p:nvSpPr>
        <p:spPr>
          <a:xfrm>
            <a:off x="9055100" y="3969884"/>
            <a:ext cx="259731" cy="21669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MX" dirty="0"/>
              <a:t>7</a:t>
            </a:r>
          </a:p>
        </p:txBody>
      </p:sp>
      <p:cxnSp>
        <p:nvCxnSpPr>
          <p:cNvPr id="18" name="Conector recto de flecha 17">
            <a:extLst>
              <a:ext uri="{FF2B5EF4-FFF2-40B4-BE49-F238E27FC236}">
                <a16:creationId xmlns:a16="http://schemas.microsoft.com/office/drawing/2014/main" id="{A30E08A1-0AF8-4819-8584-33F12743D7A7}"/>
              </a:ext>
            </a:extLst>
          </p:cNvPr>
          <p:cNvCxnSpPr>
            <a:cxnSpLocks/>
          </p:cNvCxnSpPr>
          <p:nvPr/>
        </p:nvCxnSpPr>
        <p:spPr>
          <a:xfrm flipH="1">
            <a:off x="7871134" y="4078231"/>
            <a:ext cx="1183966" cy="11003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7781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BB6C6FD-8EA1-4065-956F-67E8BCFD2DAF}"/>
              </a:ext>
            </a:extLst>
          </p:cNvPr>
          <p:cNvPicPr>
            <a:picLocks noChangeAspect="1"/>
          </p:cNvPicPr>
          <p:nvPr/>
        </p:nvPicPr>
        <p:blipFill rotWithShape="1">
          <a:blip r:embed="rId2"/>
          <a:srcRect l="16607" r="18506" b="24314"/>
          <a:stretch/>
        </p:blipFill>
        <p:spPr>
          <a:xfrm>
            <a:off x="6481713" y="1638844"/>
            <a:ext cx="5459530" cy="3580312"/>
          </a:xfrm>
          <a:prstGeom prst="rect">
            <a:avLst/>
          </a:prstGeom>
        </p:spPr>
      </p:pic>
      <p:sp>
        <p:nvSpPr>
          <p:cNvPr id="2" name="Marcador de número de diapositiva 1">
            <a:extLst>
              <a:ext uri="{FF2B5EF4-FFF2-40B4-BE49-F238E27FC236}">
                <a16:creationId xmlns:a16="http://schemas.microsoft.com/office/drawing/2014/main" id="{BF58A410-4AF7-49CE-9536-A132984DD799}"/>
              </a:ext>
            </a:extLst>
          </p:cNvPr>
          <p:cNvSpPr>
            <a:spLocks noGrp="1"/>
          </p:cNvSpPr>
          <p:nvPr>
            <p:ph type="sldNum" sz="quarter" idx="12"/>
          </p:nvPr>
        </p:nvSpPr>
        <p:spPr/>
        <p:txBody>
          <a:bodyPr/>
          <a:lstStyle/>
          <a:p>
            <a:fld id="{28FAD80A-BD4B-4644-B5A4-99133F8C7605}" type="slidenum">
              <a:rPr lang="es-MX" smtClean="0"/>
              <a:t>12</a:t>
            </a:fld>
            <a:endParaRPr lang="es-MX"/>
          </a:p>
        </p:txBody>
      </p:sp>
      <p:sp>
        <p:nvSpPr>
          <p:cNvPr id="6" name="CuadroTexto 5">
            <a:extLst>
              <a:ext uri="{FF2B5EF4-FFF2-40B4-BE49-F238E27FC236}">
                <a16:creationId xmlns:a16="http://schemas.microsoft.com/office/drawing/2014/main" id="{E604890E-A502-4306-9C0C-E3188787D6C8}"/>
              </a:ext>
            </a:extLst>
          </p:cNvPr>
          <p:cNvSpPr txBox="1"/>
          <p:nvPr/>
        </p:nvSpPr>
        <p:spPr>
          <a:xfrm>
            <a:off x="840922" y="907451"/>
            <a:ext cx="5400222" cy="5463547"/>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App </a:t>
            </a:r>
            <a:r>
              <a:rPr kumimoji="0" lang="es-MX" sz="1600" b="1"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Routes</a:t>
            </a:r>
            <a:endPar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sz="1600" dirty="0">
                <a:solidFill>
                  <a:prstClr val="black"/>
                </a:solidFill>
                <a:latin typeface="Arial" panose="020B0604020202020204" pitchFamily="34" charset="0"/>
                <a:cs typeface="Arial" panose="020B0604020202020204" pitchFamily="34" charset="0"/>
              </a:rPr>
              <a:t>Aquí se importaron las páginas que verá el usuario.</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sz="1600" dirty="0" err="1">
                <a:solidFill>
                  <a:prstClr val="black"/>
                </a:solidFill>
                <a:latin typeface="Arial" panose="020B0604020202020204" pitchFamily="34" charset="0"/>
                <a:cs typeface="Arial" panose="020B0604020202020204" pitchFamily="34" charset="0"/>
              </a:rPr>
              <a:t>Guards</a:t>
            </a:r>
            <a:r>
              <a:rPr lang="es-MX" sz="1600" dirty="0">
                <a:solidFill>
                  <a:prstClr val="black"/>
                </a:solidFill>
                <a:latin typeface="Arial" panose="020B0604020202020204" pitchFamily="34" charset="0"/>
                <a:cs typeface="Arial" panose="020B0604020202020204" pitchFamily="34" charset="0"/>
              </a:rPr>
              <a:t> controla quién puede acceder a determinadas rutas.</a:t>
            </a:r>
          </a:p>
          <a:p>
            <a:pPr marL="285750" marR="0" lvl="0" indent="-285750" algn="just" defTabSz="914400" rtl="0" eaLnBrk="1" fontAlgn="auto" latinLnBrk="0" hangingPunct="1">
              <a:lnSpc>
                <a:spcPct val="150000"/>
              </a:lnSpc>
              <a:spcBef>
                <a:spcPts val="0"/>
              </a:spcBef>
              <a:spcAft>
                <a:spcPts val="800"/>
              </a:spcAft>
              <a:buClrTx/>
              <a:buSzTx/>
              <a:buFont typeface="Arial" panose="020B0604020202020204" pitchFamily="34" charset="0"/>
              <a:buChar char="•"/>
              <a:tabLst/>
              <a:defRPr/>
            </a:pPr>
            <a:r>
              <a:rPr lang="es-MX" sz="1600" dirty="0" err="1">
                <a:solidFill>
                  <a:prstClr val="black"/>
                </a:solidFill>
                <a:latin typeface="Arial" panose="020B0604020202020204" pitchFamily="34" charset="0"/>
                <a:cs typeface="Arial" panose="020B0604020202020204" pitchFamily="34" charset="0"/>
              </a:rPr>
              <a:t>AlumnoGuard</a:t>
            </a:r>
            <a:endParaRPr lang="es-MX" sz="1600" dirty="0">
              <a:solidFill>
                <a:prstClr val="black"/>
              </a:solidFill>
              <a:latin typeface="Arial" panose="020B0604020202020204" pitchFamily="34" charset="0"/>
              <a:cs typeface="Arial" panose="020B0604020202020204" pitchFamily="34" charset="0"/>
            </a:endParaRPr>
          </a:p>
          <a:p>
            <a:pPr marL="285750" marR="0" lvl="0" indent="-285750" algn="just" defTabSz="914400" rtl="0" eaLnBrk="1" fontAlgn="auto" latinLnBrk="0" hangingPunct="1">
              <a:lnSpc>
                <a:spcPct val="150000"/>
              </a:lnSpc>
              <a:spcBef>
                <a:spcPts val="0"/>
              </a:spcBef>
              <a:spcAft>
                <a:spcPts val="800"/>
              </a:spcAft>
              <a:buClrTx/>
              <a:buSzTx/>
              <a:buFont typeface="Arial" panose="020B0604020202020204" pitchFamily="34" charset="0"/>
              <a:buChar char="•"/>
              <a:tabLst/>
              <a:defRPr/>
            </a:pPr>
            <a:r>
              <a:rPr lang="es-MX" sz="1600" dirty="0" err="1">
                <a:solidFill>
                  <a:prstClr val="black"/>
                </a:solidFill>
                <a:latin typeface="Arial" panose="020B0604020202020204" pitchFamily="34" charset="0"/>
                <a:cs typeface="Arial" panose="020B0604020202020204" pitchFamily="34" charset="0"/>
              </a:rPr>
              <a:t>AdminGuard</a:t>
            </a:r>
            <a:endParaRPr lang="es-MX" sz="1600" dirty="0">
              <a:solidFill>
                <a:prstClr val="black"/>
              </a:solidFill>
              <a:latin typeface="Arial" panose="020B0604020202020204" pitchFamily="34" charset="0"/>
              <a:cs typeface="Arial" panose="020B0604020202020204" pitchFamily="34" charset="0"/>
            </a:endParaRPr>
          </a:p>
          <a:p>
            <a:pPr marR="0" lvl="0" algn="just" defTabSz="914400" rtl="0" eaLnBrk="1" fontAlgn="auto" latinLnBrk="0" hangingPunct="1">
              <a:lnSpc>
                <a:spcPct val="150000"/>
              </a:lnSpc>
              <a:spcBef>
                <a:spcPts val="0"/>
              </a:spcBef>
              <a:spcAft>
                <a:spcPts val="800"/>
              </a:spcAft>
              <a:buClrTx/>
              <a:buSzTx/>
              <a:tabLst/>
              <a:defRPr/>
            </a:pPr>
            <a:r>
              <a:rPr lang="es-MX" sz="1600" dirty="0">
                <a:solidFill>
                  <a:prstClr val="black"/>
                </a:solidFill>
                <a:latin typeface="Arial" panose="020B0604020202020204" pitchFamily="34" charset="0"/>
                <a:cs typeface="Arial" panose="020B0604020202020204" pitchFamily="34" charset="0"/>
              </a:rPr>
              <a:t>2. Se tomaron en cuenta los cambios realizados anteriormente, para crear la ruta protegida para alumnos y administrador.</a:t>
            </a:r>
          </a:p>
          <a:p>
            <a:pPr marR="0" lvl="0" algn="just" defTabSz="914400" rtl="0" eaLnBrk="1" fontAlgn="auto" latinLnBrk="0" hangingPunct="1">
              <a:lnSpc>
                <a:spcPct val="150000"/>
              </a:lnSpc>
              <a:spcBef>
                <a:spcPts val="0"/>
              </a:spcBef>
              <a:spcAft>
                <a:spcPts val="800"/>
              </a:spcAft>
              <a:buClrTx/>
              <a:buSzTx/>
              <a:tabLst/>
              <a:defRPr/>
            </a:pPr>
            <a:r>
              <a:rPr lang="es-MX" sz="1600" dirty="0">
                <a:solidFill>
                  <a:prstClr val="black"/>
                </a:solidFill>
                <a:latin typeface="Arial" panose="020B0604020202020204" pitchFamily="34" charset="0"/>
                <a:cs typeface="Arial" panose="020B0604020202020204" pitchFamily="34" charset="0"/>
              </a:rPr>
              <a:t>3. Esta ruta protegida especificó: antes de mostrar esta página, se ejecuta el </a:t>
            </a:r>
            <a:r>
              <a:rPr lang="es-MX" sz="1600" dirty="0" err="1">
                <a:solidFill>
                  <a:prstClr val="black"/>
                </a:solidFill>
                <a:latin typeface="Arial" panose="020B0604020202020204" pitchFamily="34" charset="0"/>
                <a:cs typeface="Arial" panose="020B0604020202020204" pitchFamily="34" charset="0"/>
              </a:rPr>
              <a:t>Guard</a:t>
            </a:r>
            <a:r>
              <a:rPr lang="es-MX" sz="1600" dirty="0">
                <a:solidFill>
                  <a:prstClr val="black"/>
                </a:solidFill>
                <a:latin typeface="Arial" panose="020B0604020202020204" pitchFamily="34" charset="0"/>
                <a:cs typeface="Arial" panose="020B0604020202020204" pitchFamily="34" charset="0"/>
              </a:rPr>
              <a:t> correspondiente. Si el </a:t>
            </a:r>
            <a:r>
              <a:rPr lang="es-MX" sz="1600" dirty="0" err="1">
                <a:solidFill>
                  <a:prstClr val="black"/>
                </a:solidFill>
                <a:latin typeface="Arial" panose="020B0604020202020204" pitchFamily="34" charset="0"/>
                <a:cs typeface="Arial" panose="020B0604020202020204" pitchFamily="34" charset="0"/>
              </a:rPr>
              <a:t>guard</a:t>
            </a:r>
            <a:r>
              <a:rPr lang="es-MX" sz="1600" dirty="0">
                <a:solidFill>
                  <a:prstClr val="black"/>
                </a:solidFill>
                <a:latin typeface="Arial" panose="020B0604020202020204" pitchFamily="34" charset="0"/>
                <a:cs typeface="Arial" panose="020B0604020202020204" pitchFamily="34" charset="0"/>
              </a:rPr>
              <a:t> devuelve true entra al </a:t>
            </a:r>
            <a:r>
              <a:rPr lang="es-MX" sz="1600" dirty="0" err="1">
                <a:solidFill>
                  <a:prstClr val="black"/>
                </a:solidFill>
                <a:latin typeface="Arial" panose="020B0604020202020204" pitchFamily="34" charset="0"/>
                <a:cs typeface="Arial" panose="020B0604020202020204" pitchFamily="34" charset="0"/>
              </a:rPr>
              <a:t>componente.Si</a:t>
            </a:r>
            <a:r>
              <a:rPr lang="es-MX" sz="1600" dirty="0">
                <a:solidFill>
                  <a:prstClr val="black"/>
                </a:solidFill>
                <a:latin typeface="Arial" panose="020B0604020202020204" pitchFamily="34" charset="0"/>
                <a:cs typeface="Arial" panose="020B0604020202020204" pitchFamily="34" charset="0"/>
              </a:rPr>
              <a:t> </a:t>
            </a:r>
            <a:r>
              <a:rPr lang="es-MX" sz="1600" dirty="0" err="1">
                <a:solidFill>
                  <a:prstClr val="black"/>
                </a:solidFill>
                <a:latin typeface="Arial" panose="020B0604020202020204" pitchFamily="34" charset="0"/>
                <a:cs typeface="Arial" panose="020B0604020202020204" pitchFamily="34" charset="0"/>
              </a:rPr>
              <a:t>devuelve:return</a:t>
            </a:r>
            <a:r>
              <a:rPr lang="es-MX" sz="1600" dirty="0">
                <a:solidFill>
                  <a:prstClr val="black"/>
                </a:solidFill>
                <a:latin typeface="Arial" panose="020B0604020202020204" pitchFamily="34" charset="0"/>
                <a:cs typeface="Arial" panose="020B0604020202020204" pitchFamily="34" charset="0"/>
              </a:rPr>
              <a:t> false; se bloquea el acceso.</a:t>
            </a:r>
          </a:p>
        </p:txBody>
      </p:sp>
      <p:sp>
        <p:nvSpPr>
          <p:cNvPr id="7" name="Rectángulo 6">
            <a:extLst>
              <a:ext uri="{FF2B5EF4-FFF2-40B4-BE49-F238E27FC236}">
                <a16:creationId xmlns:a16="http://schemas.microsoft.com/office/drawing/2014/main" id="{6614114D-3CFA-4F9E-82F4-7B0B241692C0}"/>
              </a:ext>
            </a:extLst>
          </p:cNvPr>
          <p:cNvSpPr/>
          <p:nvPr/>
        </p:nvSpPr>
        <p:spPr>
          <a:xfrm>
            <a:off x="7503886" y="4310743"/>
            <a:ext cx="2264228" cy="682171"/>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8" name="Conector recto de flecha 7">
            <a:extLst>
              <a:ext uri="{FF2B5EF4-FFF2-40B4-BE49-F238E27FC236}">
                <a16:creationId xmlns:a16="http://schemas.microsoft.com/office/drawing/2014/main" id="{200EF116-8923-4D38-BEEF-DDF6F4D72044}"/>
              </a:ext>
            </a:extLst>
          </p:cNvPr>
          <p:cNvCxnSpPr>
            <a:cxnSpLocks/>
          </p:cNvCxnSpPr>
          <p:nvPr/>
        </p:nvCxnSpPr>
        <p:spPr>
          <a:xfrm flipH="1">
            <a:off x="10113735" y="2745840"/>
            <a:ext cx="112122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9810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BF58A410-4AF7-49CE-9536-A132984DD799}"/>
              </a:ext>
            </a:extLst>
          </p:cNvPr>
          <p:cNvSpPr>
            <a:spLocks noGrp="1"/>
          </p:cNvSpPr>
          <p:nvPr>
            <p:ph type="sldNum" sz="quarter" idx="12"/>
          </p:nvPr>
        </p:nvSpPr>
        <p:spPr/>
        <p:txBody>
          <a:bodyPr/>
          <a:lstStyle/>
          <a:p>
            <a:fld id="{28FAD80A-BD4B-4644-B5A4-99133F8C7605}" type="slidenum">
              <a:rPr lang="es-MX" smtClean="0"/>
              <a:t>13</a:t>
            </a:fld>
            <a:endParaRPr lang="es-MX"/>
          </a:p>
        </p:txBody>
      </p:sp>
      <p:sp>
        <p:nvSpPr>
          <p:cNvPr id="6" name="CuadroTexto 5">
            <a:extLst>
              <a:ext uri="{FF2B5EF4-FFF2-40B4-BE49-F238E27FC236}">
                <a16:creationId xmlns:a16="http://schemas.microsoft.com/office/drawing/2014/main" id="{E604890E-A502-4306-9C0C-E3188787D6C8}"/>
              </a:ext>
            </a:extLst>
          </p:cNvPr>
          <p:cNvSpPr txBox="1"/>
          <p:nvPr/>
        </p:nvSpPr>
        <p:spPr>
          <a:xfrm>
            <a:off x="840922" y="907451"/>
            <a:ext cx="5400222" cy="5525102"/>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Inicio de sesión como Administrador</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sz="1600" dirty="0">
                <a:solidFill>
                  <a:prstClr val="black"/>
                </a:solidFill>
                <a:latin typeface="Arial" panose="020B0604020202020204" pitchFamily="34" charset="0"/>
                <a:cs typeface="Arial" panose="020B0604020202020204" pitchFamily="34" charset="0"/>
              </a:rPr>
              <a:t>La interfaz de inicio de sesión para administradores utiliza el mismo formulario base que los demás usuarios, permitiendo ingresar mediante correo electrónico y contraseña.</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sz="1600" dirty="0">
                <a:solidFill>
                  <a:prstClr val="black"/>
                </a:solidFill>
                <a:latin typeface="Arial" panose="020B0604020202020204" pitchFamily="34" charset="0"/>
                <a:cs typeface="Arial" panose="020B0604020202020204" pitchFamily="34" charset="0"/>
              </a:rPr>
              <a:t>Cuando el administrador introduce sus credenciales y presiona Iniciar sesión, el método </a:t>
            </a:r>
            <a:r>
              <a:rPr lang="es-MX" sz="1600" dirty="0" err="1">
                <a:solidFill>
                  <a:prstClr val="black"/>
                </a:solidFill>
                <a:latin typeface="Arial" panose="020B0604020202020204" pitchFamily="34" charset="0"/>
                <a:cs typeface="Arial" panose="020B0604020202020204" pitchFamily="34" charset="0"/>
              </a:rPr>
              <a:t>login</a:t>
            </a:r>
            <a:r>
              <a:rPr lang="es-MX" sz="1600" dirty="0">
                <a:solidFill>
                  <a:prstClr val="black"/>
                </a:solidFill>
                <a:latin typeface="Arial" panose="020B0604020202020204" pitchFamily="34" charset="0"/>
                <a:cs typeface="Arial" panose="020B0604020202020204" pitchFamily="34" charset="0"/>
              </a:rPr>
              <a:t>() valida la información con </a:t>
            </a:r>
            <a:r>
              <a:rPr lang="es-MX" sz="1600" dirty="0" err="1">
                <a:solidFill>
                  <a:prstClr val="black"/>
                </a:solidFill>
                <a:latin typeface="Arial" panose="020B0604020202020204" pitchFamily="34" charset="0"/>
                <a:cs typeface="Arial" panose="020B0604020202020204" pitchFamily="34" charset="0"/>
              </a:rPr>
              <a:t>Supabase</a:t>
            </a:r>
            <a:r>
              <a:rPr lang="es-MX" sz="1600" dirty="0">
                <a:solidFill>
                  <a:prstClr val="black"/>
                </a:solidFill>
                <a:latin typeface="Arial" panose="020B0604020202020204" pitchFamily="34" charset="0"/>
                <a:cs typeface="Arial" panose="020B0604020202020204" pitchFamily="34" charset="0"/>
              </a:rPr>
              <a:t>. Si la autenticación es correcta, se consulta el rol asociado en la tabla perfiles.</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sz="1600" dirty="0">
                <a:solidFill>
                  <a:prstClr val="black"/>
                </a:solidFill>
                <a:latin typeface="Arial" panose="020B0604020202020204" pitchFamily="34" charset="0"/>
                <a:cs typeface="Arial" panose="020B0604020202020204" pitchFamily="34" charset="0"/>
              </a:rPr>
              <a:t>Posteriormente, el sistema verifica mediante el </a:t>
            </a:r>
            <a:r>
              <a:rPr lang="es-MX" sz="1600" dirty="0" err="1">
                <a:solidFill>
                  <a:prstClr val="black"/>
                </a:solidFill>
                <a:latin typeface="Arial" panose="020B0604020202020204" pitchFamily="34" charset="0"/>
                <a:cs typeface="Arial" panose="020B0604020202020204" pitchFamily="34" charset="0"/>
              </a:rPr>
              <a:t>AdminGuard</a:t>
            </a:r>
            <a:r>
              <a:rPr lang="es-MX" sz="1600" dirty="0">
                <a:solidFill>
                  <a:prstClr val="black"/>
                </a:solidFill>
                <a:latin typeface="Arial" panose="020B0604020202020204" pitchFamily="34" charset="0"/>
                <a:cs typeface="Arial" panose="020B0604020202020204" pitchFamily="34" charset="0"/>
              </a:rPr>
              <a:t> que el usuario tenga el rol de administrador antes de permitir el acceso a la ruta protegida.</a:t>
            </a:r>
          </a:p>
        </p:txBody>
      </p:sp>
      <p:pic>
        <p:nvPicPr>
          <p:cNvPr id="4" name="Imagen 3">
            <a:extLst>
              <a:ext uri="{FF2B5EF4-FFF2-40B4-BE49-F238E27FC236}">
                <a16:creationId xmlns:a16="http://schemas.microsoft.com/office/drawing/2014/main" id="{16518A1F-3C9A-4015-A405-F24A3D3A1B1D}"/>
              </a:ext>
            </a:extLst>
          </p:cNvPr>
          <p:cNvPicPr>
            <a:picLocks noChangeAspect="1"/>
          </p:cNvPicPr>
          <p:nvPr/>
        </p:nvPicPr>
        <p:blipFill rotWithShape="1">
          <a:blip r:embed="rId2"/>
          <a:srcRect l="22390" t="1967" r="22539" b="17846"/>
          <a:stretch/>
        </p:blipFill>
        <p:spPr>
          <a:xfrm>
            <a:off x="6548717" y="1168827"/>
            <a:ext cx="5109883" cy="4183104"/>
          </a:xfrm>
          <a:prstGeom prst="rect">
            <a:avLst/>
          </a:prstGeom>
        </p:spPr>
      </p:pic>
    </p:spTree>
    <p:extLst>
      <p:ext uri="{BB962C8B-B14F-4D97-AF65-F5344CB8AC3E}">
        <p14:creationId xmlns:p14="http://schemas.microsoft.com/office/powerpoint/2010/main" val="544324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BF58A410-4AF7-49CE-9536-A132984DD799}"/>
              </a:ext>
            </a:extLst>
          </p:cNvPr>
          <p:cNvSpPr>
            <a:spLocks noGrp="1"/>
          </p:cNvSpPr>
          <p:nvPr>
            <p:ph type="sldNum" sz="quarter" idx="12"/>
          </p:nvPr>
        </p:nvSpPr>
        <p:spPr/>
        <p:txBody>
          <a:bodyPr/>
          <a:lstStyle/>
          <a:p>
            <a:fld id="{28FAD80A-BD4B-4644-B5A4-99133F8C7605}" type="slidenum">
              <a:rPr lang="es-MX" smtClean="0"/>
              <a:t>14</a:t>
            </a:fld>
            <a:endParaRPr lang="es-MX"/>
          </a:p>
        </p:txBody>
      </p:sp>
      <p:sp>
        <p:nvSpPr>
          <p:cNvPr id="6" name="CuadroTexto 5">
            <a:extLst>
              <a:ext uri="{FF2B5EF4-FFF2-40B4-BE49-F238E27FC236}">
                <a16:creationId xmlns:a16="http://schemas.microsoft.com/office/drawing/2014/main" id="{E604890E-A502-4306-9C0C-E3188787D6C8}"/>
              </a:ext>
            </a:extLst>
          </p:cNvPr>
          <p:cNvSpPr txBox="1"/>
          <p:nvPr/>
        </p:nvSpPr>
        <p:spPr>
          <a:xfrm>
            <a:off x="695778" y="1297415"/>
            <a:ext cx="5400222" cy="3945183"/>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Inicio de sesión como Administrador</a:t>
            </a:r>
          </a:p>
          <a:p>
            <a:pPr marR="0" lvl="0" algn="just" defTabSz="914400" rtl="0" eaLnBrk="1" fontAlgn="auto" latinLnBrk="0" hangingPunct="1">
              <a:lnSpc>
                <a:spcPct val="150000"/>
              </a:lnSpc>
              <a:spcBef>
                <a:spcPts val="0"/>
              </a:spcBef>
              <a:spcAft>
                <a:spcPts val="800"/>
              </a:spcAft>
              <a:buClrTx/>
              <a:buSzTx/>
              <a:tabLst/>
              <a:defRPr/>
            </a:pPr>
            <a:r>
              <a:rPr lang="es-MX" sz="1600" dirty="0">
                <a:solidFill>
                  <a:prstClr val="black"/>
                </a:solidFill>
                <a:latin typeface="Arial" panose="020B0604020202020204" pitchFamily="34" charset="0"/>
                <a:cs typeface="Arial" panose="020B0604020202020204" pitchFamily="34" charset="0"/>
              </a:rPr>
              <a:t>4. Por motivos de seguridad, el sistema no ofrece una opción de registro público para administradores. Esto evita que cualquier usuario pueda crear cuentas con este privilegio dentro de la aplicación. En el código se observa que el botón Registrarse solo se muestra cuando el tipo de usuario corresponde a alumnos o usuarios comunes.</a:t>
            </a:r>
          </a:p>
          <a:p>
            <a:pPr marR="0" lvl="0" algn="just" defTabSz="914400" rtl="0" eaLnBrk="1" fontAlgn="auto" latinLnBrk="0" hangingPunct="1">
              <a:lnSpc>
                <a:spcPct val="150000"/>
              </a:lnSpc>
              <a:spcBef>
                <a:spcPts val="0"/>
              </a:spcBef>
              <a:spcAft>
                <a:spcPts val="800"/>
              </a:spcAft>
              <a:buClrTx/>
              <a:buSzTx/>
              <a:tabLst/>
              <a:defRPr/>
            </a:pPr>
            <a:r>
              <a:rPr lang="es-MX" sz="1600" dirty="0">
                <a:solidFill>
                  <a:prstClr val="black"/>
                </a:solidFill>
                <a:latin typeface="Arial" panose="020B0604020202020204" pitchFamily="34" charset="0"/>
                <a:cs typeface="Arial" panose="020B0604020202020204" pitchFamily="34" charset="0"/>
              </a:rPr>
              <a:t>5. Las cuentas administrativas son creadas directamente en la base de datos, garantizando un mayor control sobre quién puede administrar la plataforma.</a:t>
            </a:r>
          </a:p>
        </p:txBody>
      </p:sp>
      <p:pic>
        <p:nvPicPr>
          <p:cNvPr id="4" name="Imagen 3">
            <a:extLst>
              <a:ext uri="{FF2B5EF4-FFF2-40B4-BE49-F238E27FC236}">
                <a16:creationId xmlns:a16="http://schemas.microsoft.com/office/drawing/2014/main" id="{16518A1F-3C9A-4015-A405-F24A3D3A1B1D}"/>
              </a:ext>
            </a:extLst>
          </p:cNvPr>
          <p:cNvPicPr>
            <a:picLocks noChangeAspect="1"/>
          </p:cNvPicPr>
          <p:nvPr/>
        </p:nvPicPr>
        <p:blipFill rotWithShape="1">
          <a:blip r:embed="rId2"/>
          <a:srcRect l="22390" t="1967" r="22539" b="17846"/>
          <a:stretch/>
        </p:blipFill>
        <p:spPr>
          <a:xfrm>
            <a:off x="6408750" y="907451"/>
            <a:ext cx="5540189" cy="4535365"/>
          </a:xfrm>
          <a:prstGeom prst="rect">
            <a:avLst/>
          </a:prstGeom>
        </p:spPr>
      </p:pic>
      <p:cxnSp>
        <p:nvCxnSpPr>
          <p:cNvPr id="5" name="Conector recto de flecha 4">
            <a:extLst>
              <a:ext uri="{FF2B5EF4-FFF2-40B4-BE49-F238E27FC236}">
                <a16:creationId xmlns:a16="http://schemas.microsoft.com/office/drawing/2014/main" id="{EB093C54-2DAF-4B31-AEDF-6F47DE86B4C2}"/>
              </a:ext>
            </a:extLst>
          </p:cNvPr>
          <p:cNvCxnSpPr>
            <a:cxnSpLocks/>
          </p:cNvCxnSpPr>
          <p:nvPr/>
        </p:nvCxnSpPr>
        <p:spPr>
          <a:xfrm flipH="1">
            <a:off x="9605682" y="4424082"/>
            <a:ext cx="1371600" cy="10757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112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BF58A410-4AF7-49CE-9536-A132984DD799}"/>
              </a:ext>
            </a:extLst>
          </p:cNvPr>
          <p:cNvSpPr>
            <a:spLocks noGrp="1"/>
          </p:cNvSpPr>
          <p:nvPr>
            <p:ph type="sldNum" sz="quarter" idx="12"/>
          </p:nvPr>
        </p:nvSpPr>
        <p:spPr/>
        <p:txBody>
          <a:bodyPr/>
          <a:lstStyle/>
          <a:p>
            <a:fld id="{28FAD80A-BD4B-4644-B5A4-99133F8C7605}" type="slidenum">
              <a:rPr lang="es-MX" smtClean="0"/>
              <a:t>15</a:t>
            </a:fld>
            <a:endParaRPr lang="es-MX"/>
          </a:p>
        </p:txBody>
      </p:sp>
      <p:sp>
        <p:nvSpPr>
          <p:cNvPr id="6" name="CuadroTexto 5">
            <a:extLst>
              <a:ext uri="{FF2B5EF4-FFF2-40B4-BE49-F238E27FC236}">
                <a16:creationId xmlns:a16="http://schemas.microsoft.com/office/drawing/2014/main" id="{E604890E-A502-4306-9C0C-E3188787D6C8}"/>
              </a:ext>
            </a:extLst>
          </p:cNvPr>
          <p:cNvSpPr txBox="1"/>
          <p:nvPr/>
        </p:nvSpPr>
        <p:spPr>
          <a:xfrm>
            <a:off x="550635" y="1297416"/>
            <a:ext cx="5400222" cy="4519699"/>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b="1" dirty="0">
                <a:solidFill>
                  <a:prstClr val="black"/>
                </a:solidFill>
                <a:latin typeface="Arial" panose="020B0604020202020204" pitchFamily="34" charset="0"/>
                <a:ea typeface="Aptos" panose="020B0004020202020204" pitchFamily="34" charset="0"/>
                <a:cs typeface="Arial" panose="020B0604020202020204" pitchFamily="34" charset="0"/>
              </a:rPr>
              <a:t>Botón para cerrar sesión</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Supabase.se</a:t>
            </a:r>
            <a:r>
              <a:rPr lang="es-MX" sz="1600" b="1" dirty="0" err="1">
                <a:solidFill>
                  <a:prstClr val="black"/>
                </a:solidFill>
                <a:latin typeface="Arial" panose="020B0604020202020204" pitchFamily="34" charset="0"/>
                <a:ea typeface="Aptos" panose="020B0004020202020204" pitchFamily="34" charset="0"/>
                <a:cs typeface="Arial" panose="020B0604020202020204" pitchFamily="34" charset="0"/>
              </a:rPr>
              <a:t>rvice</a:t>
            </a:r>
            <a:endPar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sz="1600" dirty="0">
                <a:solidFill>
                  <a:prstClr val="black"/>
                </a:solidFill>
                <a:latin typeface="Arial" panose="020B0604020202020204" pitchFamily="34" charset="0"/>
                <a:cs typeface="Arial" panose="020B0604020202020204" pitchFamily="34" charset="0"/>
              </a:rPr>
              <a:t>Para permitir que los usuarios finalicen su sesión de manera segura, se implementó una funcionalidad de cierre de sesión utilizando los servicios de autenticación de </a:t>
            </a:r>
            <a:r>
              <a:rPr lang="es-MX" sz="1600" dirty="0" err="1">
                <a:solidFill>
                  <a:prstClr val="black"/>
                </a:solidFill>
                <a:latin typeface="Arial" panose="020B0604020202020204" pitchFamily="34" charset="0"/>
                <a:cs typeface="Arial" panose="020B0604020202020204" pitchFamily="34" charset="0"/>
              </a:rPr>
              <a:t>Supabase</a:t>
            </a:r>
            <a:r>
              <a:rPr lang="es-MX" sz="1600" dirty="0">
                <a:solidFill>
                  <a:prstClr val="black"/>
                </a:solidFill>
                <a:latin typeface="Arial" panose="020B0604020202020204" pitchFamily="34" charset="0"/>
                <a:cs typeface="Arial" panose="020B0604020202020204" pitchFamily="34" charset="0"/>
              </a:rPr>
              <a:t>.</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sz="1600" dirty="0">
                <a:solidFill>
                  <a:prstClr val="black"/>
                </a:solidFill>
                <a:latin typeface="Arial" panose="020B0604020202020204" pitchFamily="34" charset="0"/>
                <a:cs typeface="Arial" panose="020B0604020202020204" pitchFamily="34" charset="0"/>
              </a:rPr>
              <a:t>Se creó el método de cierre de sesión dentro del servicio </a:t>
            </a:r>
            <a:r>
              <a:rPr lang="es-MX" sz="1600" dirty="0" err="1">
                <a:solidFill>
                  <a:prstClr val="black"/>
                </a:solidFill>
                <a:latin typeface="Arial" panose="020B0604020202020204" pitchFamily="34" charset="0"/>
                <a:cs typeface="Arial" panose="020B0604020202020204" pitchFamily="34" charset="0"/>
              </a:rPr>
              <a:t>SupabaseService</a:t>
            </a:r>
            <a:r>
              <a:rPr lang="es-MX" sz="1600" dirty="0">
                <a:solidFill>
                  <a:prstClr val="black"/>
                </a:solidFill>
                <a:latin typeface="Arial" panose="020B0604020202020204" pitchFamily="34" charset="0"/>
                <a:cs typeface="Arial" panose="020B0604020202020204" pitchFamily="34" charset="0"/>
              </a:rPr>
              <a:t> encargado de cerrar la sesión activa del usuario.</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sz="1600" dirty="0" err="1">
                <a:solidFill>
                  <a:prstClr val="black"/>
                </a:solidFill>
                <a:latin typeface="Arial" panose="020B0604020202020204" pitchFamily="34" charset="0"/>
                <a:cs typeface="Arial" panose="020B0604020202020204" pitchFamily="34" charset="0"/>
              </a:rPr>
              <a:t>signOut</a:t>
            </a:r>
            <a:r>
              <a:rPr lang="es-MX" sz="1600" dirty="0">
                <a:solidFill>
                  <a:prstClr val="black"/>
                </a:solidFill>
                <a:latin typeface="Arial" panose="020B0604020202020204" pitchFamily="34" charset="0"/>
                <a:cs typeface="Arial" panose="020B0604020202020204" pitchFamily="34" charset="0"/>
              </a:rPr>
              <a:t>() elimina la sesión actual y los tokens de autenticación almacenados en el navegador.</a:t>
            </a:r>
          </a:p>
        </p:txBody>
      </p:sp>
      <p:pic>
        <p:nvPicPr>
          <p:cNvPr id="4" name="Imagen 3">
            <a:extLst>
              <a:ext uri="{FF2B5EF4-FFF2-40B4-BE49-F238E27FC236}">
                <a16:creationId xmlns:a16="http://schemas.microsoft.com/office/drawing/2014/main" id="{0AF01A4A-C77B-495C-90D0-8DE5BEB9B6A1}"/>
              </a:ext>
            </a:extLst>
          </p:cNvPr>
          <p:cNvPicPr>
            <a:picLocks noChangeAspect="1"/>
          </p:cNvPicPr>
          <p:nvPr/>
        </p:nvPicPr>
        <p:blipFill>
          <a:blip r:embed="rId2"/>
          <a:stretch>
            <a:fillRect/>
          </a:stretch>
        </p:blipFill>
        <p:spPr>
          <a:xfrm>
            <a:off x="6200585" y="1458087"/>
            <a:ext cx="5751486" cy="3277859"/>
          </a:xfrm>
          <a:prstGeom prst="rect">
            <a:avLst/>
          </a:prstGeom>
        </p:spPr>
      </p:pic>
    </p:spTree>
    <p:extLst>
      <p:ext uri="{BB962C8B-B14F-4D97-AF65-F5344CB8AC3E}">
        <p14:creationId xmlns:p14="http://schemas.microsoft.com/office/powerpoint/2010/main" val="4002359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BF58A410-4AF7-49CE-9536-A132984DD799}"/>
              </a:ext>
            </a:extLst>
          </p:cNvPr>
          <p:cNvSpPr>
            <a:spLocks noGrp="1"/>
          </p:cNvSpPr>
          <p:nvPr>
            <p:ph type="sldNum" sz="quarter" idx="12"/>
          </p:nvPr>
        </p:nvSpPr>
        <p:spPr/>
        <p:txBody>
          <a:bodyPr/>
          <a:lstStyle/>
          <a:p>
            <a:fld id="{28FAD80A-BD4B-4644-B5A4-99133F8C7605}" type="slidenum">
              <a:rPr lang="es-MX" smtClean="0"/>
              <a:t>16</a:t>
            </a:fld>
            <a:endParaRPr lang="es-MX"/>
          </a:p>
        </p:txBody>
      </p:sp>
      <p:sp>
        <p:nvSpPr>
          <p:cNvPr id="6" name="CuadroTexto 5">
            <a:extLst>
              <a:ext uri="{FF2B5EF4-FFF2-40B4-BE49-F238E27FC236}">
                <a16:creationId xmlns:a16="http://schemas.microsoft.com/office/drawing/2014/main" id="{E604890E-A502-4306-9C0C-E3188787D6C8}"/>
              </a:ext>
            </a:extLst>
          </p:cNvPr>
          <p:cNvSpPr txBox="1"/>
          <p:nvPr/>
        </p:nvSpPr>
        <p:spPr>
          <a:xfrm>
            <a:off x="443057" y="615153"/>
            <a:ext cx="5016447" cy="5627694"/>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b="1" dirty="0">
                <a:solidFill>
                  <a:prstClr val="black"/>
                </a:solidFill>
                <a:latin typeface="Arial" panose="020B0604020202020204" pitchFamily="34" charset="0"/>
                <a:ea typeface="Aptos" panose="020B0004020202020204" pitchFamily="34" charset="0"/>
                <a:cs typeface="Arial" panose="020B0604020202020204" pitchFamily="34" charset="0"/>
              </a:rPr>
              <a:t>Botón para cerrar sesión</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Administrador.html</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sz="1600" dirty="0">
                <a:solidFill>
                  <a:prstClr val="black"/>
                </a:solidFill>
                <a:latin typeface="Arial" panose="020B0604020202020204" pitchFamily="34" charset="0"/>
                <a:cs typeface="Arial" panose="020B0604020202020204" pitchFamily="34" charset="0"/>
              </a:rPr>
              <a:t>El botón Cerrar sesión se colocó dentro del encabezado del panel de administrador y está conectado con el método </a:t>
            </a:r>
            <a:r>
              <a:rPr lang="es-MX" sz="1600" dirty="0" err="1">
                <a:solidFill>
                  <a:prstClr val="black"/>
                </a:solidFill>
                <a:latin typeface="Arial" panose="020B0604020202020204" pitchFamily="34" charset="0"/>
                <a:cs typeface="Arial" panose="020B0604020202020204" pitchFamily="34" charset="0"/>
              </a:rPr>
              <a:t>logout</a:t>
            </a:r>
            <a:r>
              <a:rPr lang="es-MX" sz="1600" dirty="0">
                <a:solidFill>
                  <a:prstClr val="black"/>
                </a:solidFill>
                <a:latin typeface="Arial" panose="020B0604020202020204" pitchFamily="34" charset="0"/>
                <a:cs typeface="Arial" panose="020B0604020202020204" pitchFamily="34" charset="0"/>
              </a:rPr>
              <a:t>() del componente.</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sz="1600" dirty="0">
                <a:solidFill>
                  <a:prstClr val="black"/>
                </a:solidFill>
                <a:latin typeface="Arial" panose="020B0604020202020204" pitchFamily="34" charset="0"/>
                <a:cs typeface="Arial" panose="020B0604020202020204" pitchFamily="34" charset="0"/>
              </a:rPr>
              <a:t>Se utilizó el evento </a:t>
            </a:r>
            <a:r>
              <a:rPr lang="es-MX" sz="1600" dirty="0" err="1">
                <a:solidFill>
                  <a:prstClr val="black"/>
                </a:solidFill>
                <a:latin typeface="Arial" panose="020B0604020202020204" pitchFamily="34" charset="0"/>
                <a:cs typeface="Arial" panose="020B0604020202020204" pitchFamily="34" charset="0"/>
              </a:rPr>
              <a:t>click</a:t>
            </a:r>
            <a:r>
              <a:rPr lang="es-MX" sz="1600" dirty="0">
                <a:solidFill>
                  <a:prstClr val="black"/>
                </a:solidFill>
                <a:latin typeface="Arial" panose="020B0604020202020204" pitchFamily="34" charset="0"/>
                <a:cs typeface="Arial" panose="020B0604020202020204" pitchFamily="34" charset="0"/>
              </a:rPr>
              <a:t> para ejecutar la función cerrar sesión cuando el usuario presiona el botón.</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sz="1600" dirty="0">
                <a:solidFill>
                  <a:prstClr val="black"/>
                </a:solidFill>
                <a:latin typeface="Arial" panose="020B0604020202020204" pitchFamily="34" charset="0"/>
                <a:cs typeface="Arial" panose="020B0604020202020204" pitchFamily="34" charset="0"/>
              </a:rPr>
              <a:t>Este botón se muestra junto al nombre del usuario autenticado, después de que el usuario inicia sesión, la aplicación consulta la información almacenada en </a:t>
            </a:r>
            <a:r>
              <a:rPr lang="es-MX" sz="1600" dirty="0" err="1">
                <a:solidFill>
                  <a:prstClr val="black"/>
                </a:solidFill>
                <a:latin typeface="Arial" panose="020B0604020202020204" pitchFamily="34" charset="0"/>
                <a:cs typeface="Arial" panose="020B0604020202020204" pitchFamily="34" charset="0"/>
              </a:rPr>
              <a:t>Supabase</a:t>
            </a:r>
            <a:r>
              <a:rPr lang="es-MX" sz="1600" dirty="0">
                <a:solidFill>
                  <a:prstClr val="black"/>
                </a:solidFill>
                <a:latin typeface="Arial" panose="020B0604020202020204" pitchFamily="34" charset="0"/>
                <a:cs typeface="Arial" panose="020B0604020202020204" pitchFamily="34" charset="0"/>
              </a:rPr>
              <a:t> y asigna el nombre a la variable </a:t>
            </a:r>
            <a:r>
              <a:rPr lang="es-MX" sz="1600" dirty="0" err="1">
                <a:solidFill>
                  <a:prstClr val="black"/>
                </a:solidFill>
                <a:latin typeface="Arial" panose="020B0604020202020204" pitchFamily="34" charset="0"/>
                <a:cs typeface="Arial" panose="020B0604020202020204" pitchFamily="34" charset="0"/>
              </a:rPr>
              <a:t>usuarioNombre</a:t>
            </a:r>
            <a:r>
              <a:rPr lang="es-MX" sz="1600" dirty="0">
                <a:solidFill>
                  <a:prstClr val="black"/>
                </a:solidFill>
                <a:latin typeface="Arial" panose="020B0604020202020204" pitchFamily="34" charset="0"/>
                <a:cs typeface="Arial" panose="020B0604020202020204" pitchFamily="34" charset="0"/>
              </a:rPr>
              <a:t>.</a:t>
            </a:r>
          </a:p>
        </p:txBody>
      </p:sp>
      <p:pic>
        <p:nvPicPr>
          <p:cNvPr id="8" name="Imagen 7">
            <a:extLst>
              <a:ext uri="{FF2B5EF4-FFF2-40B4-BE49-F238E27FC236}">
                <a16:creationId xmlns:a16="http://schemas.microsoft.com/office/drawing/2014/main" id="{5C85FD0F-A9F4-46F2-ADBF-A9D3C0234445}"/>
              </a:ext>
            </a:extLst>
          </p:cNvPr>
          <p:cNvPicPr>
            <a:picLocks noChangeAspect="1"/>
          </p:cNvPicPr>
          <p:nvPr/>
        </p:nvPicPr>
        <p:blipFill rotWithShape="1">
          <a:blip r:embed="rId2"/>
          <a:srcRect l="13345" t="1967" r="21802" b="16650"/>
          <a:stretch/>
        </p:blipFill>
        <p:spPr>
          <a:xfrm>
            <a:off x="5773333" y="900953"/>
            <a:ext cx="6130292" cy="4325059"/>
          </a:xfrm>
          <a:prstGeom prst="rect">
            <a:avLst/>
          </a:prstGeom>
        </p:spPr>
      </p:pic>
      <p:sp>
        <p:nvSpPr>
          <p:cNvPr id="10" name="Elipse 9">
            <a:extLst>
              <a:ext uri="{FF2B5EF4-FFF2-40B4-BE49-F238E27FC236}">
                <a16:creationId xmlns:a16="http://schemas.microsoft.com/office/drawing/2014/main" id="{E7C9001E-ED33-4BD5-8A84-73D08007D246}"/>
              </a:ext>
            </a:extLst>
          </p:cNvPr>
          <p:cNvSpPr/>
          <p:nvPr/>
        </p:nvSpPr>
        <p:spPr>
          <a:xfrm>
            <a:off x="10497800" y="3429000"/>
            <a:ext cx="295835" cy="34961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MX" dirty="0"/>
              <a:t>2</a:t>
            </a:r>
          </a:p>
        </p:txBody>
      </p:sp>
      <p:cxnSp>
        <p:nvCxnSpPr>
          <p:cNvPr id="12" name="Conector recto de flecha 11">
            <a:extLst>
              <a:ext uri="{FF2B5EF4-FFF2-40B4-BE49-F238E27FC236}">
                <a16:creationId xmlns:a16="http://schemas.microsoft.com/office/drawing/2014/main" id="{E86377FD-076C-4A90-9250-DAAC8DB8585C}"/>
              </a:ext>
            </a:extLst>
          </p:cNvPr>
          <p:cNvCxnSpPr/>
          <p:nvPr/>
        </p:nvCxnSpPr>
        <p:spPr>
          <a:xfrm flipH="1">
            <a:off x="9923929" y="3603812"/>
            <a:ext cx="510989"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12">
            <a:extLst>
              <a:ext uri="{FF2B5EF4-FFF2-40B4-BE49-F238E27FC236}">
                <a16:creationId xmlns:a16="http://schemas.microsoft.com/office/drawing/2014/main" id="{4203F891-500C-4F9E-B0F2-44A959EB4E62}"/>
              </a:ext>
            </a:extLst>
          </p:cNvPr>
          <p:cNvCxnSpPr/>
          <p:nvPr/>
        </p:nvCxnSpPr>
        <p:spPr>
          <a:xfrm flipH="1">
            <a:off x="8960223" y="3299012"/>
            <a:ext cx="510989"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 name="Elipse 13">
            <a:extLst>
              <a:ext uri="{FF2B5EF4-FFF2-40B4-BE49-F238E27FC236}">
                <a16:creationId xmlns:a16="http://schemas.microsoft.com/office/drawing/2014/main" id="{F59A0014-B3C8-4FF0-906A-73EAC9C01AC9}"/>
              </a:ext>
            </a:extLst>
          </p:cNvPr>
          <p:cNvSpPr/>
          <p:nvPr/>
        </p:nvSpPr>
        <p:spPr>
          <a:xfrm>
            <a:off x="9489206" y="3063482"/>
            <a:ext cx="295835" cy="34961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MX" dirty="0"/>
              <a:t>3</a:t>
            </a:r>
          </a:p>
        </p:txBody>
      </p:sp>
    </p:spTree>
    <p:extLst>
      <p:ext uri="{BB962C8B-B14F-4D97-AF65-F5344CB8AC3E}">
        <p14:creationId xmlns:p14="http://schemas.microsoft.com/office/powerpoint/2010/main" val="976179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BF58A410-4AF7-49CE-9536-A132984DD799}"/>
              </a:ext>
            </a:extLst>
          </p:cNvPr>
          <p:cNvSpPr>
            <a:spLocks noGrp="1"/>
          </p:cNvSpPr>
          <p:nvPr>
            <p:ph type="sldNum" sz="quarter" idx="12"/>
          </p:nvPr>
        </p:nvSpPr>
        <p:spPr/>
        <p:txBody>
          <a:bodyPr/>
          <a:lstStyle/>
          <a:p>
            <a:fld id="{28FAD80A-BD4B-4644-B5A4-99133F8C7605}" type="slidenum">
              <a:rPr lang="es-MX" smtClean="0"/>
              <a:t>17</a:t>
            </a:fld>
            <a:endParaRPr lang="es-MX"/>
          </a:p>
        </p:txBody>
      </p:sp>
      <p:sp>
        <p:nvSpPr>
          <p:cNvPr id="6" name="CuadroTexto 5">
            <a:extLst>
              <a:ext uri="{FF2B5EF4-FFF2-40B4-BE49-F238E27FC236}">
                <a16:creationId xmlns:a16="http://schemas.microsoft.com/office/drawing/2014/main" id="{E604890E-A502-4306-9C0C-E3188787D6C8}"/>
              </a:ext>
            </a:extLst>
          </p:cNvPr>
          <p:cNvSpPr txBox="1"/>
          <p:nvPr/>
        </p:nvSpPr>
        <p:spPr>
          <a:xfrm>
            <a:off x="576407" y="1034253"/>
            <a:ext cx="5016447" cy="4047775"/>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b="1" dirty="0">
                <a:solidFill>
                  <a:prstClr val="black"/>
                </a:solidFill>
                <a:latin typeface="Arial" panose="020B0604020202020204" pitchFamily="34" charset="0"/>
                <a:ea typeface="Aptos" panose="020B0004020202020204" pitchFamily="34" charset="0"/>
                <a:cs typeface="Arial" panose="020B0604020202020204" pitchFamily="34" charset="0"/>
              </a:rPr>
              <a:t>Botón para cerrar sesión</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Alumno.html</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sz="1600" dirty="0">
                <a:solidFill>
                  <a:prstClr val="black"/>
                </a:solidFill>
                <a:latin typeface="Arial" panose="020B0604020202020204" pitchFamily="34" charset="0"/>
                <a:cs typeface="Arial" panose="020B0604020202020204" pitchFamily="34" charset="0"/>
              </a:rPr>
              <a:t>Al igual que en el panel de administrador, el botón Cerrar sesión se colocó dentro del encabezado del panel de administrador y está conectado con el método </a:t>
            </a:r>
            <a:r>
              <a:rPr lang="es-MX" sz="1600" dirty="0" err="1">
                <a:solidFill>
                  <a:prstClr val="black"/>
                </a:solidFill>
                <a:latin typeface="Arial" panose="020B0604020202020204" pitchFamily="34" charset="0"/>
                <a:cs typeface="Arial" panose="020B0604020202020204" pitchFamily="34" charset="0"/>
              </a:rPr>
              <a:t>logout</a:t>
            </a:r>
            <a:r>
              <a:rPr lang="es-MX" sz="1600" dirty="0">
                <a:solidFill>
                  <a:prstClr val="black"/>
                </a:solidFill>
                <a:latin typeface="Arial" panose="020B0604020202020204" pitchFamily="34" charset="0"/>
                <a:cs typeface="Arial" panose="020B0604020202020204" pitchFamily="34" charset="0"/>
              </a:rPr>
              <a:t>() del componente.</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sz="1600" dirty="0">
                <a:solidFill>
                  <a:prstClr val="black"/>
                </a:solidFill>
                <a:latin typeface="Arial" panose="020B0604020202020204" pitchFamily="34" charset="0"/>
                <a:cs typeface="Arial" panose="020B0604020202020204" pitchFamily="34" charset="0"/>
              </a:rPr>
              <a:t>Se utilizó el evento </a:t>
            </a:r>
            <a:r>
              <a:rPr lang="es-MX" sz="1600" dirty="0" err="1">
                <a:solidFill>
                  <a:prstClr val="black"/>
                </a:solidFill>
                <a:latin typeface="Arial" panose="020B0604020202020204" pitchFamily="34" charset="0"/>
                <a:cs typeface="Arial" panose="020B0604020202020204" pitchFamily="34" charset="0"/>
              </a:rPr>
              <a:t>click</a:t>
            </a:r>
            <a:r>
              <a:rPr lang="es-MX" sz="1600" dirty="0">
                <a:solidFill>
                  <a:prstClr val="black"/>
                </a:solidFill>
                <a:latin typeface="Arial" panose="020B0604020202020204" pitchFamily="34" charset="0"/>
                <a:cs typeface="Arial" panose="020B0604020202020204" pitchFamily="34" charset="0"/>
              </a:rPr>
              <a:t> para ejecutar la función cerrar sesión cuando el usuario presiona el botón.</a:t>
            </a:r>
          </a:p>
        </p:txBody>
      </p:sp>
      <p:pic>
        <p:nvPicPr>
          <p:cNvPr id="4" name="Imagen 3">
            <a:extLst>
              <a:ext uri="{FF2B5EF4-FFF2-40B4-BE49-F238E27FC236}">
                <a16:creationId xmlns:a16="http://schemas.microsoft.com/office/drawing/2014/main" id="{DC9322E5-5B89-4EA1-A72A-EDD3FFEEA3BD}"/>
              </a:ext>
            </a:extLst>
          </p:cNvPr>
          <p:cNvPicPr>
            <a:picLocks noChangeAspect="1"/>
          </p:cNvPicPr>
          <p:nvPr/>
        </p:nvPicPr>
        <p:blipFill rotWithShape="1">
          <a:blip r:embed="rId2"/>
          <a:srcRect l="21094" r="16250" b="15539"/>
          <a:stretch/>
        </p:blipFill>
        <p:spPr>
          <a:xfrm>
            <a:off x="5869007" y="1174351"/>
            <a:ext cx="5949868" cy="4509297"/>
          </a:xfrm>
          <a:prstGeom prst="rect">
            <a:avLst/>
          </a:prstGeom>
        </p:spPr>
      </p:pic>
      <p:cxnSp>
        <p:nvCxnSpPr>
          <p:cNvPr id="7" name="Conector recto de flecha 6">
            <a:extLst>
              <a:ext uri="{FF2B5EF4-FFF2-40B4-BE49-F238E27FC236}">
                <a16:creationId xmlns:a16="http://schemas.microsoft.com/office/drawing/2014/main" id="{77B8014F-C271-4728-A9C4-BE8B28239F2B}"/>
              </a:ext>
            </a:extLst>
          </p:cNvPr>
          <p:cNvCxnSpPr>
            <a:cxnSpLocks/>
          </p:cNvCxnSpPr>
          <p:nvPr/>
        </p:nvCxnSpPr>
        <p:spPr>
          <a:xfrm flipH="1">
            <a:off x="9434492" y="2781300"/>
            <a:ext cx="79535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6845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3FAE6F7-9943-4683-A641-BFBDB5085BC7}"/>
              </a:ext>
            </a:extLst>
          </p:cNvPr>
          <p:cNvSpPr>
            <a:spLocks noGrp="1"/>
          </p:cNvSpPr>
          <p:nvPr>
            <p:ph type="sldNum" sz="quarter" idx="12"/>
          </p:nvPr>
        </p:nvSpPr>
        <p:spPr/>
        <p:txBody>
          <a:bodyPr/>
          <a:lstStyle/>
          <a:p>
            <a:fld id="{28FAD80A-BD4B-4644-B5A4-99133F8C7605}" type="slidenum">
              <a:rPr lang="es-MX" smtClean="0"/>
              <a:t>18</a:t>
            </a:fld>
            <a:endParaRPr lang="es-MX"/>
          </a:p>
        </p:txBody>
      </p:sp>
      <p:sp>
        <p:nvSpPr>
          <p:cNvPr id="5" name="CuadroTexto 4">
            <a:extLst>
              <a:ext uri="{FF2B5EF4-FFF2-40B4-BE49-F238E27FC236}">
                <a16:creationId xmlns:a16="http://schemas.microsoft.com/office/drawing/2014/main" id="{983782AD-8366-4B29-9B27-170F4680E017}"/>
              </a:ext>
            </a:extLst>
          </p:cNvPr>
          <p:cNvSpPr txBox="1"/>
          <p:nvPr/>
        </p:nvSpPr>
        <p:spPr>
          <a:xfrm>
            <a:off x="1314145" y="1126809"/>
            <a:ext cx="9873809" cy="2632003"/>
          </a:xfrm>
          <a:prstGeom prst="rect">
            <a:avLst/>
          </a:prstGeom>
          <a:noFill/>
        </p:spPr>
        <p:txBody>
          <a:bodyPr wrap="square">
            <a:spAutoFit/>
          </a:bodyPr>
          <a:lstStyle/>
          <a:p>
            <a:pPr algn="just">
              <a:lnSpc>
                <a:spcPct val="150000"/>
              </a:lnSpc>
            </a:pPr>
            <a:r>
              <a:rPr lang="es-MX" sz="1600" b="1" dirty="0">
                <a:latin typeface="Arial" panose="020B0604020202020204" pitchFamily="34" charset="0"/>
                <a:cs typeface="Arial" panose="020B0604020202020204" pitchFamily="34" charset="0"/>
              </a:rPr>
              <a:t>Conclusión</a:t>
            </a:r>
          </a:p>
          <a:p>
            <a:pPr algn="just">
              <a:lnSpc>
                <a:spcPct val="150000"/>
              </a:lnSpc>
            </a:pPr>
            <a:r>
              <a:rPr lang="es-MX" sz="1600" dirty="0">
                <a:latin typeface="Arial" panose="020B0604020202020204" pitchFamily="34" charset="0"/>
                <a:cs typeface="Arial" panose="020B0604020202020204" pitchFamily="34" charset="0"/>
              </a:rPr>
              <a:t>Este reporte representa un avance significativo en el desarrollo de "Solicita-</a:t>
            </a:r>
            <a:r>
              <a:rPr lang="es-MX" sz="1600" dirty="0" err="1">
                <a:latin typeface="Arial" panose="020B0604020202020204" pitchFamily="34" charset="0"/>
                <a:cs typeface="Arial" panose="020B0604020202020204" pitchFamily="34" charset="0"/>
              </a:rPr>
              <a:t>Tec</a:t>
            </a:r>
            <a:r>
              <a:rPr lang="es-MX" sz="1600" dirty="0">
                <a:latin typeface="Arial" panose="020B0604020202020204" pitchFamily="34" charset="0"/>
                <a:cs typeface="Arial" panose="020B0604020202020204" pitchFamily="34" charset="0"/>
              </a:rPr>
              <a:t>". Se logró transformar una navegación abierta a una con flujo seguro basado en roles de usuario. La implementación de los </a:t>
            </a:r>
            <a:r>
              <a:rPr lang="es-MX" sz="1600" dirty="0" err="1">
                <a:latin typeface="Arial" panose="020B0604020202020204" pitchFamily="34" charset="0"/>
                <a:cs typeface="Arial" panose="020B0604020202020204" pitchFamily="34" charset="0"/>
              </a:rPr>
              <a:t>Guards</a:t>
            </a:r>
            <a:r>
              <a:rPr lang="es-MX" sz="1600" dirty="0">
                <a:latin typeface="Arial" panose="020B0604020202020204" pitchFamily="34" charset="0"/>
                <a:cs typeface="Arial" panose="020B0604020202020204" pitchFamily="34" charset="0"/>
              </a:rPr>
              <a:t> para Administradores y Alumnos demuestra un dominio en el manejo de la lógica y la integración de servicios externos. Como resultado, la aplicación ahora es capaz de validar identidades, redirigir intentos de acceso no autorizados al formulario de inicio de sesión y permitir un cierre de sesión seguro mediante el método </a:t>
            </a:r>
            <a:r>
              <a:rPr lang="es-MX" sz="1600" dirty="0" err="1">
                <a:latin typeface="Arial" panose="020B0604020202020204" pitchFamily="34" charset="0"/>
                <a:cs typeface="Arial" panose="020B0604020202020204" pitchFamily="34" charset="0"/>
              </a:rPr>
              <a:t>signOut</a:t>
            </a:r>
            <a:r>
              <a:rPr lang="es-MX" sz="1600" dirty="0">
                <a:latin typeface="Arial" panose="020B0604020202020204" pitchFamily="34" charset="0"/>
                <a:cs typeface="Arial" panose="020B0604020202020204" pitchFamily="34" charset="0"/>
              </a:rPr>
              <a:t> de </a:t>
            </a:r>
            <a:r>
              <a:rPr lang="es-MX" sz="1600" dirty="0" err="1">
                <a:latin typeface="Arial" panose="020B0604020202020204" pitchFamily="34" charset="0"/>
                <a:cs typeface="Arial" panose="020B0604020202020204" pitchFamily="34" charset="0"/>
              </a:rPr>
              <a:t>Supabase</a:t>
            </a:r>
            <a:r>
              <a:rPr lang="es-MX" sz="16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811082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E5F54803-36AB-42B2-925B-BCB3F3F0DC50}"/>
              </a:ext>
            </a:extLst>
          </p:cNvPr>
          <p:cNvSpPr>
            <a:spLocks noGrp="1"/>
          </p:cNvSpPr>
          <p:nvPr>
            <p:ph type="sldNum" sz="quarter" idx="12"/>
          </p:nvPr>
        </p:nvSpPr>
        <p:spPr/>
        <p:txBody>
          <a:bodyPr/>
          <a:lstStyle/>
          <a:p>
            <a:fld id="{28FAD80A-BD4B-4644-B5A4-99133F8C7605}" type="slidenum">
              <a:rPr lang="es-MX" smtClean="0"/>
              <a:t>19</a:t>
            </a:fld>
            <a:endParaRPr lang="es-MX"/>
          </a:p>
        </p:txBody>
      </p:sp>
      <p:sp>
        <p:nvSpPr>
          <p:cNvPr id="3" name="CuadroTexto 2">
            <a:extLst>
              <a:ext uri="{FF2B5EF4-FFF2-40B4-BE49-F238E27FC236}">
                <a16:creationId xmlns:a16="http://schemas.microsoft.com/office/drawing/2014/main" id="{CED9B3DC-05D8-4D96-B190-4A50865B4A34}"/>
              </a:ext>
            </a:extLst>
          </p:cNvPr>
          <p:cNvSpPr txBox="1"/>
          <p:nvPr/>
        </p:nvSpPr>
        <p:spPr>
          <a:xfrm>
            <a:off x="1690407" y="849742"/>
            <a:ext cx="8811185" cy="7104509"/>
          </a:xfrm>
          <a:prstGeom prst="rect">
            <a:avLst/>
          </a:prstGeom>
          <a:noFill/>
        </p:spPr>
        <p:txBody>
          <a:bodyPr wrap="square">
            <a:spAutoFit/>
          </a:bodyPr>
          <a:lstStyle/>
          <a:p>
            <a:pPr algn="just">
              <a:lnSpc>
                <a:spcPct val="150000"/>
              </a:lnSpc>
            </a:pPr>
            <a:r>
              <a:rPr lang="es-MX" b="1" dirty="0">
                <a:latin typeface="Arial" panose="020B0604020202020204" pitchFamily="34" charset="0"/>
                <a:cs typeface="Arial" panose="020B0604020202020204" pitchFamily="34" charset="0"/>
              </a:rPr>
              <a:t>Fuentes de información</a:t>
            </a:r>
          </a:p>
          <a:p>
            <a:pPr algn="just">
              <a:lnSpc>
                <a:spcPct val="150000"/>
              </a:lnSpc>
            </a:pPr>
            <a:r>
              <a:rPr lang="es-MX" dirty="0">
                <a:latin typeface="Arial" panose="020B0604020202020204" pitchFamily="34" charset="0"/>
                <a:cs typeface="Arial" panose="020B0604020202020204" pitchFamily="34" charset="0"/>
              </a:rPr>
              <a:t>Vázquez Escobedo, C. (2026). Tópicos de Programación Web Instituto Tecnológico de Frontera Comalapa.</a:t>
            </a:r>
          </a:p>
          <a:p>
            <a:pPr algn="just">
              <a:lnSpc>
                <a:spcPct val="150000"/>
              </a:lnSpc>
            </a:pPr>
            <a:endParaRPr lang="es-MX" b="1" dirty="0">
              <a:latin typeface="Arial" panose="020B0604020202020204" pitchFamily="34" charset="0"/>
              <a:cs typeface="Arial" panose="020B0604020202020204" pitchFamily="34" charset="0"/>
            </a:endParaRPr>
          </a:p>
          <a:p>
            <a:pPr algn="just">
              <a:lnSpc>
                <a:spcPct val="150000"/>
              </a:lnSpc>
            </a:pPr>
            <a:endParaRPr lang="es-MX" b="1" dirty="0">
              <a:latin typeface="Arial" panose="020B0604020202020204" pitchFamily="34" charset="0"/>
              <a:cs typeface="Arial" panose="020B0604020202020204" pitchFamily="34" charset="0"/>
            </a:endParaRPr>
          </a:p>
          <a:p>
            <a:pPr algn="just">
              <a:lnSpc>
                <a:spcPct val="150000"/>
              </a:lnSpc>
            </a:pPr>
            <a:endParaRPr lang="es-MX" b="1" dirty="0">
              <a:latin typeface="Arial" panose="020B0604020202020204" pitchFamily="34" charset="0"/>
              <a:cs typeface="Arial" panose="020B0604020202020204" pitchFamily="34" charset="0"/>
            </a:endParaRPr>
          </a:p>
          <a:p>
            <a:pPr algn="just">
              <a:lnSpc>
                <a:spcPct val="150000"/>
              </a:lnSpc>
            </a:pPr>
            <a:endParaRPr lang="es-MX" b="1" dirty="0">
              <a:latin typeface="Arial" panose="020B0604020202020204" pitchFamily="34" charset="0"/>
              <a:cs typeface="Arial" panose="020B0604020202020204" pitchFamily="34" charset="0"/>
            </a:endParaRPr>
          </a:p>
          <a:p>
            <a:pPr algn="just">
              <a:lnSpc>
                <a:spcPct val="150000"/>
              </a:lnSpc>
            </a:pPr>
            <a:r>
              <a:rPr lang="es-MX" dirty="0">
                <a:latin typeface="Arial" panose="020B0604020202020204" pitchFamily="34" charset="0"/>
                <a:cs typeface="Arial" panose="020B0604020202020204" pitchFamily="34" charset="0"/>
              </a:rPr>
              <a:t>La presente práctica se llevó a cabo siguiendo las indicaciones del catedrático</a:t>
            </a:r>
            <a:r>
              <a:rPr kumimoji="0" lang="es-ES" sz="18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 </a:t>
            </a:r>
            <a:r>
              <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Francisco Javier Velázquez Mingo, además de utilizar l</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os conocimientos adquiridos durante la asignatura Tópicos de Programación Web  impartida en el periodo enero-junio de 2026.</a:t>
            </a: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algn="just">
              <a:lnSpc>
                <a:spcPct val="150000"/>
              </a:lnSpc>
            </a:pPr>
            <a:endParaRPr lang="es-ES" dirty="0">
              <a:solidFill>
                <a:prstClr val="black"/>
              </a:solidFill>
              <a:latin typeface="Arial" panose="020B0604020202020204" pitchFamily="34" charset="0"/>
              <a:cs typeface="Arial" panose="020B0604020202020204" pitchFamily="34" charset="0"/>
            </a:endParaRPr>
          </a:p>
          <a:p>
            <a:pPr algn="just">
              <a:lnSpc>
                <a:spcPct val="150000"/>
              </a:lnSpc>
            </a:pP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algn="just">
              <a:lnSpc>
                <a:spcPct val="150000"/>
              </a:lnSpc>
            </a:pPr>
            <a:endParaRPr lang="es-ES" dirty="0">
              <a:solidFill>
                <a:prstClr val="black"/>
              </a:solidFill>
              <a:latin typeface="Arial" panose="020B0604020202020204" pitchFamily="34" charset="0"/>
              <a:ea typeface="Aptos" panose="020B0004020202020204" pitchFamily="34" charset="0"/>
              <a:cs typeface="Arial" panose="020B0604020202020204" pitchFamily="34" charset="0"/>
            </a:endParaRPr>
          </a:p>
          <a:p>
            <a:pPr algn="just">
              <a:lnSpc>
                <a:spcPct val="150000"/>
              </a:lnSpc>
            </a:pPr>
            <a:endParaRPr lang="es-ES" dirty="0">
              <a:solidFill>
                <a:prstClr val="black"/>
              </a:solidFill>
              <a:latin typeface="Arial" panose="020B0604020202020204" pitchFamily="34" charset="0"/>
              <a:ea typeface="Aptos" panose="020B0004020202020204" pitchFamily="34" charset="0"/>
              <a:cs typeface="Arial" panose="020B0604020202020204" pitchFamily="34" charset="0"/>
            </a:endParaRPr>
          </a:p>
          <a:p>
            <a:pPr algn="just">
              <a:lnSpc>
                <a:spcPct val="150000"/>
              </a:lnSpc>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algn="just">
              <a:lnSpc>
                <a:spcPct val="150000"/>
              </a:lnSpc>
            </a:pP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4863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E5F54803-36AB-42B2-925B-BCB3F3F0DC5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FAD80A-BD4B-4644-B5A4-99133F8C7605}"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CED9B3DC-05D8-4D96-B190-4A50865B4A34}"/>
              </a:ext>
            </a:extLst>
          </p:cNvPr>
          <p:cNvSpPr txBox="1"/>
          <p:nvPr/>
        </p:nvSpPr>
        <p:spPr>
          <a:xfrm>
            <a:off x="1690407" y="849742"/>
            <a:ext cx="8811185" cy="2534027"/>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Anexo carpeta que contiene el código fuente correspondiente a este avance “</a:t>
            </a:r>
            <a:r>
              <a:rPr kumimoji="0" lang="es-ES" sz="18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Proyecto_angular</a:t>
            </a:r>
            <a:r>
              <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t>
            </a: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06747797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697</TotalTime>
  <Words>1557</Words>
  <Application>Microsoft Office PowerPoint</Application>
  <PresentationFormat>Panorámica</PresentationFormat>
  <Paragraphs>138</Paragraphs>
  <Slides>20</Slides>
  <Notes>0</Notes>
  <HiddenSlides>0</HiddenSlides>
  <MMClips>0</MMClips>
  <ScaleCrop>false</ScaleCrop>
  <HeadingPairs>
    <vt:vector size="6" baseType="variant">
      <vt:variant>
        <vt:lpstr>Fuentes usadas</vt:lpstr>
      </vt:variant>
      <vt:variant>
        <vt:i4>3</vt:i4>
      </vt:variant>
      <vt:variant>
        <vt:lpstr>Tema</vt:lpstr>
      </vt:variant>
      <vt:variant>
        <vt:i4>2</vt:i4>
      </vt:variant>
      <vt:variant>
        <vt:lpstr>Títulos de diapositiva</vt:lpstr>
      </vt:variant>
      <vt:variant>
        <vt:i4>20</vt:i4>
      </vt:variant>
    </vt:vector>
  </HeadingPairs>
  <TitlesOfParts>
    <vt:vector size="25" baseType="lpstr">
      <vt:lpstr>Arial</vt:lpstr>
      <vt:lpstr>Calibri</vt:lpstr>
      <vt:lpstr>Calibri Light</vt:lpstr>
      <vt:lpstr>Tema de Office</vt:lpstr>
      <vt:lpstr>1_Tema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Gleysi Yoselin Escobedo López</dc:creator>
  <cp:lastModifiedBy>Gleysi Yoselin Escobedo López</cp:lastModifiedBy>
  <cp:revision>37</cp:revision>
  <dcterms:created xsi:type="dcterms:W3CDTF">2026-06-11T05:10:55Z</dcterms:created>
  <dcterms:modified xsi:type="dcterms:W3CDTF">2026-06-13T03:10:47Z</dcterms:modified>
</cp:coreProperties>
</file>