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9" r:id="rId4"/>
    <p:sldId id="260" r:id="rId5"/>
    <p:sldId id="261" r:id="rId6"/>
    <p:sldId id="262" r:id="rId7"/>
    <p:sldId id="263" r:id="rId8"/>
    <p:sldId id="264" r:id="rId9"/>
    <p:sldId id="265" r:id="rId10"/>
    <p:sldId id="274" r:id="rId11"/>
    <p:sldId id="267" r:id="rId12"/>
    <p:sldId id="271" r:id="rId13"/>
    <p:sldId id="269" r:id="rId14"/>
    <p:sldId id="268" r:id="rId15"/>
    <p:sldId id="270" r:id="rId16"/>
    <p:sldId id="272" r:id="rId17"/>
    <p:sldId id="273" r:id="rId18"/>
    <p:sldId id="275" r:id="rId19"/>
    <p:sldId id="266"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1D9BE3-0284-4415-96C4-515AFEBD606B}" type="datetimeFigureOut">
              <a:rPr lang="es-MX" smtClean="0"/>
              <a:t>29/05/2026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38812-4F2B-46CE-87BA-5B9338423019}" type="slidenum">
              <a:rPr lang="es-MX" smtClean="0"/>
              <a:t>‹Nº›</a:t>
            </a:fld>
            <a:endParaRPr lang="es-MX"/>
          </a:p>
        </p:txBody>
      </p:sp>
    </p:spTree>
    <p:extLst>
      <p:ext uri="{BB962C8B-B14F-4D97-AF65-F5344CB8AC3E}">
        <p14:creationId xmlns:p14="http://schemas.microsoft.com/office/powerpoint/2010/main" val="1617761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F01A5-1A1B-4777-BDA1-3D8BD831542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69F001A2-9A73-424A-92B2-85F01EBA66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1B6F60A2-BE9A-48E1-BD04-AA81D72CE0B2}"/>
              </a:ext>
            </a:extLst>
          </p:cNvPr>
          <p:cNvSpPr>
            <a:spLocks noGrp="1"/>
          </p:cNvSpPr>
          <p:nvPr>
            <p:ph type="dt" sz="half" idx="10"/>
          </p:nvPr>
        </p:nvSpPr>
        <p:spPr/>
        <p:txBody>
          <a:bodyPr/>
          <a:lstStyle/>
          <a:p>
            <a:fld id="{004D31A0-32FD-413B-AF37-825460B0FBA4}" type="datetime1">
              <a:rPr lang="es-MX" smtClean="0"/>
              <a:t>29/05/2026</a:t>
            </a:fld>
            <a:endParaRPr lang="es-MX"/>
          </a:p>
        </p:txBody>
      </p:sp>
      <p:sp>
        <p:nvSpPr>
          <p:cNvPr id="5" name="Marcador de pie de página 4">
            <a:extLst>
              <a:ext uri="{FF2B5EF4-FFF2-40B4-BE49-F238E27FC236}">
                <a16:creationId xmlns:a16="http://schemas.microsoft.com/office/drawing/2014/main" id="{A6169A1B-D612-4B66-A320-C3CD8A5B7CC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438C992-F8DF-401B-84BB-FB0784CF5C64}"/>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596415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524998-FC7E-496A-8A9D-9DA411AB4EA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5F0646F-E31D-44A3-9F78-DFB02016B12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B3F4A37-78DE-4561-9010-480D22AB3AE2}"/>
              </a:ext>
            </a:extLst>
          </p:cNvPr>
          <p:cNvSpPr>
            <a:spLocks noGrp="1"/>
          </p:cNvSpPr>
          <p:nvPr>
            <p:ph type="dt" sz="half" idx="10"/>
          </p:nvPr>
        </p:nvSpPr>
        <p:spPr/>
        <p:txBody>
          <a:bodyPr/>
          <a:lstStyle/>
          <a:p>
            <a:fld id="{63316C5B-D71D-4956-99F5-3DD8201B5AB4}" type="datetime1">
              <a:rPr lang="es-MX" smtClean="0"/>
              <a:t>29/05/2026</a:t>
            </a:fld>
            <a:endParaRPr lang="es-MX"/>
          </a:p>
        </p:txBody>
      </p:sp>
      <p:sp>
        <p:nvSpPr>
          <p:cNvPr id="5" name="Marcador de pie de página 4">
            <a:extLst>
              <a:ext uri="{FF2B5EF4-FFF2-40B4-BE49-F238E27FC236}">
                <a16:creationId xmlns:a16="http://schemas.microsoft.com/office/drawing/2014/main" id="{A687BB22-3D37-4762-854A-C405646D205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8964FB5-DE32-47A8-B85D-7A64296AD25A}"/>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2420905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CF8DF7-81C5-4F24-B4C4-5661261EC95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A095F68-9DC5-411A-BAFF-2729C0ADD5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1D8082A-A8D0-4FCC-9741-656BDD5B661A}"/>
              </a:ext>
            </a:extLst>
          </p:cNvPr>
          <p:cNvSpPr>
            <a:spLocks noGrp="1"/>
          </p:cNvSpPr>
          <p:nvPr>
            <p:ph type="dt" sz="half" idx="10"/>
          </p:nvPr>
        </p:nvSpPr>
        <p:spPr/>
        <p:txBody>
          <a:bodyPr/>
          <a:lstStyle/>
          <a:p>
            <a:fld id="{8AFD6D05-3CF4-4BC1-A5C9-EAB53F2D6062}" type="datetime1">
              <a:rPr lang="es-MX" smtClean="0"/>
              <a:t>29/05/2026</a:t>
            </a:fld>
            <a:endParaRPr lang="es-MX"/>
          </a:p>
        </p:txBody>
      </p:sp>
      <p:sp>
        <p:nvSpPr>
          <p:cNvPr id="5" name="Marcador de pie de página 4">
            <a:extLst>
              <a:ext uri="{FF2B5EF4-FFF2-40B4-BE49-F238E27FC236}">
                <a16:creationId xmlns:a16="http://schemas.microsoft.com/office/drawing/2014/main" id="{CE46A9C4-5D63-45C3-A9A1-52A2F2C8BB6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9D5BF1F-58FE-4F49-B7B6-C021C1261078}"/>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1059268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0463EF-07E5-4370-8E3D-C89BD57C682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06ED43E-90C6-438E-AA2C-AC61C75BA12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35B1904-521D-44D1-A1C7-1491E8BCC58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C7438CC-4E2A-4AE5-8074-4F0ADAC76B96}"/>
              </a:ext>
            </a:extLst>
          </p:cNvPr>
          <p:cNvSpPr>
            <a:spLocks noGrp="1"/>
          </p:cNvSpPr>
          <p:nvPr>
            <p:ph type="dt" sz="half" idx="10"/>
          </p:nvPr>
        </p:nvSpPr>
        <p:spPr/>
        <p:txBody>
          <a:bodyPr/>
          <a:lstStyle/>
          <a:p>
            <a:fld id="{46FB94AD-D114-4492-AA17-42016237F7FE}" type="datetime1">
              <a:rPr lang="es-MX" smtClean="0"/>
              <a:t>29/05/2026</a:t>
            </a:fld>
            <a:endParaRPr lang="es-MX"/>
          </a:p>
        </p:txBody>
      </p:sp>
      <p:sp>
        <p:nvSpPr>
          <p:cNvPr id="6" name="Marcador de pie de página 5">
            <a:extLst>
              <a:ext uri="{FF2B5EF4-FFF2-40B4-BE49-F238E27FC236}">
                <a16:creationId xmlns:a16="http://schemas.microsoft.com/office/drawing/2014/main" id="{C8D63D6B-029C-4DD1-8D73-683E99EA6F3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D2B93BD-8F07-475C-810A-4A18D4BE6198}"/>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1751396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7EB96-3C06-413B-B8C2-FB1F3C41494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F585E3A-1018-4BA9-9023-A75F4F1CDF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B2C910D-B91C-42E5-940B-DC282F36420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C7FC0A8-46EF-4CE9-A446-777A39F02D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11AEE89-A739-465A-97C6-354C0F3DF4A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74C84A54-37F1-4A87-B08D-D6F17685EE21}"/>
              </a:ext>
            </a:extLst>
          </p:cNvPr>
          <p:cNvSpPr>
            <a:spLocks noGrp="1"/>
          </p:cNvSpPr>
          <p:nvPr>
            <p:ph type="dt" sz="half" idx="10"/>
          </p:nvPr>
        </p:nvSpPr>
        <p:spPr/>
        <p:txBody>
          <a:bodyPr/>
          <a:lstStyle/>
          <a:p>
            <a:fld id="{78A14326-C232-4443-B09F-425DC96BA3AC}" type="datetime1">
              <a:rPr lang="es-MX" smtClean="0"/>
              <a:t>29/05/2026</a:t>
            </a:fld>
            <a:endParaRPr lang="es-MX"/>
          </a:p>
        </p:txBody>
      </p:sp>
      <p:sp>
        <p:nvSpPr>
          <p:cNvPr id="8" name="Marcador de pie de página 7">
            <a:extLst>
              <a:ext uri="{FF2B5EF4-FFF2-40B4-BE49-F238E27FC236}">
                <a16:creationId xmlns:a16="http://schemas.microsoft.com/office/drawing/2014/main" id="{D2DF68E4-88CB-4D59-919F-AA238B7A833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9725557-5886-418B-8290-728F56D332AC}"/>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402879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220B85-1517-48DF-A4EE-934932904E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1D02049E-1C6E-4323-80B6-60E360128D88}"/>
              </a:ext>
            </a:extLst>
          </p:cNvPr>
          <p:cNvSpPr>
            <a:spLocks noGrp="1"/>
          </p:cNvSpPr>
          <p:nvPr>
            <p:ph type="dt" sz="half" idx="10"/>
          </p:nvPr>
        </p:nvSpPr>
        <p:spPr/>
        <p:txBody>
          <a:bodyPr/>
          <a:lstStyle/>
          <a:p>
            <a:fld id="{B176470E-0E7B-4839-AA68-5598F52E0E0F}" type="datetime1">
              <a:rPr lang="es-MX" smtClean="0"/>
              <a:t>29/05/2026</a:t>
            </a:fld>
            <a:endParaRPr lang="es-MX"/>
          </a:p>
        </p:txBody>
      </p:sp>
      <p:sp>
        <p:nvSpPr>
          <p:cNvPr id="4" name="Marcador de pie de página 3">
            <a:extLst>
              <a:ext uri="{FF2B5EF4-FFF2-40B4-BE49-F238E27FC236}">
                <a16:creationId xmlns:a16="http://schemas.microsoft.com/office/drawing/2014/main" id="{F470B07B-AC58-4320-BACC-0CAC55EA47A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4584E10-CFAF-4EDD-AC7C-0C8C5F58C2D9}"/>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13706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67224C7-B817-4651-AB4D-D292EC99D6DB}"/>
              </a:ext>
            </a:extLst>
          </p:cNvPr>
          <p:cNvSpPr>
            <a:spLocks noGrp="1"/>
          </p:cNvSpPr>
          <p:nvPr>
            <p:ph type="dt" sz="half" idx="10"/>
          </p:nvPr>
        </p:nvSpPr>
        <p:spPr/>
        <p:txBody>
          <a:bodyPr/>
          <a:lstStyle/>
          <a:p>
            <a:fld id="{868BAEED-9A42-4FD6-900F-A3F57CD71EDE}" type="datetime1">
              <a:rPr lang="es-MX" smtClean="0"/>
              <a:t>29/05/2026</a:t>
            </a:fld>
            <a:endParaRPr lang="es-MX"/>
          </a:p>
        </p:txBody>
      </p:sp>
      <p:sp>
        <p:nvSpPr>
          <p:cNvPr id="3" name="Marcador de pie de página 2">
            <a:extLst>
              <a:ext uri="{FF2B5EF4-FFF2-40B4-BE49-F238E27FC236}">
                <a16:creationId xmlns:a16="http://schemas.microsoft.com/office/drawing/2014/main" id="{8EDE64D3-CEFC-4BA3-A7B9-02D35CDE8A4B}"/>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B1C4E34-70F3-410E-8B57-C5BDF2BF9B16}"/>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893971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68884F-9286-424F-A275-7C88C283C2E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793F895-AF99-40A9-AE4F-290F374677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8EE17A2-33A7-4AFD-9EF8-6AEB6BF58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7A4B7E4-E32D-45D5-98F0-406DDB25D286}"/>
              </a:ext>
            </a:extLst>
          </p:cNvPr>
          <p:cNvSpPr>
            <a:spLocks noGrp="1"/>
          </p:cNvSpPr>
          <p:nvPr>
            <p:ph type="dt" sz="half" idx="10"/>
          </p:nvPr>
        </p:nvSpPr>
        <p:spPr/>
        <p:txBody>
          <a:bodyPr/>
          <a:lstStyle/>
          <a:p>
            <a:fld id="{050DFAC2-36EA-4D29-9ECB-13D137AB1B03}" type="datetime1">
              <a:rPr lang="es-MX" smtClean="0"/>
              <a:t>29/05/2026</a:t>
            </a:fld>
            <a:endParaRPr lang="es-MX"/>
          </a:p>
        </p:txBody>
      </p:sp>
      <p:sp>
        <p:nvSpPr>
          <p:cNvPr id="6" name="Marcador de pie de página 5">
            <a:extLst>
              <a:ext uri="{FF2B5EF4-FFF2-40B4-BE49-F238E27FC236}">
                <a16:creationId xmlns:a16="http://schemas.microsoft.com/office/drawing/2014/main" id="{13CAB7DF-4EB9-4B2D-96CA-D474DE12BD9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5A78BE0-9319-45E7-B1DC-5FB6FB4596AF}"/>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666251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499D07-B30E-4347-9AD8-D6E13194C4E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50DF9CD-F954-4976-9E2B-34C3E10D91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66170B2-412B-41A9-AC76-D3A9F34BB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2557E5C-398D-41D2-AA6C-7D43FE1CF214}"/>
              </a:ext>
            </a:extLst>
          </p:cNvPr>
          <p:cNvSpPr>
            <a:spLocks noGrp="1"/>
          </p:cNvSpPr>
          <p:nvPr>
            <p:ph type="dt" sz="half" idx="10"/>
          </p:nvPr>
        </p:nvSpPr>
        <p:spPr/>
        <p:txBody>
          <a:bodyPr/>
          <a:lstStyle/>
          <a:p>
            <a:fld id="{2196BF37-3134-44C9-8FEC-BEC87EF6483B}" type="datetime1">
              <a:rPr lang="es-MX" smtClean="0"/>
              <a:t>29/05/2026</a:t>
            </a:fld>
            <a:endParaRPr lang="es-MX"/>
          </a:p>
        </p:txBody>
      </p:sp>
      <p:sp>
        <p:nvSpPr>
          <p:cNvPr id="6" name="Marcador de pie de página 5">
            <a:extLst>
              <a:ext uri="{FF2B5EF4-FFF2-40B4-BE49-F238E27FC236}">
                <a16:creationId xmlns:a16="http://schemas.microsoft.com/office/drawing/2014/main" id="{FCF14725-394D-4D7C-9193-07CE889DAB7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3C01940-35FE-48FE-BDC4-A7B80DCFCEA8}"/>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2194780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3A6EC-9A6E-471A-A768-A78C138D74C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AA71EEB-CFA0-4FB1-9727-7786662F89E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0E5AB0A-1D6A-406C-B63E-679FA98FC126}"/>
              </a:ext>
            </a:extLst>
          </p:cNvPr>
          <p:cNvSpPr>
            <a:spLocks noGrp="1"/>
          </p:cNvSpPr>
          <p:nvPr>
            <p:ph type="dt" sz="half" idx="10"/>
          </p:nvPr>
        </p:nvSpPr>
        <p:spPr/>
        <p:txBody>
          <a:bodyPr/>
          <a:lstStyle/>
          <a:p>
            <a:fld id="{D2629516-B353-478D-8404-7AEF10EDD90C}" type="datetime1">
              <a:rPr lang="es-MX" smtClean="0"/>
              <a:t>29/05/2026</a:t>
            </a:fld>
            <a:endParaRPr lang="es-MX"/>
          </a:p>
        </p:txBody>
      </p:sp>
      <p:sp>
        <p:nvSpPr>
          <p:cNvPr id="5" name="Marcador de pie de página 4">
            <a:extLst>
              <a:ext uri="{FF2B5EF4-FFF2-40B4-BE49-F238E27FC236}">
                <a16:creationId xmlns:a16="http://schemas.microsoft.com/office/drawing/2014/main" id="{FF89EF68-4F89-4F64-84D8-2DB17D0D6B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FE78FF-69AB-4E6B-B56A-8153E3547753}"/>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1385111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D4E69-4C34-43AB-B7D4-80DA45E658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D2C5B83-287E-42B7-962E-E17615FB03B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1FEB727-9C10-4C1B-9009-F588023A0309}"/>
              </a:ext>
            </a:extLst>
          </p:cNvPr>
          <p:cNvSpPr>
            <a:spLocks noGrp="1"/>
          </p:cNvSpPr>
          <p:nvPr>
            <p:ph type="dt" sz="half" idx="10"/>
          </p:nvPr>
        </p:nvSpPr>
        <p:spPr/>
        <p:txBody>
          <a:bodyPr/>
          <a:lstStyle/>
          <a:p>
            <a:fld id="{5576712B-FE1B-48B9-9BF5-FBAAC316FBB9}" type="datetime1">
              <a:rPr lang="es-MX" smtClean="0"/>
              <a:t>29/05/2026</a:t>
            </a:fld>
            <a:endParaRPr lang="es-MX"/>
          </a:p>
        </p:txBody>
      </p:sp>
      <p:sp>
        <p:nvSpPr>
          <p:cNvPr id="5" name="Marcador de pie de página 4">
            <a:extLst>
              <a:ext uri="{FF2B5EF4-FFF2-40B4-BE49-F238E27FC236}">
                <a16:creationId xmlns:a16="http://schemas.microsoft.com/office/drawing/2014/main" id="{B6A34ADC-CB7F-4CDF-A4DF-09C17C9B2E6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BF241F4-ADFC-4E5C-90CF-7A431D17A1C9}"/>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243448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2BB2432-BCDF-4E9C-9739-5277748281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C7D5FCE-0ED4-46BA-A151-47FEEA7B2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8984E24-6EDC-478C-BF1B-DC159E0B3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F26E43-0158-465C-8D1B-21F99DA0AD23}" type="datetime1">
              <a:rPr lang="es-MX" smtClean="0"/>
              <a:t>29/05/2026</a:t>
            </a:fld>
            <a:endParaRPr lang="es-MX"/>
          </a:p>
        </p:txBody>
      </p:sp>
      <p:sp>
        <p:nvSpPr>
          <p:cNvPr id="5" name="Marcador de pie de página 4">
            <a:extLst>
              <a:ext uri="{FF2B5EF4-FFF2-40B4-BE49-F238E27FC236}">
                <a16:creationId xmlns:a16="http://schemas.microsoft.com/office/drawing/2014/main" id="{C716E9EE-87A7-4128-8350-9CE583E567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A29B963A-F5D9-4BCA-ABE6-173392DD2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A6827-6711-499C-91D6-E14C610205BC}" type="slidenum">
              <a:rPr lang="es-MX" smtClean="0"/>
              <a:t>‹Nº›</a:t>
            </a:fld>
            <a:endParaRPr lang="es-MX"/>
          </a:p>
        </p:txBody>
      </p:sp>
    </p:spTree>
    <p:extLst>
      <p:ext uri="{BB962C8B-B14F-4D97-AF65-F5344CB8AC3E}">
        <p14:creationId xmlns:p14="http://schemas.microsoft.com/office/powerpoint/2010/main" val="431940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watch?v=ELSm-G201L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16ECDED-173A-437A-8808-784EC0B25A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80943" y="393283"/>
            <a:ext cx="1685296" cy="687876"/>
          </a:xfrm>
          <a:prstGeom prst="rect">
            <a:avLst/>
          </a:prstGeom>
        </p:spPr>
      </p:pic>
      <p:pic>
        <p:nvPicPr>
          <p:cNvPr id="5" name="Imagen 4">
            <a:extLst>
              <a:ext uri="{FF2B5EF4-FFF2-40B4-BE49-F238E27FC236}">
                <a16:creationId xmlns:a16="http://schemas.microsoft.com/office/drawing/2014/main" id="{CAE8B960-9F5E-4F9C-8202-3550DEF40497}"/>
              </a:ext>
            </a:extLst>
          </p:cNvPr>
          <p:cNvPicPr>
            <a:picLocks noChangeAspect="1"/>
          </p:cNvPicPr>
          <p:nvPr/>
        </p:nvPicPr>
        <p:blipFill>
          <a:blip r:embed="rId3">
            <a:extLst>
              <a:ext uri="{28A0092B-C50C-407E-A947-70E740481C1C}">
                <a14:useLocalDpi xmlns:a14="http://schemas.microsoft.com/office/drawing/2010/main" val="0"/>
              </a:ext>
            </a:extLst>
          </a:blip>
          <a:srcRect l="65474" t="-1" b="-40163"/>
          <a:stretch/>
        </p:blipFill>
        <p:spPr>
          <a:xfrm>
            <a:off x="5795844" y="302590"/>
            <a:ext cx="1752758" cy="1054163"/>
          </a:xfrm>
          <a:prstGeom prst="rect">
            <a:avLst/>
          </a:prstGeom>
        </p:spPr>
      </p:pic>
      <p:sp>
        <p:nvSpPr>
          <p:cNvPr id="6" name="CuadroTexto 5">
            <a:extLst>
              <a:ext uri="{FF2B5EF4-FFF2-40B4-BE49-F238E27FC236}">
                <a16:creationId xmlns:a16="http://schemas.microsoft.com/office/drawing/2014/main" id="{06BCC375-CD19-4C9D-B94F-EDBD0A1BE61A}"/>
              </a:ext>
            </a:extLst>
          </p:cNvPr>
          <p:cNvSpPr txBox="1"/>
          <p:nvPr/>
        </p:nvSpPr>
        <p:spPr>
          <a:xfrm>
            <a:off x="2933669" y="1312415"/>
            <a:ext cx="7234002" cy="5362174"/>
          </a:xfrm>
          <a:prstGeom prst="rect">
            <a:avLst/>
          </a:prstGeom>
          <a:noFill/>
        </p:spPr>
        <p:txBody>
          <a:bodyPr wrap="square">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Tecnológico Nacional de México</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 </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Aft>
                <a:spcPts val="800"/>
              </a:spcAft>
              <a:buNone/>
            </a:pPr>
            <a:r>
              <a:rPr lang="es-MX" sz="1200" dirty="0">
                <a:solidFill>
                  <a:srgbClr val="000000"/>
                </a:solidFill>
                <a:latin typeface="Arial" panose="020B0604020202020204" pitchFamily="34" charset="0"/>
                <a:ea typeface="Arial" panose="020B0604020202020204" pitchFamily="34" charset="0"/>
                <a:cs typeface="Arial" panose="020B0604020202020204" pitchFamily="34" charset="0"/>
              </a:rPr>
              <a:t>Reporte de práctica “Avance de proyecto Solicita-</a:t>
            </a:r>
            <a:r>
              <a:rPr lang="es-MX" sz="1200" dirty="0" err="1">
                <a:solidFill>
                  <a:srgbClr val="000000"/>
                </a:solidFill>
                <a:latin typeface="Arial" panose="020B0604020202020204" pitchFamily="34" charset="0"/>
                <a:ea typeface="Arial" panose="020B0604020202020204" pitchFamily="34" charset="0"/>
                <a:cs typeface="Arial" panose="020B0604020202020204" pitchFamily="34" charset="0"/>
              </a:rPr>
              <a:t>Tec</a:t>
            </a:r>
            <a:r>
              <a:rPr lang="es-MX" sz="1200" dirty="0">
                <a:solidFill>
                  <a:srgbClr val="000000"/>
                </a:solidFill>
                <a:latin typeface="Arial" panose="020B0604020202020204" pitchFamily="34" charset="0"/>
                <a:ea typeface="Arial" panose="020B0604020202020204" pitchFamily="34" charset="0"/>
                <a:cs typeface="Arial" panose="020B0604020202020204" pitchFamily="34" charset="0"/>
              </a:rPr>
              <a:t>”</a:t>
            </a:r>
          </a:p>
          <a:p>
            <a:pPr algn="ctr">
              <a:lnSpc>
                <a:spcPct val="150000"/>
              </a:lnSpc>
              <a:spcAft>
                <a:spcPts val="800"/>
              </a:spcAft>
              <a:buNone/>
            </a:pPr>
            <a:r>
              <a:rPr lang="es-ES" sz="1200" dirty="0">
                <a:solidFill>
                  <a:srgbClr val="000000"/>
                </a:solidFill>
                <a:latin typeface="Arial" panose="020B0604020202020204" pitchFamily="34" charset="0"/>
                <a:ea typeface="Aptos" panose="020B0004020202020204" pitchFamily="34" charset="0"/>
                <a:cs typeface="Arial" panose="020B0604020202020204" pitchFamily="34" charset="0"/>
              </a:rPr>
              <a:t>Programación web</a:t>
            </a:r>
          </a:p>
          <a:p>
            <a:pPr algn="ctr">
              <a:lnSpc>
                <a:spcPct val="150000"/>
              </a:lnSpc>
              <a:spcAft>
                <a:spcPts val="800"/>
              </a:spcAft>
              <a:buNone/>
            </a:pPr>
            <a:endParaRPr lang="es-ES" sz="1200" dirty="0">
              <a:solidFill>
                <a:srgbClr val="000000"/>
              </a:solidFill>
              <a:latin typeface="Arial" panose="020B0604020202020204" pitchFamily="34" charset="0"/>
              <a:ea typeface="Aptos" panose="020B0004020202020204" pitchFamily="34" charset="0"/>
              <a:cs typeface="Arial" panose="020B0604020202020204" pitchFamily="34" charset="0"/>
            </a:endParaRPr>
          </a:p>
          <a:p>
            <a:pPr algn="ctr">
              <a:lnSpc>
                <a:spcPct val="150000"/>
              </a:lnSpc>
              <a:spcAft>
                <a:spcPts val="800"/>
              </a:spcAft>
              <a:buNone/>
            </a:pPr>
            <a:r>
              <a:rPr lang="es-ES" sz="1200" dirty="0">
                <a:solidFill>
                  <a:srgbClr val="000000"/>
                </a:solidFill>
                <a:latin typeface="Arial" panose="020B0604020202020204" pitchFamily="34" charset="0"/>
                <a:ea typeface="Arial" panose="020B0604020202020204" pitchFamily="34" charset="0"/>
                <a:cs typeface="Arial" panose="020B0604020202020204" pitchFamily="34" charset="0"/>
              </a:rPr>
              <a:t>Alumna</a:t>
            </a: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 Gleysi Yoselin Escobedo López</a:t>
            </a: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8</a:t>
            </a:r>
            <a:endParaRPr lang="es-MX" sz="1200" dirty="0">
              <a:latin typeface="Arial" panose="020B0604020202020204" pitchFamily="34" charset="0"/>
              <a:ea typeface="Arial" panose="020B0604020202020204" pitchFamily="34" charset="0"/>
              <a:cs typeface="Arial" panose="020B0604020202020204" pitchFamily="34" charset="0"/>
            </a:endParaRP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Número de control: 22270456</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Docente: Ing. </a:t>
            </a:r>
            <a:r>
              <a:rPr lang="es-ES" sz="1200" dirty="0">
                <a:latin typeface="Arial" panose="020B0604020202020204" pitchFamily="34" charset="0"/>
                <a:cs typeface="Arial" panose="020B0604020202020204" pitchFamily="34" charset="0"/>
              </a:rPr>
              <a:t>Francisco Javier Velázquez Mingo</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 19 de abril de 2026</a:t>
            </a:r>
            <a:endParaRPr lang="es-MX" sz="1200" dirty="0">
              <a:effectLst/>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5F23FFAD-5B80-44B2-8B33-9039BAA732F8}"/>
              </a:ext>
            </a:extLst>
          </p:cNvPr>
          <p:cNvPicPr>
            <a:picLocks noChangeAspect="1"/>
          </p:cNvPicPr>
          <p:nvPr/>
        </p:nvPicPr>
        <p:blipFill>
          <a:blip r:embed="rId3">
            <a:extLst>
              <a:ext uri="{28A0092B-C50C-407E-A947-70E740481C1C}">
                <a14:useLocalDpi xmlns:a14="http://schemas.microsoft.com/office/drawing/2010/main" val="0"/>
              </a:ext>
            </a:extLst>
          </a:blip>
          <a:srcRect r="37787" b="6206"/>
          <a:stretch/>
        </p:blipFill>
        <p:spPr>
          <a:xfrm>
            <a:off x="2087811" y="129623"/>
            <a:ext cx="2599700" cy="580650"/>
          </a:xfrm>
          <a:prstGeom prst="rect">
            <a:avLst/>
          </a:prstGeom>
        </p:spPr>
      </p:pic>
      <p:sp>
        <p:nvSpPr>
          <p:cNvPr id="8" name="Marcador de número de diapositiva 7">
            <a:extLst>
              <a:ext uri="{FF2B5EF4-FFF2-40B4-BE49-F238E27FC236}">
                <a16:creationId xmlns:a16="http://schemas.microsoft.com/office/drawing/2014/main" id="{BDB29249-287E-40BF-991A-C0F5C4DAB8CF}"/>
              </a:ext>
            </a:extLst>
          </p:cNvPr>
          <p:cNvSpPr>
            <a:spLocks noGrp="1"/>
          </p:cNvSpPr>
          <p:nvPr>
            <p:ph type="sldNum" sz="quarter" idx="12"/>
          </p:nvPr>
        </p:nvSpPr>
        <p:spPr/>
        <p:txBody>
          <a:bodyPr/>
          <a:lstStyle/>
          <a:p>
            <a:fld id="{EC4A6827-6711-499C-91D6-E14C610205BC}" type="slidenum">
              <a:rPr lang="es-MX" smtClean="0"/>
              <a:t>1</a:t>
            </a:fld>
            <a:endParaRPr lang="es-MX"/>
          </a:p>
        </p:txBody>
      </p:sp>
    </p:spTree>
    <p:extLst>
      <p:ext uri="{BB962C8B-B14F-4D97-AF65-F5344CB8AC3E}">
        <p14:creationId xmlns:p14="http://schemas.microsoft.com/office/powerpoint/2010/main" val="2117506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E05B76-8C46-41F1-8E3D-E9CCAACF8FAF}"/>
              </a:ext>
            </a:extLst>
          </p:cNvPr>
          <p:cNvSpPr txBox="1"/>
          <p:nvPr/>
        </p:nvSpPr>
        <p:spPr>
          <a:xfrm>
            <a:off x="2210909" y="777103"/>
            <a:ext cx="9305144" cy="7402539"/>
          </a:xfrm>
          <a:prstGeom prst="rect">
            <a:avLst/>
          </a:prstGeom>
          <a:noFill/>
        </p:spPr>
        <p:txBody>
          <a:bodyPr wrap="square">
            <a:spAutoFit/>
          </a:bodyPr>
          <a:lstStyle/>
          <a:p>
            <a:pPr algn="just">
              <a:lnSpc>
                <a:spcPct val="150000"/>
              </a:lnSpc>
              <a:spcAft>
                <a:spcPts val="800"/>
              </a:spcAft>
              <a:buNone/>
            </a:pPr>
            <a:r>
              <a:rPr lang="es-ES" sz="1600" b="1" dirty="0">
                <a:effectLst/>
                <a:latin typeface="Arial" panose="020B0604020202020204" pitchFamily="34" charset="0"/>
                <a:ea typeface="Aptos" panose="020B0004020202020204" pitchFamily="34" charset="0"/>
                <a:cs typeface="Arial" panose="020B0604020202020204" pitchFamily="34" charset="0"/>
              </a:rPr>
              <a:t>Índice</a:t>
            </a:r>
            <a:endParaRPr lang="es-MX" sz="1600"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Introducción……………………………………………………………………………….3</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Justificación…………………………………………………………………………….…4</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latin typeface="Arial" panose="020B0604020202020204" pitchFamily="34" charset="0"/>
                <a:ea typeface="Aptos" panose="020B0004020202020204" pitchFamily="34" charset="0"/>
                <a:cs typeface="Arial" panose="020B0604020202020204" pitchFamily="34" charset="0"/>
              </a:rPr>
              <a:t>Creación del proyecto…………….………………………….…….……...</a:t>
            </a:r>
            <a:r>
              <a:rPr lang="es-ES" sz="1600" dirty="0">
                <a:effectLst/>
                <a:latin typeface="Arial" panose="020B0604020202020204" pitchFamily="34" charset="0"/>
                <a:ea typeface="Aptos" panose="020B0004020202020204" pitchFamily="34" charset="0"/>
                <a:cs typeface="Arial" panose="020B0604020202020204" pitchFamily="34" charset="0"/>
              </a:rPr>
              <a:t>…………...</a:t>
            </a:r>
            <a:r>
              <a:rPr lang="es-ES" sz="1600" dirty="0">
                <a:latin typeface="Arial" panose="020B0604020202020204" pitchFamily="34" charset="0"/>
                <a:ea typeface="Aptos" panose="020B0004020202020204" pitchFamily="34" charset="0"/>
                <a:cs typeface="Arial" panose="020B0604020202020204" pitchFamily="34" charset="0"/>
              </a:rPr>
              <a:t>..5</a:t>
            </a: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Bienvenida………..……………..………....……………………...….…………………..6-8</a:t>
            </a: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Selección de perfil..………….………....……………………...….………………….….9-10</a:t>
            </a:r>
          </a:p>
          <a:p>
            <a:pPr algn="just">
              <a:lnSpc>
                <a:spcPct val="150000"/>
              </a:lnSpc>
              <a:spcAft>
                <a:spcPts val="800"/>
              </a:spcAft>
              <a:buNone/>
            </a:pPr>
            <a:r>
              <a:rPr lang="es-ES" sz="1600" dirty="0" err="1">
                <a:latin typeface="Arial" panose="020B0604020202020204" pitchFamily="34" charset="0"/>
                <a:ea typeface="Aptos" panose="020B0004020202020204" pitchFamily="34" charset="0"/>
                <a:cs typeface="Arial" panose="020B0604020202020204" pitchFamily="34" charset="0"/>
              </a:rPr>
              <a:t>Login</a:t>
            </a:r>
            <a:r>
              <a:rPr lang="es-ES" sz="1600" dirty="0">
                <a:latin typeface="Arial" panose="020B0604020202020204" pitchFamily="34" charset="0"/>
                <a:ea typeface="Aptos" panose="020B0004020202020204" pitchFamily="34" charset="0"/>
                <a:cs typeface="Arial" panose="020B0604020202020204" pitchFamily="34" charset="0"/>
              </a:rPr>
              <a:t>………………………………………………..…………….…….……...</a:t>
            </a:r>
            <a:r>
              <a:rPr lang="es-ES" sz="1600" dirty="0">
                <a:effectLst/>
                <a:latin typeface="Arial" panose="020B0604020202020204" pitchFamily="34" charset="0"/>
                <a:ea typeface="Aptos" panose="020B0004020202020204" pitchFamily="34" charset="0"/>
                <a:cs typeface="Arial" panose="020B0604020202020204" pitchFamily="34" charset="0"/>
              </a:rPr>
              <a:t>…………</a:t>
            </a:r>
            <a:r>
              <a:rPr lang="es-ES" sz="1600" dirty="0">
                <a:latin typeface="Arial" panose="020B0604020202020204" pitchFamily="34" charset="0"/>
                <a:ea typeface="Aptos" panose="020B0004020202020204" pitchFamily="34" charset="0"/>
                <a:cs typeface="Arial" panose="020B0604020202020204" pitchFamily="34" charset="0"/>
              </a:rPr>
              <a:t>.11-13</a:t>
            </a: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Alumno……………………………………………..…………….…….……...</a:t>
            </a:r>
            <a:r>
              <a:rPr lang="es-ES" sz="1600" dirty="0">
                <a:effectLst/>
                <a:latin typeface="Arial" panose="020B0604020202020204" pitchFamily="34" charset="0"/>
                <a:ea typeface="Aptos" panose="020B0004020202020204" pitchFamily="34" charset="0"/>
                <a:cs typeface="Arial" panose="020B0604020202020204" pitchFamily="34" charset="0"/>
              </a:rPr>
              <a:t>…………</a:t>
            </a:r>
            <a:r>
              <a:rPr lang="es-ES" sz="1600" dirty="0">
                <a:latin typeface="Arial" panose="020B0604020202020204" pitchFamily="34" charset="0"/>
                <a:ea typeface="Aptos" panose="020B0004020202020204" pitchFamily="34" charset="0"/>
                <a:cs typeface="Arial" panose="020B0604020202020204" pitchFamily="34" charset="0"/>
              </a:rPr>
              <a:t>.14-17</a:t>
            </a: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Conclusión…………….…………………………..…………….…….……...</a:t>
            </a:r>
            <a:r>
              <a:rPr lang="es-ES" sz="1600" dirty="0">
                <a:effectLst/>
                <a:latin typeface="Arial" panose="020B0604020202020204" pitchFamily="34" charset="0"/>
                <a:ea typeface="Aptos" panose="020B0004020202020204" pitchFamily="34" charset="0"/>
                <a:cs typeface="Arial" panose="020B0604020202020204" pitchFamily="34" charset="0"/>
              </a:rPr>
              <a:t>…………</a:t>
            </a:r>
            <a:r>
              <a:rPr lang="es-ES" sz="1600" dirty="0">
                <a:latin typeface="Arial" panose="020B0604020202020204" pitchFamily="34" charset="0"/>
                <a:ea typeface="Aptos" panose="020B0004020202020204" pitchFamily="34" charset="0"/>
                <a:cs typeface="Arial" panose="020B0604020202020204" pitchFamily="34" charset="0"/>
              </a:rPr>
              <a:t>..18</a:t>
            </a: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Fuentes consultadas….………..………....……………………...….…………………..19</a:t>
            </a:r>
          </a:p>
          <a:p>
            <a:pPr algn="just">
              <a:lnSpc>
                <a:spcPct val="150000"/>
              </a:lnSpc>
              <a:spcAft>
                <a:spcPts val="800"/>
              </a:spcAft>
            </a:pPr>
            <a:endParaRPr lang="es-ES" sz="1600" dirty="0">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endParaRPr lang="es-ES" sz="1600" dirty="0">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endParaRPr lang="es-ES" sz="1400" dirty="0">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endParaRPr lang="es-ES" sz="1400" dirty="0">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endParaRPr lang="es-ES"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D0658A4E-72AE-4243-BE78-EB0ECDB469DE}"/>
              </a:ext>
            </a:extLst>
          </p:cNvPr>
          <p:cNvSpPr>
            <a:spLocks noGrp="1"/>
          </p:cNvSpPr>
          <p:nvPr>
            <p:ph type="sldNum" sz="quarter" idx="12"/>
          </p:nvPr>
        </p:nvSpPr>
        <p:spPr/>
        <p:txBody>
          <a:bodyPr/>
          <a:lstStyle/>
          <a:p>
            <a:fld id="{EC4A6827-6711-499C-91D6-E14C610205BC}" type="slidenum">
              <a:rPr lang="es-MX" smtClean="0"/>
              <a:t>2</a:t>
            </a:fld>
            <a:endParaRPr lang="es-MX"/>
          </a:p>
        </p:txBody>
      </p:sp>
    </p:spTree>
    <p:extLst>
      <p:ext uri="{BB962C8B-B14F-4D97-AF65-F5344CB8AC3E}">
        <p14:creationId xmlns:p14="http://schemas.microsoft.com/office/powerpoint/2010/main" val="3381573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3</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1578009" y="1140937"/>
            <a:ext cx="9305144" cy="3103927"/>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Introducción</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Como parte de la asignatura Programación web, se propuso el desarrollo de un proyecto integrador con el objetivo de aplicar los conocimientos adquiridos en clase, en este caso se optó por la creación de una aplicación web para la gestión de solicitudes de documentos en el Instituto Tecnológico de Frontera Comalapa, el proyecto representa una solución a una necesidad real dentro de la Institución. En este reporte se presenta el primer avance, se han implementado conceptos clave como la arquitectura basada en componentes, el manejo de rutas y las interfaces de usuario, utilizando el </a:t>
            </a:r>
            <a:r>
              <a:rPr lang="es-MX" sz="1600" dirty="0" err="1">
                <a:effectLst/>
                <a:latin typeface="Arial" panose="020B0604020202020204" pitchFamily="34" charset="0"/>
                <a:ea typeface="Aptos" panose="020B0004020202020204" pitchFamily="34" charset="0"/>
                <a:cs typeface="Arial" panose="020B0604020202020204" pitchFamily="34" charset="0"/>
              </a:rPr>
              <a:t>framework</a:t>
            </a:r>
            <a:r>
              <a:rPr lang="es-MX" sz="1600" dirty="0">
                <a:effectLst/>
                <a:latin typeface="Arial" panose="020B0604020202020204" pitchFamily="34" charset="0"/>
                <a:ea typeface="Aptos" panose="020B0004020202020204" pitchFamily="34" charset="0"/>
                <a:cs typeface="Arial" panose="020B0604020202020204" pitchFamily="34" charset="0"/>
              </a:rPr>
              <a:t> Angular. </a:t>
            </a:r>
          </a:p>
        </p:txBody>
      </p:sp>
    </p:spTree>
    <p:extLst>
      <p:ext uri="{BB962C8B-B14F-4D97-AF65-F5344CB8AC3E}">
        <p14:creationId xmlns:p14="http://schemas.microsoft.com/office/powerpoint/2010/main" val="5726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4</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1578009" y="1140937"/>
            <a:ext cx="9305144" cy="3103927"/>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Justificación</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La implementación de una aplicación web para la solicitud de documentos responde a la necesidad de agilizar los procesos administrativos dentro de la institución. Actualmente este tipo de trámites requiere que el estudiante esté presencialmente, lo que genera pérdida de tiempo, y saturación del personal administrativo. Para el desarrollo de este proyecto se está haciendo uso de tecnologías como Angular, para la creación de interfaces mediante componentes, mientras que herramientas como HTML, CSS y </a:t>
            </a:r>
            <a:r>
              <a:rPr lang="es-MX" sz="1600" dirty="0" err="1">
                <a:effectLst/>
                <a:latin typeface="Arial" panose="020B0604020202020204" pitchFamily="34" charset="0"/>
                <a:ea typeface="Aptos" panose="020B0004020202020204" pitchFamily="34" charset="0"/>
                <a:cs typeface="Arial" panose="020B0604020202020204" pitchFamily="34" charset="0"/>
              </a:rPr>
              <a:t>TypeScript</a:t>
            </a:r>
            <a:r>
              <a:rPr lang="es-MX" sz="1600" dirty="0">
                <a:effectLst/>
                <a:latin typeface="Arial" panose="020B0604020202020204" pitchFamily="34" charset="0"/>
                <a:ea typeface="Aptos" panose="020B0004020202020204" pitchFamily="34" charset="0"/>
                <a:cs typeface="Arial" panose="020B0604020202020204" pitchFamily="34" charset="0"/>
              </a:rPr>
              <a:t> permiten estructurar, diseñar y programar el comportamiento de la aplicación, en los </a:t>
            </a:r>
            <a:r>
              <a:rPr lang="es-MX" sz="1600" dirty="0">
                <a:latin typeface="Arial" panose="020B0604020202020204" pitchFamily="34" charset="0"/>
                <a:ea typeface="Aptos" panose="020B0004020202020204" pitchFamily="34" charset="0"/>
                <a:cs typeface="Arial" panose="020B0604020202020204" pitchFamily="34" charset="0"/>
              </a:rPr>
              <a:t>avances posteriores </a:t>
            </a:r>
            <a:r>
              <a:rPr lang="es-MX" sz="1600" dirty="0">
                <a:effectLst/>
                <a:latin typeface="Arial" panose="020B0604020202020204" pitchFamily="34" charset="0"/>
                <a:ea typeface="Aptos" panose="020B0004020202020204" pitchFamily="34" charset="0"/>
                <a:cs typeface="Arial" panose="020B0604020202020204" pitchFamily="34" charset="0"/>
              </a:rPr>
              <a:t>se utilizará </a:t>
            </a:r>
            <a:r>
              <a:rPr lang="es-MX" sz="1600" dirty="0" err="1">
                <a:effectLst/>
                <a:latin typeface="Arial" panose="020B0604020202020204" pitchFamily="34" charset="0"/>
                <a:ea typeface="Aptos" panose="020B0004020202020204" pitchFamily="34" charset="0"/>
                <a:cs typeface="Arial" panose="020B0604020202020204" pitchFamily="34" charset="0"/>
              </a:rPr>
              <a:t>Supabase</a:t>
            </a:r>
            <a:r>
              <a:rPr lang="es-MX" sz="1600" dirty="0">
                <a:effectLst/>
                <a:latin typeface="Arial" panose="020B0604020202020204" pitchFamily="34" charset="0"/>
                <a:ea typeface="Aptos" panose="020B0004020202020204" pitchFamily="34" charset="0"/>
                <a:cs typeface="Arial" panose="020B0604020202020204" pitchFamily="34" charset="0"/>
              </a:rPr>
              <a:t> </a:t>
            </a:r>
            <a:r>
              <a:rPr lang="es-MX" sz="1600" dirty="0">
                <a:latin typeface="Arial" panose="020B0604020202020204" pitchFamily="34" charset="0"/>
                <a:ea typeface="Aptos" panose="020B0004020202020204" pitchFamily="34" charset="0"/>
                <a:cs typeface="Arial" panose="020B0604020202020204" pitchFamily="34" charset="0"/>
              </a:rPr>
              <a:t>para </a:t>
            </a:r>
            <a:r>
              <a:rPr lang="es-MX" sz="1600" dirty="0" err="1">
                <a:latin typeface="Arial" panose="020B0604020202020204" pitchFamily="34" charset="0"/>
                <a:ea typeface="Aptos" panose="020B0004020202020204" pitchFamily="34" charset="0"/>
                <a:cs typeface="Arial" panose="020B0604020202020204" pitchFamily="34" charset="0"/>
              </a:rPr>
              <a:t>elbackend</a:t>
            </a:r>
            <a:r>
              <a:rPr lang="es-MX" sz="1600" dirty="0">
                <a:latin typeface="Arial" panose="020B0604020202020204" pitchFamily="34" charset="0"/>
                <a:ea typeface="Aptos" panose="020B0004020202020204" pitchFamily="34" charset="0"/>
                <a:cs typeface="Arial" panose="020B0604020202020204" pitchFamily="34" charset="0"/>
              </a:rPr>
              <a:t> y base de datos,</a:t>
            </a: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188826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5</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620067" y="1309015"/>
            <a:ext cx="5925877" cy="3411703"/>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Creación del proyecto</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1.Se creó una carpeta principal donde se almacenaría el proyecto de la página web. Además, se abrió visual </a:t>
            </a:r>
            <a:r>
              <a:rPr lang="es-MX" sz="1600" dirty="0" err="1">
                <a:effectLst/>
                <a:latin typeface="Arial" panose="020B0604020202020204" pitchFamily="34" charset="0"/>
                <a:ea typeface="Aptos" panose="020B0004020202020204" pitchFamily="34" charset="0"/>
                <a:cs typeface="Arial" panose="020B0604020202020204" pitchFamily="34" charset="0"/>
              </a:rPr>
              <a:t>studio</a:t>
            </a:r>
            <a:r>
              <a:rPr lang="es-MX" sz="1600" dirty="0">
                <a:effectLst/>
                <a:latin typeface="Arial" panose="020B0604020202020204" pitchFamily="34" charset="0"/>
                <a:ea typeface="Aptos" panose="020B0004020202020204" pitchFamily="34" charset="0"/>
                <a:cs typeface="Arial" panose="020B0604020202020204" pitchFamily="34" charset="0"/>
              </a:rPr>
              <a:t> parara crear el proyecto y trabajar usando Angular.</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           </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2.Dentro de la consola de Visual Studio </a:t>
            </a:r>
            <a:r>
              <a:rPr lang="es-MX" sz="1600" dirty="0" err="1">
                <a:effectLst/>
                <a:latin typeface="Arial" panose="020B0604020202020204" pitchFamily="34" charset="0"/>
                <a:ea typeface="Aptos" panose="020B0004020202020204" pitchFamily="34" charset="0"/>
                <a:cs typeface="Arial" panose="020B0604020202020204" pitchFamily="34" charset="0"/>
              </a:rPr>
              <a:t>Code</a:t>
            </a:r>
            <a:r>
              <a:rPr lang="es-MX" sz="1600" dirty="0">
                <a:effectLst/>
                <a:latin typeface="Arial" panose="020B0604020202020204" pitchFamily="34" charset="0"/>
                <a:ea typeface="Aptos" panose="020B0004020202020204" pitchFamily="34" charset="0"/>
                <a:cs typeface="Arial" panose="020B0604020202020204" pitchFamily="34" charset="0"/>
              </a:rPr>
              <a:t> se creo el proyecto en Angular.</a:t>
            </a:r>
          </a:p>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 </a:t>
            </a: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7BC56304-DEC6-4639-A3B6-242CA77D7AE5}"/>
              </a:ext>
            </a:extLst>
          </p:cNvPr>
          <p:cNvPicPr/>
          <p:nvPr/>
        </p:nvPicPr>
        <p:blipFill rotWithShape="1">
          <a:blip r:embed="rId2" cstate="print">
            <a:extLst>
              <a:ext uri="{28A0092B-C50C-407E-A947-70E740481C1C}">
                <a14:useLocalDpi xmlns:a14="http://schemas.microsoft.com/office/drawing/2010/main" val="0"/>
              </a:ext>
            </a:extLst>
          </a:blip>
          <a:srcRect r="13323"/>
          <a:stretch/>
        </p:blipFill>
        <p:spPr bwMode="auto">
          <a:xfrm>
            <a:off x="6915060" y="490412"/>
            <a:ext cx="4287610" cy="2781935"/>
          </a:xfrm>
          <a:prstGeom prst="rect">
            <a:avLst/>
          </a:prstGeom>
          <a:noFill/>
          <a:ln>
            <a:noFill/>
          </a:ln>
        </p:spPr>
      </p:pic>
      <p:pic>
        <p:nvPicPr>
          <p:cNvPr id="8" name="Imagen 7">
            <a:extLst>
              <a:ext uri="{FF2B5EF4-FFF2-40B4-BE49-F238E27FC236}">
                <a16:creationId xmlns:a16="http://schemas.microsoft.com/office/drawing/2014/main" id="{FF8D6972-B0EF-40B5-A931-3401108D13F2}"/>
              </a:ext>
            </a:extLst>
          </p:cNvPr>
          <p:cNvPicPr/>
          <p:nvPr/>
        </p:nvPicPr>
        <p:blipFill rotWithShape="1">
          <a:blip r:embed="rId3" cstate="print">
            <a:extLst>
              <a:ext uri="{28A0092B-C50C-407E-A947-70E740481C1C}">
                <a14:useLocalDpi xmlns:a14="http://schemas.microsoft.com/office/drawing/2010/main" val="0"/>
              </a:ext>
            </a:extLst>
          </a:blip>
          <a:srcRect l="6461" r="11744" b="20072"/>
          <a:stretch/>
        </p:blipFill>
        <p:spPr bwMode="auto">
          <a:xfrm>
            <a:off x="6763930" y="3459608"/>
            <a:ext cx="4589870" cy="25222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7065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6</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556033" y="1959110"/>
            <a:ext cx="4647979" cy="2939779"/>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Bienvenida</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1.Primero se creó el componente usando CLI de Angular, de esta manera se generaron los archivos necesarios.</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2.En el archivo </a:t>
            </a:r>
            <a:r>
              <a:rPr lang="es-MX" sz="1600" dirty="0" err="1">
                <a:effectLst/>
                <a:latin typeface="Arial" panose="020B0604020202020204" pitchFamily="34" charset="0"/>
                <a:ea typeface="Aptos" panose="020B0004020202020204" pitchFamily="34" charset="0"/>
                <a:cs typeface="Arial" panose="020B0604020202020204" pitchFamily="34" charset="0"/>
              </a:rPr>
              <a:t>app.routes</a:t>
            </a:r>
            <a:r>
              <a:rPr lang="es-MX" sz="1600" dirty="0">
                <a:effectLst/>
                <a:latin typeface="Arial" panose="020B0604020202020204" pitchFamily="34" charset="0"/>
                <a:ea typeface="Aptos" panose="020B0004020202020204" pitchFamily="34" charset="0"/>
                <a:cs typeface="Arial" panose="020B0604020202020204" pitchFamily="34" charset="0"/>
              </a:rPr>
              <a:t> se añadieron las rutas correspondientes para importar las pantallas.</a:t>
            </a:r>
          </a:p>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 </a:t>
            </a: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127A920C-93D5-4A0A-97FC-4197B2057C39}"/>
              </a:ext>
            </a:extLst>
          </p:cNvPr>
          <p:cNvPicPr/>
          <p:nvPr/>
        </p:nvPicPr>
        <p:blipFill>
          <a:blip r:embed="rId2"/>
          <a:stretch>
            <a:fillRect/>
          </a:stretch>
        </p:blipFill>
        <p:spPr>
          <a:xfrm>
            <a:off x="5674640" y="3082178"/>
            <a:ext cx="5419296" cy="3274172"/>
          </a:xfrm>
          <a:prstGeom prst="rect">
            <a:avLst/>
          </a:prstGeom>
        </p:spPr>
      </p:pic>
      <p:pic>
        <p:nvPicPr>
          <p:cNvPr id="5" name="Imagen 4">
            <a:extLst>
              <a:ext uri="{FF2B5EF4-FFF2-40B4-BE49-F238E27FC236}">
                <a16:creationId xmlns:a16="http://schemas.microsoft.com/office/drawing/2014/main" id="{70EC38A5-9477-4559-B645-716FA69CB38F}"/>
              </a:ext>
            </a:extLst>
          </p:cNvPr>
          <p:cNvPicPr/>
          <p:nvPr/>
        </p:nvPicPr>
        <p:blipFill rotWithShape="1">
          <a:blip r:embed="rId3" cstate="print">
            <a:extLst>
              <a:ext uri="{28A0092B-C50C-407E-A947-70E740481C1C}">
                <a14:useLocalDpi xmlns:a14="http://schemas.microsoft.com/office/drawing/2010/main" val="0"/>
              </a:ext>
            </a:extLst>
          </a:blip>
          <a:srcRect b="32561"/>
          <a:stretch/>
        </p:blipFill>
        <p:spPr bwMode="auto">
          <a:xfrm>
            <a:off x="5481806" y="589168"/>
            <a:ext cx="5612130" cy="212788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23817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7</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664210" y="1035779"/>
            <a:ext cx="4769003" cy="4786439"/>
          </a:xfrm>
          <a:prstGeom prst="rect">
            <a:avLst/>
          </a:prstGeom>
          <a:noFill/>
        </p:spPr>
        <p:txBody>
          <a:bodyPr wrap="square">
            <a:spAutoFit/>
          </a:bodyPr>
          <a:lstStyle/>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3.En el </a:t>
            </a:r>
            <a:r>
              <a:rPr lang="es-MX" sz="1600" dirty="0" err="1">
                <a:effectLst/>
                <a:latin typeface="Arial" panose="020B0604020202020204" pitchFamily="34" charset="0"/>
                <a:ea typeface="Aptos" panose="020B0004020202020204" pitchFamily="34" charset="0"/>
                <a:cs typeface="Arial" panose="020B0604020202020204" pitchFamily="34" charset="0"/>
              </a:rPr>
              <a:t>html</a:t>
            </a:r>
            <a:r>
              <a:rPr lang="es-MX" sz="1600" dirty="0">
                <a:effectLst/>
                <a:latin typeface="Arial" panose="020B0604020202020204" pitchFamily="34" charset="0"/>
                <a:ea typeface="Aptos" panose="020B0004020202020204" pitchFamily="34" charset="0"/>
                <a:cs typeface="Arial" panose="020B0604020202020204" pitchFamily="34" charset="0"/>
              </a:rPr>
              <a:t> se definió la estructura que llevaría esta pantalla, en este caso el contenedor almacena una imagen del logo de la Institución para mostrar en pantalla.</a:t>
            </a:r>
          </a:p>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4. La imagen utilizada se almacenó en la carpeta </a:t>
            </a:r>
            <a:r>
              <a:rPr lang="es-MX" sz="1600" dirty="0" err="1">
                <a:latin typeface="Arial" panose="020B0604020202020204" pitchFamily="34" charset="0"/>
                <a:ea typeface="Aptos" panose="020B0004020202020204" pitchFamily="34" charset="0"/>
                <a:cs typeface="Arial" panose="020B0604020202020204" pitchFamily="34" charset="0"/>
              </a:rPr>
              <a:t>public</a:t>
            </a:r>
            <a:r>
              <a:rPr lang="es-MX" sz="1600" dirty="0">
                <a:latin typeface="Arial" panose="020B0604020202020204" pitchFamily="34" charset="0"/>
                <a:ea typeface="Aptos" panose="020B0004020202020204" pitchFamily="34" charset="0"/>
                <a:cs typeface="Arial" panose="020B0604020202020204" pitchFamily="34" charset="0"/>
              </a:rPr>
              <a:t> dentro del proyecto, de esta manera se puede utilizar solamente especificando el nombre de la imagen.</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5.</a:t>
            </a:r>
            <a:r>
              <a:rPr lang="es-MX" sz="1600" dirty="0">
                <a:effectLst/>
                <a:latin typeface="Arial" panose="020B0604020202020204" pitchFamily="34" charset="0"/>
                <a:ea typeface="Aptos" panose="020B0004020202020204" pitchFamily="34" charset="0"/>
                <a:cs typeface="Arial" panose="020B0604020202020204" pitchFamily="34" charset="0"/>
              </a:rPr>
              <a:t>.Se agregaron estilos con CSS utilizando colores representativos del Instituto Tecnológico de Frontera Comalapa.</a:t>
            </a: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AA9B0A9B-1365-4B5C-9D29-159300A54B82}"/>
              </a:ext>
            </a:extLst>
          </p:cNvPr>
          <p:cNvPicPr/>
          <p:nvPr/>
        </p:nvPicPr>
        <p:blipFill>
          <a:blip r:embed="rId2"/>
          <a:stretch>
            <a:fillRect/>
          </a:stretch>
        </p:blipFill>
        <p:spPr>
          <a:xfrm>
            <a:off x="6096000" y="363219"/>
            <a:ext cx="5431790" cy="3065780"/>
          </a:xfrm>
          <a:prstGeom prst="rect">
            <a:avLst/>
          </a:prstGeom>
        </p:spPr>
      </p:pic>
      <p:pic>
        <p:nvPicPr>
          <p:cNvPr id="8" name="Imagen 7">
            <a:extLst>
              <a:ext uri="{FF2B5EF4-FFF2-40B4-BE49-F238E27FC236}">
                <a16:creationId xmlns:a16="http://schemas.microsoft.com/office/drawing/2014/main" id="{07ED1D1E-2AE0-4A3A-BFFD-21B57B2A9038}"/>
              </a:ext>
            </a:extLst>
          </p:cNvPr>
          <p:cNvPicPr/>
          <p:nvPr/>
        </p:nvPicPr>
        <p:blipFill>
          <a:blip r:embed="rId3"/>
          <a:stretch>
            <a:fillRect/>
          </a:stretch>
        </p:blipFill>
        <p:spPr>
          <a:xfrm>
            <a:off x="7207623" y="3686693"/>
            <a:ext cx="3232355" cy="2691131"/>
          </a:xfrm>
          <a:prstGeom prst="rect">
            <a:avLst/>
          </a:prstGeom>
        </p:spPr>
      </p:pic>
    </p:spTree>
    <p:extLst>
      <p:ext uri="{BB962C8B-B14F-4D97-AF65-F5344CB8AC3E}">
        <p14:creationId xmlns:p14="http://schemas.microsoft.com/office/powerpoint/2010/main" val="1029576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8</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1067021" y="2499090"/>
            <a:ext cx="4674873" cy="1154675"/>
          </a:xfrm>
          <a:prstGeom prst="rect">
            <a:avLst/>
          </a:prstGeom>
          <a:noFill/>
        </p:spPr>
        <p:txBody>
          <a:bodyPr wrap="square">
            <a:spAutoFit/>
          </a:bodyPr>
          <a:lstStyle/>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6</a:t>
            </a:r>
            <a:r>
              <a:rPr lang="es-MX" sz="1600" dirty="0">
                <a:effectLst/>
                <a:latin typeface="Arial" panose="020B0604020202020204" pitchFamily="34" charset="0"/>
                <a:ea typeface="Aptos" panose="020B0004020202020204" pitchFamily="34" charset="0"/>
                <a:cs typeface="Arial" panose="020B0604020202020204" pitchFamily="34" charset="0"/>
              </a:rPr>
              <a:t>.En el archivo </a:t>
            </a:r>
            <a:r>
              <a:rPr lang="es-MX" sz="1600" dirty="0" err="1">
                <a:effectLst/>
                <a:latin typeface="Arial" panose="020B0604020202020204" pitchFamily="34" charset="0"/>
                <a:ea typeface="Aptos" panose="020B0004020202020204" pitchFamily="34" charset="0"/>
                <a:cs typeface="Arial" panose="020B0604020202020204" pitchFamily="34" charset="0"/>
              </a:rPr>
              <a:t>TypeScript</a:t>
            </a:r>
            <a:r>
              <a:rPr lang="es-MX" sz="1600" dirty="0">
                <a:effectLst/>
                <a:latin typeface="Arial" panose="020B0604020202020204" pitchFamily="34" charset="0"/>
                <a:ea typeface="Aptos" panose="020B0004020202020204" pitchFamily="34" charset="0"/>
                <a:cs typeface="Arial" panose="020B0604020202020204" pitchFamily="34" charset="0"/>
              </a:rPr>
              <a:t> se exportó la clase del componente y se especificaron los archivos relacionados.</a:t>
            </a:r>
          </a:p>
        </p:txBody>
      </p:sp>
      <p:pic>
        <p:nvPicPr>
          <p:cNvPr id="4" name="Imagen 3">
            <a:extLst>
              <a:ext uri="{FF2B5EF4-FFF2-40B4-BE49-F238E27FC236}">
                <a16:creationId xmlns:a16="http://schemas.microsoft.com/office/drawing/2014/main" id="{544C8545-2120-4C39-97D3-C840F8C308D1}"/>
              </a:ext>
            </a:extLst>
          </p:cNvPr>
          <p:cNvPicPr/>
          <p:nvPr/>
        </p:nvPicPr>
        <p:blipFill>
          <a:blip r:embed="rId2"/>
          <a:stretch>
            <a:fillRect/>
          </a:stretch>
        </p:blipFill>
        <p:spPr>
          <a:xfrm>
            <a:off x="6096000" y="1202644"/>
            <a:ext cx="5541590" cy="3920685"/>
          </a:xfrm>
          <a:prstGeom prst="rect">
            <a:avLst/>
          </a:prstGeom>
        </p:spPr>
      </p:pic>
    </p:spTree>
    <p:extLst>
      <p:ext uri="{BB962C8B-B14F-4D97-AF65-F5344CB8AC3E}">
        <p14:creationId xmlns:p14="http://schemas.microsoft.com/office/powerpoint/2010/main" val="355932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9</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786874" y="1741361"/>
            <a:ext cx="5589273" cy="3504036"/>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Selección de perfil</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1.La página la opción cuenta con 2 perfiles para ingresar (Administrador y Alumnos), esta pantalla está enlazada con el </a:t>
            </a:r>
            <a:r>
              <a:rPr lang="es-MX" sz="1600" dirty="0" err="1">
                <a:effectLst/>
                <a:latin typeface="Arial" panose="020B0604020202020204" pitchFamily="34" charset="0"/>
                <a:ea typeface="Aptos" panose="020B0004020202020204" pitchFamily="34" charset="0"/>
                <a:cs typeface="Arial" panose="020B0604020202020204" pitchFamily="34" charset="0"/>
              </a:rPr>
              <a:t>login</a:t>
            </a:r>
            <a:r>
              <a:rPr lang="es-MX" sz="1600" dirty="0">
                <a:effectLst/>
                <a:latin typeface="Arial" panose="020B0604020202020204" pitchFamily="34" charset="0"/>
                <a:ea typeface="Aptos" panose="020B0004020202020204" pitchFamily="34" charset="0"/>
                <a:cs typeface="Arial" panose="020B0604020202020204" pitchFamily="34" charset="0"/>
              </a:rPr>
              <a:t>. El </a:t>
            </a:r>
            <a:r>
              <a:rPr lang="es-MX" sz="1600" dirty="0" err="1">
                <a:effectLst/>
                <a:latin typeface="Arial" panose="020B0604020202020204" pitchFamily="34" charset="0"/>
                <a:ea typeface="Aptos" panose="020B0004020202020204" pitchFamily="34" charset="0"/>
                <a:cs typeface="Arial" panose="020B0604020202020204" pitchFamily="34" charset="0"/>
              </a:rPr>
              <a:t>html</a:t>
            </a:r>
            <a:r>
              <a:rPr lang="es-MX" sz="1600" dirty="0">
                <a:effectLst/>
                <a:latin typeface="Arial" panose="020B0604020202020204" pitchFamily="34" charset="0"/>
                <a:ea typeface="Aptos" panose="020B0004020202020204" pitchFamily="34" charset="0"/>
                <a:cs typeface="Arial" panose="020B0604020202020204" pitchFamily="34" charset="0"/>
              </a:rPr>
              <a:t> muestra las dos opciones a seleccionar.</a:t>
            </a:r>
          </a:p>
          <a:p>
            <a:pPr algn="just">
              <a:lnSpc>
                <a:spcPct val="150000"/>
              </a:lnSpc>
              <a:spcAft>
                <a:spcPts val="800"/>
              </a:spcAft>
            </a:pPr>
            <a:r>
              <a:rPr lang="es-MX" sz="1600" dirty="0">
                <a:effectLst/>
                <a:latin typeface="Arial" panose="020B0604020202020204" pitchFamily="34" charset="0"/>
                <a:ea typeface="Times New Roman" panose="02020603050405020304" pitchFamily="18" charset="0"/>
                <a:cs typeface="Arial" panose="020B0604020202020204" pitchFamily="34" charset="0"/>
              </a:rPr>
              <a:t>2.En el CSS se aplicó colores a las tarjetas de perfiles y a la página en general.</a:t>
            </a: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 </a:t>
            </a:r>
          </a:p>
        </p:txBody>
      </p:sp>
      <p:pic>
        <p:nvPicPr>
          <p:cNvPr id="4" name="Imagen 3">
            <a:extLst>
              <a:ext uri="{FF2B5EF4-FFF2-40B4-BE49-F238E27FC236}">
                <a16:creationId xmlns:a16="http://schemas.microsoft.com/office/drawing/2014/main" id="{F2FA1ADC-A541-4BAD-A663-7CA0F4F33C8C}"/>
              </a:ext>
            </a:extLst>
          </p:cNvPr>
          <p:cNvPicPr/>
          <p:nvPr/>
        </p:nvPicPr>
        <p:blipFill>
          <a:blip r:embed="rId2"/>
          <a:stretch>
            <a:fillRect/>
          </a:stretch>
        </p:blipFill>
        <p:spPr>
          <a:xfrm>
            <a:off x="6858000" y="218421"/>
            <a:ext cx="4131646" cy="3045880"/>
          </a:xfrm>
          <a:prstGeom prst="rect">
            <a:avLst/>
          </a:prstGeom>
        </p:spPr>
      </p:pic>
      <p:pic>
        <p:nvPicPr>
          <p:cNvPr id="6" name="Imagen 5">
            <a:extLst>
              <a:ext uri="{FF2B5EF4-FFF2-40B4-BE49-F238E27FC236}">
                <a16:creationId xmlns:a16="http://schemas.microsoft.com/office/drawing/2014/main" id="{CBEC7892-A7DE-45F8-83D2-13CE21F8CE1E}"/>
              </a:ext>
            </a:extLst>
          </p:cNvPr>
          <p:cNvPicPr>
            <a:picLocks noChangeAspect="1"/>
          </p:cNvPicPr>
          <p:nvPr/>
        </p:nvPicPr>
        <p:blipFill rotWithShape="1">
          <a:blip r:embed="rId3"/>
          <a:srcRect t="23523"/>
          <a:stretch/>
        </p:blipFill>
        <p:spPr>
          <a:xfrm>
            <a:off x="6858000" y="3665537"/>
            <a:ext cx="3772233" cy="2873375"/>
          </a:xfrm>
          <a:prstGeom prst="rect">
            <a:avLst/>
          </a:prstGeom>
        </p:spPr>
      </p:pic>
    </p:spTree>
    <p:extLst>
      <p:ext uri="{BB962C8B-B14F-4D97-AF65-F5344CB8AC3E}">
        <p14:creationId xmlns:p14="http://schemas.microsoft.com/office/powerpoint/2010/main" val="2134394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10</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786875" y="1741361"/>
            <a:ext cx="4642376" cy="4683846"/>
          </a:xfrm>
          <a:prstGeom prst="rect">
            <a:avLst/>
          </a:prstGeom>
          <a:noFill/>
        </p:spPr>
        <p:txBody>
          <a:bodyPr wrap="square">
            <a:spAutoFit/>
          </a:bodyPr>
          <a:lstStyle/>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3. </a:t>
            </a:r>
            <a:r>
              <a:rPr lang="es-MX" sz="1600" dirty="0" err="1">
                <a:latin typeface="Arial" panose="020B0604020202020204" pitchFamily="34" charset="0"/>
                <a:ea typeface="Aptos" panose="020B0004020202020204" pitchFamily="34" charset="0"/>
                <a:cs typeface="Arial" panose="020B0604020202020204" pitchFamily="34" charset="0"/>
              </a:rPr>
              <a:t>Router</a:t>
            </a:r>
            <a:r>
              <a:rPr lang="es-MX" sz="1600" dirty="0">
                <a:latin typeface="Arial" panose="020B0604020202020204" pitchFamily="34" charset="0"/>
                <a:ea typeface="Aptos" panose="020B0004020202020204" pitchFamily="34" charset="0"/>
                <a:cs typeface="Arial" panose="020B0604020202020204" pitchFamily="34" charset="0"/>
              </a:rPr>
              <a:t>: sirve para navegar entre páginas dentro de la aplicación, como se especifica dentro de la clase se puede navegar y cambiar de pantalla.</a:t>
            </a:r>
          </a:p>
          <a:p>
            <a:pPr marL="0" marR="0" lvl="0" indent="0" algn="just" defTabSz="914400" rtl="0" eaLnBrk="0" fontAlgn="base" latinLnBrk="0" hangingPunct="0">
              <a:lnSpc>
                <a:spcPct val="150000"/>
              </a:lnSpc>
              <a:spcBef>
                <a:spcPct val="0"/>
              </a:spcBef>
              <a:spcAft>
                <a:spcPct val="0"/>
              </a:spcAft>
              <a:buClrTx/>
              <a:buSzTx/>
              <a:tabLst/>
            </a:pPr>
            <a:r>
              <a:rPr lang="es-MX" sz="1600" dirty="0">
                <a:effectLst/>
                <a:latin typeface="Arial" panose="020B0604020202020204" pitchFamily="34" charset="0"/>
                <a:ea typeface="Aptos" panose="020B0004020202020204" pitchFamily="34" charset="0"/>
                <a:cs typeface="Arial" panose="020B0604020202020204" pitchFamily="34" charset="0"/>
              </a:rPr>
              <a:t>4. La función </a:t>
            </a:r>
            <a:r>
              <a:rPr lang="es-MX" sz="1600" dirty="0" err="1">
                <a:latin typeface="Arial" panose="020B0604020202020204" pitchFamily="34" charset="0"/>
                <a:ea typeface="Aptos" panose="020B0004020202020204" pitchFamily="34" charset="0"/>
                <a:cs typeface="Arial" panose="020B0604020202020204" pitchFamily="34" charset="0"/>
              </a:rPr>
              <a:t>irAdmin</a:t>
            </a:r>
            <a:r>
              <a:rPr lang="es-MX" sz="1600" dirty="0">
                <a:latin typeface="Arial" panose="020B0604020202020204" pitchFamily="34" charset="0"/>
                <a:ea typeface="Aptos" panose="020B0004020202020204" pitchFamily="34" charset="0"/>
                <a:cs typeface="Arial" panose="020B0604020202020204" pitchFamily="34" charset="0"/>
              </a:rPr>
              <a:t>  r</a:t>
            </a:r>
            <a:r>
              <a:rPr kumimoji="0" lang="es-MX" altLang="es-MX" sz="1600" b="0" i="0" u="none" strike="noStrike" cap="none" normalizeH="0" baseline="0" dirty="0">
                <a:ln>
                  <a:noFill/>
                </a:ln>
                <a:solidFill>
                  <a:schemeClr val="tx1"/>
                </a:solidFill>
                <a:effectLst/>
                <a:latin typeface="Arial" panose="020B0604020202020204" pitchFamily="34" charset="0"/>
              </a:rPr>
              <a:t>edirige a la ruta, envía un parámetro en la URL y muestra la vista de acuerdo a la selección del usuario.</a:t>
            </a:r>
          </a:p>
          <a:p>
            <a:pPr marL="0" marR="0" lvl="0" indent="0" algn="just" defTabSz="914400" rtl="0" eaLnBrk="0" fontAlgn="base" latinLnBrk="0" hangingPunct="0">
              <a:lnSpc>
                <a:spcPct val="150000"/>
              </a:lnSpc>
              <a:spcBef>
                <a:spcPct val="0"/>
              </a:spcBef>
              <a:spcAft>
                <a:spcPct val="0"/>
              </a:spcAft>
              <a:buClrTx/>
              <a:buSzTx/>
              <a:tabLst/>
            </a:pPr>
            <a:r>
              <a:rPr lang="es-MX" altLang="es-MX" sz="1600" dirty="0">
                <a:latin typeface="Arial" panose="020B0604020202020204" pitchFamily="34" charset="0"/>
              </a:rPr>
              <a:t>5. La función </a:t>
            </a:r>
            <a:r>
              <a:rPr lang="es-MX" altLang="es-MX" sz="1600" dirty="0" err="1">
                <a:latin typeface="Arial" panose="020B0604020202020204" pitchFamily="34" charset="0"/>
              </a:rPr>
              <a:t>irAlumno</a:t>
            </a:r>
            <a:r>
              <a:rPr lang="es-MX" altLang="es-MX" sz="1600" dirty="0">
                <a:latin typeface="Arial" panose="020B0604020202020204" pitchFamily="34" charset="0"/>
              </a:rPr>
              <a:t> funciona de la misma manera.</a:t>
            </a:r>
            <a:endParaRPr kumimoji="0" lang="es-MX" altLang="es-MX"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endParaRPr kumimoji="0" lang="es-MX" altLang="es-MX" sz="1600" b="0" i="0" u="none" strike="noStrike" cap="none" normalizeH="0" baseline="0" dirty="0">
              <a:ln>
                <a:noFill/>
              </a:ln>
              <a:solidFill>
                <a:schemeClr val="tx1"/>
              </a:solidFill>
              <a:effectLst/>
              <a:latin typeface="Arial" panose="020B0604020202020204" pitchFamily="34" charset="0"/>
            </a:endParaRP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 </a:t>
            </a:r>
          </a:p>
        </p:txBody>
      </p:sp>
      <p:pic>
        <p:nvPicPr>
          <p:cNvPr id="9" name="Imagen 8">
            <a:extLst>
              <a:ext uri="{FF2B5EF4-FFF2-40B4-BE49-F238E27FC236}">
                <a16:creationId xmlns:a16="http://schemas.microsoft.com/office/drawing/2014/main" id="{494EFC73-DB83-47D5-92EA-7A50C6855ECC}"/>
              </a:ext>
            </a:extLst>
          </p:cNvPr>
          <p:cNvPicPr>
            <a:picLocks noChangeAspect="1"/>
          </p:cNvPicPr>
          <p:nvPr/>
        </p:nvPicPr>
        <p:blipFill>
          <a:blip r:embed="rId2"/>
          <a:stretch>
            <a:fillRect/>
          </a:stretch>
        </p:blipFill>
        <p:spPr>
          <a:xfrm>
            <a:off x="6096000" y="1466850"/>
            <a:ext cx="5717387" cy="3395990"/>
          </a:xfrm>
          <a:prstGeom prst="rect">
            <a:avLst/>
          </a:prstGeom>
        </p:spPr>
      </p:pic>
    </p:spTree>
    <p:extLst>
      <p:ext uri="{BB962C8B-B14F-4D97-AF65-F5344CB8AC3E}">
        <p14:creationId xmlns:p14="http://schemas.microsoft.com/office/powerpoint/2010/main" val="3796677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11</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1174597" y="1405112"/>
            <a:ext cx="4701767" cy="4786439"/>
          </a:xfrm>
          <a:prstGeom prst="rect">
            <a:avLst/>
          </a:prstGeom>
          <a:noFill/>
        </p:spPr>
        <p:txBody>
          <a:bodyPr wrap="square">
            <a:spAutoFit/>
          </a:bodyPr>
          <a:lstStyle/>
          <a:p>
            <a:pPr algn="just">
              <a:lnSpc>
                <a:spcPct val="150000"/>
              </a:lnSpc>
              <a:spcAft>
                <a:spcPts val="800"/>
              </a:spcAft>
              <a:buNone/>
            </a:pPr>
            <a:r>
              <a:rPr lang="es-MX" sz="1600" b="1" dirty="0" err="1">
                <a:effectLst/>
                <a:latin typeface="Arial" panose="020B0604020202020204" pitchFamily="34" charset="0"/>
                <a:ea typeface="Aptos" panose="020B0004020202020204" pitchFamily="34" charset="0"/>
                <a:cs typeface="Arial" panose="020B0604020202020204" pitchFamily="34" charset="0"/>
              </a:rPr>
              <a:t>Login</a:t>
            </a:r>
            <a:endParaRPr lang="es-MX" sz="1600"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1.Se creó el componente correspondiente al </a:t>
            </a:r>
            <a:r>
              <a:rPr lang="es-MX" sz="1600" dirty="0" err="1">
                <a:effectLst/>
                <a:latin typeface="Arial" panose="020B0604020202020204" pitchFamily="34" charset="0"/>
                <a:ea typeface="Aptos" panose="020B0004020202020204" pitchFamily="34" charset="0"/>
                <a:cs typeface="Arial" panose="020B0604020202020204" pitchFamily="34" charset="0"/>
              </a:rPr>
              <a:t>Login</a:t>
            </a:r>
            <a:r>
              <a:rPr lang="es-MX" sz="1600" dirty="0">
                <a:effectLst/>
                <a:latin typeface="Arial" panose="020B0604020202020204" pitchFamily="34" charset="0"/>
                <a:ea typeface="Aptos" panose="020B0004020202020204" pitchFamily="34" charset="0"/>
                <a:cs typeface="Arial" panose="020B0604020202020204" pitchFamily="34" charset="0"/>
              </a:rPr>
              <a:t> para tener los archivos necesarios para trabajar. Se utilizó el comando: ng </a:t>
            </a:r>
            <a:r>
              <a:rPr lang="es-MX" sz="1600" dirty="0" err="1">
                <a:effectLst/>
                <a:latin typeface="Arial" panose="020B0604020202020204" pitchFamily="34" charset="0"/>
                <a:ea typeface="Aptos" panose="020B0004020202020204" pitchFamily="34" charset="0"/>
                <a:cs typeface="Arial" panose="020B0604020202020204" pitchFamily="34" charset="0"/>
              </a:rPr>
              <a:t>generate</a:t>
            </a:r>
            <a:r>
              <a:rPr lang="es-MX" sz="1600" dirty="0">
                <a:effectLst/>
                <a:latin typeface="Arial" panose="020B0604020202020204" pitchFamily="34" charset="0"/>
                <a:ea typeface="Aptos" panose="020B0004020202020204" pitchFamily="34" charset="0"/>
                <a:cs typeface="Arial" panose="020B0604020202020204" pitchFamily="34" charset="0"/>
              </a:rPr>
              <a:t> </a:t>
            </a:r>
            <a:r>
              <a:rPr lang="es-MX" sz="1600" dirty="0" err="1">
                <a:effectLst/>
                <a:latin typeface="Arial" panose="020B0604020202020204" pitchFamily="34" charset="0"/>
                <a:ea typeface="Aptos" panose="020B0004020202020204" pitchFamily="34" charset="0"/>
                <a:cs typeface="Arial" panose="020B0604020202020204" pitchFamily="34" charset="0"/>
              </a:rPr>
              <a:t>component</a:t>
            </a:r>
            <a:r>
              <a:rPr lang="es-MX" sz="1600" dirty="0">
                <a:effectLst/>
                <a:latin typeface="Arial" panose="020B0604020202020204" pitchFamily="34" charset="0"/>
                <a:ea typeface="Aptos" panose="020B0004020202020204" pitchFamily="34" charset="0"/>
                <a:cs typeface="Arial" panose="020B0604020202020204" pitchFamily="34" charset="0"/>
              </a:rPr>
              <a:t> </a:t>
            </a:r>
            <a:r>
              <a:rPr lang="es-MX" sz="1600" dirty="0" err="1">
                <a:effectLst/>
                <a:latin typeface="Arial" panose="020B0604020202020204" pitchFamily="34" charset="0"/>
                <a:ea typeface="Aptos" panose="020B0004020202020204" pitchFamily="34" charset="0"/>
                <a:cs typeface="Arial" panose="020B0604020202020204" pitchFamily="34" charset="0"/>
              </a:rPr>
              <a:t>login</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2.En el archivo </a:t>
            </a:r>
            <a:r>
              <a:rPr lang="es-MX" sz="1600" dirty="0" err="1">
                <a:effectLst/>
                <a:latin typeface="Arial" panose="020B0604020202020204" pitchFamily="34" charset="0"/>
                <a:ea typeface="Aptos" panose="020B0004020202020204" pitchFamily="34" charset="0"/>
                <a:cs typeface="Arial" panose="020B0604020202020204" pitchFamily="34" charset="0"/>
              </a:rPr>
              <a:t>html</a:t>
            </a:r>
            <a:r>
              <a:rPr lang="es-MX" sz="1600" dirty="0">
                <a:effectLst/>
                <a:latin typeface="Arial" panose="020B0604020202020204" pitchFamily="34" charset="0"/>
                <a:ea typeface="Aptos" panose="020B0004020202020204" pitchFamily="34" charset="0"/>
                <a:cs typeface="Arial" panose="020B0604020202020204" pitchFamily="34" charset="0"/>
              </a:rPr>
              <a:t> se estructuraron los elementos en el </a:t>
            </a:r>
            <a:r>
              <a:rPr lang="es-MX" sz="1600" dirty="0" err="1">
                <a:effectLst/>
                <a:latin typeface="Arial" panose="020B0604020202020204" pitchFamily="34" charset="0"/>
                <a:ea typeface="Aptos" panose="020B0004020202020204" pitchFamily="34" charset="0"/>
                <a:cs typeface="Arial" panose="020B0604020202020204" pitchFamily="34" charset="0"/>
              </a:rPr>
              <a:t>login</a:t>
            </a:r>
            <a:r>
              <a:rPr lang="es-MX" sz="1600" dirty="0">
                <a:effectLst/>
                <a:latin typeface="Arial" panose="020B0604020202020204" pitchFamily="34" charset="0"/>
                <a:ea typeface="Aptos" panose="020B0004020202020204" pitchFamily="34" charset="0"/>
                <a:cs typeface="Arial" panose="020B0604020202020204" pitchFamily="34" charset="0"/>
              </a:rPr>
              <a:t>, el texto y los apartados para que el usuario pueda ingresar los datos solicitados. También se agregó un pie de página y se especificaron los botones que se utilizarán para brindar acceso o no.</a:t>
            </a: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78BC1C7E-B888-47AF-A46B-77ACC17A033F}"/>
              </a:ext>
            </a:extLst>
          </p:cNvPr>
          <p:cNvPicPr/>
          <p:nvPr/>
        </p:nvPicPr>
        <p:blipFill rotWithShape="1">
          <a:blip r:embed="rId2" cstate="print">
            <a:extLst>
              <a:ext uri="{28A0092B-C50C-407E-A947-70E740481C1C}">
                <a14:useLocalDpi xmlns:a14="http://schemas.microsoft.com/office/drawing/2010/main" val="0"/>
              </a:ext>
            </a:extLst>
          </a:blip>
          <a:srcRect b="18074"/>
          <a:stretch/>
        </p:blipFill>
        <p:spPr bwMode="auto">
          <a:xfrm>
            <a:off x="6669741" y="567369"/>
            <a:ext cx="4984826" cy="2195512"/>
          </a:xfrm>
          <a:prstGeom prst="rect">
            <a:avLst/>
          </a:prstGeom>
          <a:noFill/>
          <a:ln>
            <a:noFill/>
          </a:ln>
          <a:extLst>
            <a:ext uri="{53640926-AAD7-44D8-BBD7-CCE9431645EC}">
              <a14:shadowObscured xmlns:a14="http://schemas.microsoft.com/office/drawing/2010/main"/>
            </a:ext>
          </a:extLst>
        </p:spPr>
      </p:pic>
      <p:pic>
        <p:nvPicPr>
          <p:cNvPr id="8" name="Imagen 7">
            <a:extLst>
              <a:ext uri="{FF2B5EF4-FFF2-40B4-BE49-F238E27FC236}">
                <a16:creationId xmlns:a16="http://schemas.microsoft.com/office/drawing/2014/main" id="{CE31DF39-964D-4AE1-91FD-DF78ED56F745}"/>
              </a:ext>
            </a:extLst>
          </p:cNvPr>
          <p:cNvPicPr/>
          <p:nvPr/>
        </p:nvPicPr>
        <p:blipFill>
          <a:blip r:embed="rId3"/>
          <a:stretch>
            <a:fillRect/>
          </a:stretch>
        </p:blipFill>
        <p:spPr>
          <a:xfrm>
            <a:off x="7050746" y="2945445"/>
            <a:ext cx="3966657" cy="3593466"/>
          </a:xfrm>
          <a:prstGeom prst="rect">
            <a:avLst/>
          </a:prstGeom>
        </p:spPr>
      </p:pic>
    </p:spTree>
    <p:extLst>
      <p:ext uri="{BB962C8B-B14F-4D97-AF65-F5344CB8AC3E}">
        <p14:creationId xmlns:p14="http://schemas.microsoft.com/office/powerpoint/2010/main" val="1234371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12</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435009" y="1636237"/>
            <a:ext cx="5660991" cy="4519699"/>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3.</a:t>
            </a:r>
            <a:r>
              <a:rPr lang="es-MX" sz="1600" dirty="0">
                <a:effectLst/>
                <a:latin typeface="Arial" panose="020B0604020202020204" pitchFamily="34" charset="0"/>
                <a:ea typeface="Aptos" panose="020B0004020202020204" pitchFamily="34" charset="0"/>
                <a:cs typeface="Arial" panose="020B0604020202020204" pitchFamily="34" charset="0"/>
              </a:rPr>
              <a:t>En el </a:t>
            </a:r>
            <a:r>
              <a:rPr lang="es-MX" sz="1600" dirty="0" err="1">
                <a:effectLst/>
                <a:latin typeface="Arial" panose="020B0604020202020204" pitchFamily="34" charset="0"/>
                <a:ea typeface="Aptos" panose="020B0004020202020204" pitchFamily="34" charset="0"/>
                <a:cs typeface="Arial" panose="020B0604020202020204" pitchFamily="34" charset="0"/>
              </a:rPr>
              <a:t>TypeScript</a:t>
            </a:r>
            <a:r>
              <a:rPr lang="es-MX" sz="1600" dirty="0">
                <a:effectLst/>
                <a:latin typeface="Arial" panose="020B0604020202020204" pitchFamily="34" charset="0"/>
                <a:ea typeface="Aptos" panose="020B0004020202020204" pitchFamily="34" charset="0"/>
                <a:cs typeface="Arial" panose="020B0604020202020204" pitchFamily="34" charset="0"/>
              </a:rPr>
              <a:t> correspondiente se agregaron los diferentes tipos de perfiles que están conectados.</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Se puede adaptar el contenido según el tipo de usuario (</a:t>
            </a:r>
            <a:r>
              <a:rPr lang="es-MX" sz="1600" dirty="0" err="1">
                <a:effectLst/>
                <a:latin typeface="Arial" panose="020B0604020202020204" pitchFamily="34" charset="0"/>
                <a:ea typeface="Aptos" panose="020B0004020202020204" pitchFamily="34" charset="0"/>
                <a:cs typeface="Arial" panose="020B0604020202020204" pitchFamily="34" charset="0"/>
              </a:rPr>
              <a:t>admin</a:t>
            </a:r>
            <a:r>
              <a:rPr lang="es-MX" sz="1600" dirty="0">
                <a:effectLst/>
                <a:latin typeface="Arial" panose="020B0604020202020204" pitchFamily="34" charset="0"/>
                <a:ea typeface="Aptos" panose="020B0004020202020204" pitchFamily="34" charset="0"/>
                <a:cs typeface="Arial" panose="020B0604020202020204" pitchFamily="34" charset="0"/>
              </a:rPr>
              <a:t> o alumno) que llega desde otra pantalla. </a:t>
            </a:r>
            <a:r>
              <a:rPr lang="es-MX" sz="1600" dirty="0" err="1">
                <a:effectLst/>
                <a:latin typeface="Arial" panose="020B0604020202020204" pitchFamily="34" charset="0"/>
                <a:ea typeface="Aptos" panose="020B0004020202020204" pitchFamily="34" charset="0"/>
                <a:cs typeface="Arial" panose="020B0604020202020204" pitchFamily="34" charset="0"/>
              </a:rPr>
              <a:t>ngOnInit</a:t>
            </a:r>
            <a:r>
              <a:rPr lang="es-MX" sz="1600" dirty="0">
                <a:effectLst/>
                <a:latin typeface="Arial" panose="020B0604020202020204" pitchFamily="34" charset="0"/>
                <a:ea typeface="Aptos" panose="020B0004020202020204" pitchFamily="34" charset="0"/>
                <a:cs typeface="Arial" panose="020B0604020202020204" pitchFamily="34" charset="0"/>
              </a:rPr>
              <a:t>(), se leen los parámetros, se guarda el tipo y se le asigna la imagen correspondiente.</a:t>
            </a:r>
          </a:p>
          <a:p>
            <a:pPr algn="just">
              <a:lnSpc>
                <a:spcPct val="150000"/>
              </a:lnSpc>
              <a:spcAft>
                <a:spcPts val="800"/>
              </a:spcAft>
              <a:buNone/>
            </a:pPr>
            <a:endParaRPr lang="es-MX" sz="1600" dirty="0">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Las imágenes fueron previamente guardadas en la carpeta </a:t>
            </a:r>
            <a:r>
              <a:rPr lang="es-MX" sz="1600" dirty="0" err="1">
                <a:effectLst/>
                <a:latin typeface="Arial" panose="020B0604020202020204" pitchFamily="34" charset="0"/>
                <a:ea typeface="Aptos" panose="020B0004020202020204" pitchFamily="34" charset="0"/>
                <a:cs typeface="Arial" panose="020B0604020202020204" pitchFamily="34" charset="0"/>
              </a:rPr>
              <a:t>public</a:t>
            </a:r>
            <a:r>
              <a:rPr lang="es-MX" sz="1600" dirty="0">
                <a:effectLst/>
                <a:latin typeface="Arial" panose="020B0604020202020204" pitchFamily="34" charset="0"/>
                <a:ea typeface="Aptos" panose="020B0004020202020204" pitchFamily="34" charset="0"/>
                <a:cs typeface="Arial" panose="020B0604020202020204" pitchFamily="34" charset="0"/>
              </a:rPr>
              <a:t> del proyecto, de esta manera se pueden utilizar en el momento necesario.</a:t>
            </a: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41E71820-BDD4-4DF8-8D97-4397B0F2A275}"/>
              </a:ext>
            </a:extLst>
          </p:cNvPr>
          <p:cNvPicPr>
            <a:picLocks noChangeAspect="1"/>
          </p:cNvPicPr>
          <p:nvPr/>
        </p:nvPicPr>
        <p:blipFill>
          <a:blip r:embed="rId2"/>
          <a:stretch>
            <a:fillRect/>
          </a:stretch>
        </p:blipFill>
        <p:spPr>
          <a:xfrm>
            <a:off x="6375760" y="810823"/>
            <a:ext cx="5495932" cy="5236353"/>
          </a:xfrm>
          <a:prstGeom prst="rect">
            <a:avLst/>
          </a:prstGeom>
        </p:spPr>
      </p:pic>
    </p:spTree>
    <p:extLst>
      <p:ext uri="{BB962C8B-B14F-4D97-AF65-F5344CB8AC3E}">
        <p14:creationId xmlns:p14="http://schemas.microsoft.com/office/powerpoint/2010/main" val="189091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13</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968409" y="1617187"/>
            <a:ext cx="5470491" cy="2734595"/>
          </a:xfrm>
          <a:prstGeom prst="rect">
            <a:avLst/>
          </a:prstGeom>
          <a:noFill/>
        </p:spPr>
        <p:txBody>
          <a:bodyPr wrap="square">
            <a:spAutoFit/>
          </a:bodyPr>
          <a:lstStyle/>
          <a:p>
            <a:pPr algn="just">
              <a:lnSpc>
                <a:spcPct val="150000"/>
              </a:lnSpc>
              <a:spcAft>
                <a:spcPts val="800"/>
              </a:spcAft>
              <a:buNone/>
            </a:pPr>
            <a:r>
              <a:rPr lang="es-MX" sz="1600" b="1" dirty="0" err="1">
                <a:latin typeface="Arial" panose="020B0604020202020204" pitchFamily="34" charset="0"/>
                <a:ea typeface="Aptos" panose="020B0004020202020204" pitchFamily="34" charset="0"/>
                <a:cs typeface="Arial" panose="020B0604020202020204" pitchFamily="34" charset="0"/>
              </a:rPr>
              <a:t>Login</a:t>
            </a:r>
            <a:endParaRPr lang="es-MX" sz="1600"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En este primer avance aún no se ha implementado el </a:t>
            </a:r>
            <a:r>
              <a:rPr lang="es-MX" sz="1600" dirty="0" err="1">
                <a:effectLst/>
                <a:latin typeface="Arial" panose="020B0604020202020204" pitchFamily="34" charset="0"/>
                <a:ea typeface="Aptos" panose="020B0004020202020204" pitchFamily="34" charset="0"/>
                <a:cs typeface="Arial" panose="020B0604020202020204" pitchFamily="34" charset="0"/>
              </a:rPr>
              <a:t>backend</a:t>
            </a:r>
            <a:r>
              <a:rPr lang="es-MX" sz="1600" dirty="0">
                <a:effectLst/>
                <a:latin typeface="Arial" panose="020B0604020202020204" pitchFamily="34" charset="0"/>
                <a:ea typeface="Aptos" panose="020B0004020202020204" pitchFamily="34" charset="0"/>
                <a:cs typeface="Arial" panose="020B0604020202020204" pitchFamily="34" charset="0"/>
              </a:rPr>
              <a:t>, pero posteriormente se conectará </a:t>
            </a:r>
            <a:r>
              <a:rPr lang="es-MX" sz="1600" dirty="0" err="1">
                <a:effectLst/>
                <a:latin typeface="Arial" panose="020B0604020202020204" pitchFamily="34" charset="0"/>
                <a:ea typeface="Aptos" panose="020B0004020202020204" pitchFamily="34" charset="0"/>
                <a:cs typeface="Arial" panose="020B0604020202020204" pitchFamily="34" charset="0"/>
              </a:rPr>
              <a:t>Supabase</a:t>
            </a:r>
            <a:r>
              <a:rPr lang="es-MX" sz="1600" dirty="0">
                <a:effectLst/>
                <a:latin typeface="Arial" panose="020B0604020202020204" pitchFamily="34" charset="0"/>
                <a:ea typeface="Aptos" panose="020B0004020202020204" pitchFamily="34" charset="0"/>
                <a:cs typeface="Arial" panose="020B0604020202020204" pitchFamily="34" charset="0"/>
              </a:rPr>
              <a:t> que actuará como el </a:t>
            </a:r>
            <a:r>
              <a:rPr lang="es-MX" sz="1600" dirty="0" err="1">
                <a:effectLst/>
                <a:latin typeface="Arial" panose="020B0604020202020204" pitchFamily="34" charset="0"/>
                <a:ea typeface="Aptos" panose="020B0004020202020204" pitchFamily="34" charset="0"/>
                <a:cs typeface="Arial" panose="020B0604020202020204" pitchFamily="34" charset="0"/>
              </a:rPr>
              <a:t>backend</a:t>
            </a:r>
            <a:r>
              <a:rPr lang="es-MX" sz="1600" dirty="0">
                <a:effectLst/>
                <a:latin typeface="Arial" panose="020B0604020202020204" pitchFamily="34" charset="0"/>
                <a:ea typeface="Aptos" panose="020B0004020202020204" pitchFamily="34" charset="0"/>
                <a:cs typeface="Arial" panose="020B0604020202020204" pitchFamily="34" charset="0"/>
              </a:rPr>
              <a:t> y permitirá almacenar datos e información. Una vez implementado se podrán utilizar los servicios de autenticación para permitir o denegar el acceso a usuarios.</a:t>
            </a:r>
          </a:p>
        </p:txBody>
      </p:sp>
      <p:pic>
        <p:nvPicPr>
          <p:cNvPr id="5" name="Imagen 4">
            <a:extLst>
              <a:ext uri="{FF2B5EF4-FFF2-40B4-BE49-F238E27FC236}">
                <a16:creationId xmlns:a16="http://schemas.microsoft.com/office/drawing/2014/main" id="{C93C71CB-5A59-4739-BF5B-9B4E6D92BE56}"/>
              </a:ext>
            </a:extLst>
          </p:cNvPr>
          <p:cNvPicPr>
            <a:picLocks noChangeAspect="1"/>
          </p:cNvPicPr>
          <p:nvPr/>
        </p:nvPicPr>
        <p:blipFill rotWithShape="1">
          <a:blip r:embed="rId2"/>
          <a:srcRect r="20882"/>
          <a:stretch/>
        </p:blipFill>
        <p:spPr>
          <a:xfrm>
            <a:off x="6776506" y="2844264"/>
            <a:ext cx="4800600" cy="3015036"/>
          </a:xfrm>
          <a:prstGeom prst="rect">
            <a:avLst/>
          </a:prstGeom>
        </p:spPr>
      </p:pic>
      <p:pic>
        <p:nvPicPr>
          <p:cNvPr id="7" name="Imagen 6">
            <a:extLst>
              <a:ext uri="{FF2B5EF4-FFF2-40B4-BE49-F238E27FC236}">
                <a16:creationId xmlns:a16="http://schemas.microsoft.com/office/drawing/2014/main" id="{CB9F68B0-DEB9-45DF-92BD-38D0AFB98E9F}"/>
              </a:ext>
            </a:extLst>
          </p:cNvPr>
          <p:cNvPicPr>
            <a:picLocks noChangeAspect="1"/>
          </p:cNvPicPr>
          <p:nvPr/>
        </p:nvPicPr>
        <p:blipFill>
          <a:blip r:embed="rId3"/>
          <a:stretch>
            <a:fillRect/>
          </a:stretch>
        </p:blipFill>
        <p:spPr>
          <a:xfrm>
            <a:off x="7162801" y="1096289"/>
            <a:ext cx="3532711" cy="1222862"/>
          </a:xfrm>
          <a:prstGeom prst="rect">
            <a:avLst/>
          </a:prstGeom>
        </p:spPr>
      </p:pic>
    </p:spTree>
    <p:extLst>
      <p:ext uri="{BB962C8B-B14F-4D97-AF65-F5344CB8AC3E}">
        <p14:creationId xmlns:p14="http://schemas.microsoft.com/office/powerpoint/2010/main" val="2367577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14</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644558" y="1628471"/>
            <a:ext cx="5260941" cy="3411703"/>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Alumno</a:t>
            </a:r>
          </a:p>
          <a:p>
            <a:pPr algn="just">
              <a:lnSpc>
                <a:spcPct val="150000"/>
              </a:lnSpc>
              <a:spcAft>
                <a:spcPts val="800"/>
              </a:spcAft>
            </a:pPr>
            <a:r>
              <a:rPr lang="es-MX" sz="1600" dirty="0">
                <a:latin typeface="Arial" panose="020B0604020202020204" pitchFamily="34" charset="0"/>
                <a:ea typeface="Aptos" panose="020B0004020202020204" pitchFamily="34" charset="0"/>
                <a:cs typeface="Arial" panose="020B0604020202020204" pitchFamily="34" charset="0"/>
              </a:rPr>
              <a:t>Para esta pantalla se creó un </a:t>
            </a:r>
            <a:r>
              <a:rPr lang="es-MX" sz="1600" dirty="0" err="1">
                <a:latin typeface="Arial" panose="020B0604020202020204" pitchFamily="34" charset="0"/>
                <a:ea typeface="Aptos" panose="020B0004020202020204" pitchFamily="34" charset="0"/>
                <a:cs typeface="Arial" panose="020B0604020202020204" pitchFamily="34" charset="0"/>
              </a:rPr>
              <a:t>dashboard</a:t>
            </a:r>
            <a:r>
              <a:rPr lang="es-MX" sz="1600" dirty="0">
                <a:latin typeface="Arial" panose="020B0604020202020204" pitchFamily="34" charset="0"/>
                <a:ea typeface="Aptos" panose="020B0004020202020204" pitchFamily="34" charset="0"/>
                <a:cs typeface="Arial" panose="020B0604020202020204" pitchFamily="34" charset="0"/>
              </a:rPr>
              <a:t> para el usuario, en este caso para un estudiante de la institución.</a:t>
            </a:r>
          </a:p>
          <a:p>
            <a:pPr marL="342900" indent="-342900" algn="just">
              <a:lnSpc>
                <a:spcPct val="150000"/>
              </a:lnSpc>
              <a:spcAft>
                <a:spcPts val="800"/>
              </a:spcAft>
              <a:buFont typeface="+mj-lt"/>
              <a:buAutoNum type="arabicPeriod"/>
            </a:pPr>
            <a:r>
              <a:rPr lang="es-MX" sz="1600" dirty="0">
                <a:effectLst/>
                <a:latin typeface="Arial" panose="020B0604020202020204" pitchFamily="34" charset="0"/>
                <a:ea typeface="Aptos" panose="020B0004020202020204" pitchFamily="34" charset="0"/>
                <a:cs typeface="Arial" panose="020B0604020202020204" pitchFamily="34" charset="0"/>
              </a:rPr>
              <a:t>Se creó el componente correspondiente</a:t>
            </a:r>
            <a:r>
              <a:rPr lang="es-MX" sz="1600" dirty="0">
                <a:latin typeface="Arial" panose="020B0604020202020204" pitchFamily="34" charset="0"/>
                <a:ea typeface="Aptos" panose="020B0004020202020204" pitchFamily="34" charset="0"/>
                <a:cs typeface="Arial" panose="020B0604020202020204" pitchFamily="34" charset="0"/>
              </a:rPr>
              <a:t>, usando el comando mostrado en la imagen.</a:t>
            </a:r>
          </a:p>
          <a:p>
            <a:pPr marL="342900" indent="-342900" algn="just">
              <a:lnSpc>
                <a:spcPct val="150000"/>
              </a:lnSpc>
              <a:spcAft>
                <a:spcPts val="800"/>
              </a:spcAft>
              <a:buFont typeface="+mj-lt"/>
              <a:buAutoNum type="arabicPeriod"/>
            </a:pPr>
            <a:endParaRPr lang="es-ES"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5EB7C86E-09D6-4F51-8F71-F2B30C10230C}"/>
              </a:ext>
            </a:extLst>
          </p:cNvPr>
          <p:cNvPicPr/>
          <p:nvPr/>
        </p:nvPicPr>
        <p:blipFill rotWithShape="1">
          <a:blip r:embed="rId2" cstate="print">
            <a:extLst>
              <a:ext uri="{28A0092B-C50C-407E-A947-70E740481C1C}">
                <a14:useLocalDpi xmlns:a14="http://schemas.microsoft.com/office/drawing/2010/main" val="0"/>
              </a:ext>
            </a:extLst>
          </a:blip>
          <a:srcRect b="21571"/>
          <a:stretch/>
        </p:blipFill>
        <p:spPr bwMode="auto">
          <a:xfrm>
            <a:off x="6286502" y="1701013"/>
            <a:ext cx="5612130" cy="274129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6242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15</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838200" y="1169149"/>
            <a:ext cx="4005543" cy="4519699"/>
          </a:xfrm>
          <a:prstGeom prst="rect">
            <a:avLst/>
          </a:prstGeom>
          <a:noFill/>
        </p:spPr>
        <p:txBody>
          <a:bodyPr wrap="square">
            <a:spAutoFit/>
          </a:bodyPr>
          <a:lstStyle/>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2. </a:t>
            </a:r>
            <a:r>
              <a:rPr lang="es-MX" sz="1600" dirty="0">
                <a:effectLst/>
                <a:latin typeface="Arial" panose="020B0604020202020204" pitchFamily="34" charset="0"/>
                <a:ea typeface="Aptos" panose="020B0004020202020204" pitchFamily="34" charset="0"/>
                <a:cs typeface="Arial" panose="020B0604020202020204" pitchFamily="34" charset="0"/>
              </a:rPr>
              <a:t>En el HTML se especificó que en el panel izquierdo estaría el área de nueva solicitud.</a:t>
            </a: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3.Se utilizó un formulario con las opciones de documentos a solicitar.</a:t>
            </a:r>
          </a:p>
          <a:p>
            <a:pPr algn="just">
              <a:lnSpc>
                <a:spcPct val="150000"/>
              </a:lnSpc>
              <a:spcAft>
                <a:spcPts val="800"/>
              </a:spcAft>
              <a:buNone/>
            </a:pPr>
            <a:r>
              <a:rPr lang="es-ES" sz="1600" dirty="0">
                <a:latin typeface="Arial" panose="020B0604020202020204" pitchFamily="34" charset="0"/>
                <a:ea typeface="Aptos" panose="020B0004020202020204" pitchFamily="34" charset="0"/>
                <a:cs typeface="Arial" panose="020B0604020202020204" pitchFamily="34" charset="0"/>
              </a:rPr>
              <a:t>4. También se define un botón para enviar la solicitud al administrador.</a:t>
            </a: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5. Del lado derecho, tal cómo se especifica en la estructura se encontrarán el estado de las solicitudes.</a:t>
            </a: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DE7C5F73-5B99-4E28-9ED0-7B4DBE65391E}"/>
              </a:ext>
            </a:extLst>
          </p:cNvPr>
          <p:cNvPicPr>
            <a:picLocks noChangeAspect="1"/>
          </p:cNvPicPr>
          <p:nvPr/>
        </p:nvPicPr>
        <p:blipFill>
          <a:blip r:embed="rId2"/>
          <a:stretch>
            <a:fillRect/>
          </a:stretch>
        </p:blipFill>
        <p:spPr>
          <a:xfrm>
            <a:off x="5583552" y="730012"/>
            <a:ext cx="5770248" cy="5397975"/>
          </a:xfrm>
          <a:prstGeom prst="rect">
            <a:avLst/>
          </a:prstGeom>
        </p:spPr>
      </p:pic>
    </p:spTree>
    <p:extLst>
      <p:ext uri="{BB962C8B-B14F-4D97-AF65-F5344CB8AC3E}">
        <p14:creationId xmlns:p14="http://schemas.microsoft.com/office/powerpoint/2010/main" val="4269426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16</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644559" y="1388587"/>
            <a:ext cx="5641941" cy="3883627"/>
          </a:xfrm>
          <a:prstGeom prst="rect">
            <a:avLst/>
          </a:prstGeom>
          <a:noFill/>
        </p:spPr>
        <p:txBody>
          <a:bodyPr wrap="square">
            <a:spAutoFit/>
          </a:bodyPr>
          <a:lstStyle/>
          <a:p>
            <a:pPr algn="just">
              <a:lnSpc>
                <a:spcPct val="150000"/>
              </a:lnSpc>
              <a:spcAft>
                <a:spcPts val="800"/>
              </a:spcAft>
              <a:buNone/>
            </a:pPr>
            <a:endParaRPr lang="es-MX" sz="1600"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6. Este CSS se encarga de darle estilo y organización visual.</a:t>
            </a:r>
            <a:endParaRPr lang="es-ES" sz="1600" dirty="0">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latin typeface="Arial" panose="020B0604020202020204" pitchFamily="34" charset="0"/>
                <a:ea typeface="Aptos" panose="020B0004020202020204" pitchFamily="34" charset="0"/>
                <a:cs typeface="Arial" panose="020B0604020202020204" pitchFamily="34" charset="0"/>
              </a:rPr>
              <a:t>7. </a:t>
            </a:r>
            <a:r>
              <a:rPr lang="es-MX" sz="1600" dirty="0">
                <a:latin typeface="Arial" panose="020B0604020202020204" pitchFamily="34" charset="0"/>
                <a:ea typeface="Aptos" panose="020B0004020202020204" pitchFamily="34" charset="0"/>
                <a:cs typeface="Arial" panose="020B0604020202020204" pitchFamily="34" charset="0"/>
              </a:rPr>
              <a:t>Define la fuente de toda la aplicación.</a:t>
            </a:r>
          </a:p>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8. Se utilizó </a:t>
            </a:r>
            <a:r>
              <a:rPr lang="es-MX" sz="1600" dirty="0" err="1">
                <a:latin typeface="Arial" panose="020B0604020202020204" pitchFamily="34" charset="0"/>
                <a:ea typeface="Aptos" panose="020B0004020202020204" pitchFamily="34" charset="0"/>
                <a:cs typeface="Arial" panose="020B0604020202020204" pitchFamily="34" charset="0"/>
              </a:rPr>
              <a:t>Flexbox</a:t>
            </a:r>
            <a:r>
              <a:rPr lang="es-MX" sz="1600" dirty="0">
                <a:latin typeface="Arial" panose="020B0604020202020204" pitchFamily="34" charset="0"/>
                <a:ea typeface="Aptos" panose="020B0004020202020204" pitchFamily="34" charset="0"/>
                <a:cs typeface="Arial" panose="020B0604020202020204" pitchFamily="34" charset="0"/>
              </a:rPr>
              <a:t> para dividir la pantalla en dos columnas para tener dos paneles.</a:t>
            </a:r>
          </a:p>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9. También se organizaron los elementos del formulario en columnas.</a:t>
            </a:r>
          </a:p>
          <a:p>
            <a:pPr algn="just">
              <a:lnSpc>
                <a:spcPct val="150000"/>
              </a:lnSpc>
              <a:spcAft>
                <a:spcPts val="800"/>
              </a:spcAft>
              <a:buNone/>
            </a:pPr>
            <a:endParaRPr lang="es-MX" sz="1600" dirty="0">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6E352029-B04B-472D-B486-31B29EF99272}"/>
              </a:ext>
            </a:extLst>
          </p:cNvPr>
          <p:cNvPicPr>
            <a:picLocks noChangeAspect="1"/>
          </p:cNvPicPr>
          <p:nvPr/>
        </p:nvPicPr>
        <p:blipFill rotWithShape="1">
          <a:blip r:embed="rId2"/>
          <a:srcRect r="30522"/>
          <a:stretch/>
        </p:blipFill>
        <p:spPr>
          <a:xfrm>
            <a:off x="6771763" y="395741"/>
            <a:ext cx="5096387" cy="5544324"/>
          </a:xfrm>
          <a:prstGeom prst="rect">
            <a:avLst/>
          </a:prstGeom>
        </p:spPr>
      </p:pic>
    </p:spTree>
    <p:extLst>
      <p:ext uri="{BB962C8B-B14F-4D97-AF65-F5344CB8AC3E}">
        <p14:creationId xmlns:p14="http://schemas.microsoft.com/office/powerpoint/2010/main" val="1628522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17</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990601" y="1098649"/>
            <a:ext cx="4572000" cy="4150367"/>
          </a:xfrm>
          <a:prstGeom prst="rect">
            <a:avLst/>
          </a:prstGeom>
          <a:noFill/>
        </p:spPr>
        <p:txBody>
          <a:bodyPr wrap="square">
            <a:spAutoFit/>
          </a:bodyPr>
          <a:lstStyle/>
          <a:p>
            <a:pPr algn="just">
              <a:lnSpc>
                <a:spcPct val="150000"/>
              </a:lnSpc>
              <a:spcAft>
                <a:spcPts val="800"/>
              </a:spcAft>
              <a:buNone/>
            </a:pPr>
            <a:endParaRPr lang="es-MX" sz="1600"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latin typeface="Arial" panose="020B0604020202020204" pitchFamily="34" charset="0"/>
                <a:ea typeface="Aptos" panose="020B0004020202020204" pitchFamily="34" charset="0"/>
                <a:cs typeface="Arial" panose="020B0604020202020204" pitchFamily="34" charset="0"/>
              </a:rPr>
              <a:t>1. Hasta el momento aún no se le ha agregado lógica a esta pantalla.</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2. Según se observa en la imagen se declaran los archivos relacionados a</a:t>
            </a:r>
            <a:r>
              <a:rPr lang="es-MX" sz="1600" dirty="0">
                <a:latin typeface="Arial" panose="020B0604020202020204" pitchFamily="34" charset="0"/>
                <a:ea typeface="Aptos" panose="020B0004020202020204" pitchFamily="34" charset="0"/>
                <a:cs typeface="Arial" panose="020B0604020202020204" pitchFamily="34" charset="0"/>
              </a:rPr>
              <a:t>l componente alumno, incluyendo el archivo CSS y HTML.</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3. Más adelante se le agregará funcionalidad a los botones y los elementos implementados en esta pantalla, relacionada al perfil de alumno.</a:t>
            </a:r>
            <a:endParaRPr lang="es-ES"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CAA0F567-667A-4233-A493-14A0E793911C}"/>
              </a:ext>
            </a:extLst>
          </p:cNvPr>
          <p:cNvPicPr>
            <a:picLocks noChangeAspect="1"/>
          </p:cNvPicPr>
          <p:nvPr/>
        </p:nvPicPr>
        <p:blipFill rotWithShape="1">
          <a:blip r:embed="rId2"/>
          <a:srcRect r="19070"/>
          <a:stretch/>
        </p:blipFill>
        <p:spPr>
          <a:xfrm>
            <a:off x="6248332" y="1673138"/>
            <a:ext cx="5241959" cy="3001390"/>
          </a:xfrm>
          <a:prstGeom prst="rect">
            <a:avLst/>
          </a:prstGeom>
        </p:spPr>
      </p:pic>
    </p:spTree>
    <p:extLst>
      <p:ext uri="{BB962C8B-B14F-4D97-AF65-F5344CB8AC3E}">
        <p14:creationId xmlns:p14="http://schemas.microsoft.com/office/powerpoint/2010/main" val="1453646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18</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1578009" y="1140937"/>
            <a:ext cx="9305144" cy="3575851"/>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Conclusión</a:t>
            </a:r>
          </a:p>
          <a:p>
            <a:pPr algn="just">
              <a:lnSpc>
                <a:spcPct val="150000"/>
              </a:lnSpc>
              <a:spcAft>
                <a:spcPts val="800"/>
              </a:spcAft>
              <a:buNone/>
            </a:pPr>
            <a:r>
              <a:rPr lang="es-MX" sz="1600" dirty="0">
                <a:effectLst/>
                <a:latin typeface="Arial" panose="020B0604020202020204" pitchFamily="34" charset="0"/>
                <a:ea typeface="Calibri" panose="020F0502020204030204" pitchFamily="34" charset="0"/>
                <a:cs typeface="Arial" panose="020B0604020202020204" pitchFamily="34" charset="0"/>
              </a:rPr>
              <a:t>En este primer avance del desarrollo de la aplicación web, se logró establecer la estructura base del proyecto utilizando Angular, como se pudo observar en este documento se ha trabajado únicamente con el </a:t>
            </a:r>
            <a:r>
              <a:rPr lang="es-MX" sz="1600" dirty="0" err="1">
                <a:effectLst/>
                <a:latin typeface="Arial" panose="020B0604020202020204" pitchFamily="34" charset="0"/>
                <a:ea typeface="Calibri" panose="020F0502020204030204" pitchFamily="34" charset="0"/>
                <a:cs typeface="Arial" panose="020B0604020202020204" pitchFamily="34" charset="0"/>
              </a:rPr>
              <a:t>Frontend</a:t>
            </a:r>
            <a:r>
              <a:rPr lang="es-MX" sz="1600" dirty="0">
                <a:latin typeface="Arial" panose="020B0604020202020204" pitchFamily="34" charset="0"/>
                <a:ea typeface="Calibri" panose="020F0502020204030204" pitchFamily="34" charset="0"/>
                <a:cs typeface="Arial" panose="020B0604020202020204" pitchFamily="34" charset="0"/>
              </a:rPr>
              <a:t>, esto incluye </a:t>
            </a:r>
            <a:r>
              <a:rPr lang="es-MX" sz="1600" dirty="0">
                <a:effectLst/>
                <a:latin typeface="Arial" panose="020B0604020202020204" pitchFamily="34" charset="0"/>
                <a:ea typeface="Calibri" panose="020F0502020204030204" pitchFamily="34" charset="0"/>
                <a:cs typeface="Arial" panose="020B0604020202020204" pitchFamily="34" charset="0"/>
              </a:rPr>
              <a:t>las primeras pantallas, como bienvenida, selección de perfil y </a:t>
            </a:r>
            <a:r>
              <a:rPr lang="es-MX" sz="1600" dirty="0" err="1">
                <a:effectLst/>
                <a:latin typeface="Arial" panose="020B0604020202020204" pitchFamily="34" charset="0"/>
                <a:ea typeface="Calibri" panose="020F0502020204030204" pitchFamily="34" charset="0"/>
                <a:cs typeface="Arial" panose="020B0604020202020204" pitchFamily="34" charset="0"/>
              </a:rPr>
              <a:t>login</a:t>
            </a:r>
            <a:r>
              <a:rPr lang="es-MX" sz="1600" dirty="0">
                <a:effectLst/>
                <a:latin typeface="Arial" panose="020B0604020202020204" pitchFamily="34" charset="0"/>
                <a:ea typeface="Calibri" panose="020F0502020204030204" pitchFamily="34" charset="0"/>
                <a:cs typeface="Arial" panose="020B0604020202020204" pitchFamily="34" charset="0"/>
              </a:rPr>
              <a:t>.</a:t>
            </a:r>
          </a:p>
          <a:p>
            <a:pPr algn="just">
              <a:lnSpc>
                <a:spcPct val="150000"/>
              </a:lnSpc>
              <a:spcAft>
                <a:spcPts val="800"/>
              </a:spcAft>
              <a:buNone/>
            </a:pPr>
            <a:r>
              <a:rPr lang="es-MX" sz="1600" dirty="0">
                <a:effectLst/>
                <a:latin typeface="Arial" panose="020B0604020202020204" pitchFamily="34" charset="0"/>
                <a:ea typeface="Calibri" panose="020F0502020204030204" pitchFamily="34" charset="0"/>
                <a:cs typeface="Arial" panose="020B0604020202020204" pitchFamily="34" charset="0"/>
              </a:rPr>
              <a:t>Este avance define la organización del proyecto y la interacción básica del usuario con la aplicación. Durante el desarrollo de esta actividad se aplicaron los conceptos vistos en esta y otras asignaturas, principalmente el uso del </a:t>
            </a:r>
            <a:r>
              <a:rPr lang="es-MX" sz="1600" dirty="0" err="1">
                <a:effectLst/>
                <a:latin typeface="Arial" panose="020B0604020202020204" pitchFamily="34" charset="0"/>
                <a:ea typeface="Calibri" panose="020F0502020204030204" pitchFamily="34" charset="0"/>
                <a:cs typeface="Arial" panose="020B0604020202020204" pitchFamily="34" charset="0"/>
              </a:rPr>
              <a:t>framework</a:t>
            </a:r>
            <a:r>
              <a:rPr lang="es-MX" sz="1600" dirty="0">
                <a:effectLst/>
                <a:latin typeface="Arial" panose="020B0604020202020204" pitchFamily="34" charset="0"/>
                <a:ea typeface="Calibri" panose="020F0502020204030204" pitchFamily="34" charset="0"/>
                <a:cs typeface="Arial" panose="020B0604020202020204" pitchFamily="34" charset="0"/>
              </a:rPr>
              <a:t> Angular basado en componentes, el manejo de rutas y la construcción de interfaces utilizando HTML, CSS y </a:t>
            </a:r>
            <a:r>
              <a:rPr lang="es-MX" sz="1600" dirty="0" err="1">
                <a:effectLst/>
                <a:latin typeface="Arial" panose="020B0604020202020204" pitchFamily="34" charset="0"/>
                <a:ea typeface="Calibri" panose="020F0502020204030204" pitchFamily="34" charset="0"/>
                <a:cs typeface="Arial" panose="020B0604020202020204" pitchFamily="34" charset="0"/>
              </a:rPr>
              <a:t>TypeScript</a:t>
            </a:r>
            <a:r>
              <a:rPr lang="es-MX" sz="1600" dirty="0">
                <a:effectLst/>
                <a:latin typeface="Arial" panose="020B0604020202020204" pitchFamily="34" charset="0"/>
                <a:ea typeface="Calibri" panose="020F0502020204030204" pitchFamily="34" charset="0"/>
                <a:cs typeface="Arial" panose="020B0604020202020204" pitchFamily="34" charset="0"/>
              </a:rPr>
              <a:t>. Partiendo del </a:t>
            </a:r>
            <a:r>
              <a:rPr lang="es-MX" sz="1600" dirty="0" err="1">
                <a:effectLst/>
                <a:latin typeface="Arial" panose="020B0604020202020204" pitchFamily="34" charset="0"/>
                <a:ea typeface="Calibri" panose="020F0502020204030204" pitchFamily="34" charset="0"/>
                <a:cs typeface="Arial" panose="020B0604020202020204" pitchFamily="34" charset="0"/>
              </a:rPr>
              <a:t>Frontend</a:t>
            </a:r>
            <a:r>
              <a:rPr lang="es-MX" sz="1600" dirty="0">
                <a:effectLst/>
                <a:latin typeface="Arial" panose="020B0604020202020204" pitchFamily="34" charset="0"/>
                <a:ea typeface="Calibri" panose="020F0502020204030204" pitchFamily="34" charset="0"/>
                <a:cs typeface="Arial" panose="020B0604020202020204" pitchFamily="34" charset="0"/>
              </a:rPr>
              <a:t> se podrá seguir avanzando con el proyecto.</a:t>
            </a: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682386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fld id="{EC4A6827-6711-499C-91D6-E14C610205BC}" type="slidenum">
              <a:rPr lang="es-MX" smtClean="0"/>
              <a:t>19</a:t>
            </a:fld>
            <a:endParaRPr lang="es-MX"/>
          </a:p>
        </p:txBody>
      </p:sp>
      <p:sp>
        <p:nvSpPr>
          <p:cNvPr id="3" name="CuadroTexto 2">
            <a:extLst>
              <a:ext uri="{FF2B5EF4-FFF2-40B4-BE49-F238E27FC236}">
                <a16:creationId xmlns:a16="http://schemas.microsoft.com/office/drawing/2014/main" id="{7D099288-14DC-4D2E-9B0E-65867B883FA9}"/>
              </a:ext>
            </a:extLst>
          </p:cNvPr>
          <p:cNvSpPr txBox="1"/>
          <p:nvPr/>
        </p:nvSpPr>
        <p:spPr>
          <a:xfrm>
            <a:off x="1591456" y="815859"/>
            <a:ext cx="9305144" cy="5540491"/>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Fuentes consultadas</a:t>
            </a:r>
          </a:p>
          <a:p>
            <a:pPr algn="just">
              <a:lnSpc>
                <a:spcPct val="150000"/>
              </a:lnSpc>
              <a:spcAft>
                <a:spcPts val="800"/>
              </a:spcAft>
              <a:buNone/>
            </a:pPr>
            <a:endParaRPr lang="es-MX" sz="1600"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Soy </a:t>
            </a:r>
            <a:r>
              <a:rPr lang="es-MX" sz="1600" dirty="0" err="1">
                <a:effectLst/>
                <a:latin typeface="Arial" panose="020B0604020202020204" pitchFamily="34" charset="0"/>
                <a:ea typeface="Aptos" panose="020B0004020202020204" pitchFamily="34" charset="0"/>
                <a:cs typeface="Arial" panose="020B0604020202020204" pitchFamily="34" charset="0"/>
              </a:rPr>
              <a:t>Dalto</a:t>
            </a:r>
            <a:r>
              <a:rPr lang="es-MX" sz="1600" dirty="0">
                <a:effectLst/>
                <a:latin typeface="Arial" panose="020B0604020202020204" pitchFamily="34" charset="0"/>
                <a:ea typeface="Aptos" panose="020B0004020202020204" pitchFamily="34" charset="0"/>
                <a:cs typeface="Arial" panose="020B0604020202020204" pitchFamily="34" charset="0"/>
              </a:rPr>
              <a:t>. (2024, 17 marzo). Curso de HTML y CSS desde CERO (Completo) [Vídeo]. YouTube. </a:t>
            </a:r>
            <a:r>
              <a:rPr lang="es-MX" sz="1600" dirty="0">
                <a:effectLst/>
                <a:latin typeface="Arial" panose="020B0604020202020204" pitchFamily="34" charset="0"/>
                <a:ea typeface="Aptos" panose="020B0004020202020204" pitchFamily="34" charset="0"/>
                <a:cs typeface="Arial" panose="020B0604020202020204" pitchFamily="34" charset="0"/>
                <a:hlinkClick r:id="rId2"/>
              </a:rPr>
              <a:t>https://www.youtube.com/watch?v=ELSm-G201Ls</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Uso y aplicación de las tecnologías de desarrollo web(Cristian Escobedo, comunicación personal, 26 de abril de 2024).</a:t>
            </a:r>
          </a:p>
          <a:p>
            <a:pPr algn="just">
              <a:lnSpc>
                <a:spcPct val="150000"/>
              </a:lnSpc>
              <a:spcAft>
                <a:spcPts val="800"/>
              </a:spcAft>
              <a:buNone/>
            </a:pPr>
            <a:endParaRPr lang="es-MX" sz="1600"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endParaRPr lang="es-MX" b="1" dirty="0">
              <a:latin typeface="Arial" panose="020B060402020202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MX" b="1" dirty="0">
                <a:latin typeface="Arial" panose="020B0604020202020204" pitchFamily="34" charset="0"/>
                <a:ea typeface="Calibri" panose="020F0502020204030204" pitchFamily="34" charset="0"/>
                <a:cs typeface="Times New Roman" panose="02020603050405020304" pitchFamily="18" charset="0"/>
              </a:rPr>
              <a:t>E</a:t>
            </a:r>
            <a:r>
              <a:rPr lang="es-MX" sz="1800" b="1" dirty="0">
                <a:effectLst/>
                <a:latin typeface="Arial" panose="020B0604020202020204" pitchFamily="34" charset="0"/>
                <a:ea typeface="Calibri" panose="020F0502020204030204" pitchFamily="34" charset="0"/>
                <a:cs typeface="Times New Roman" panose="02020603050405020304" pitchFamily="18" charset="0"/>
              </a:rPr>
              <a:t>nlace a Git: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https://github.com/yoselinescobedolopez/Programacion_web.git</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buNone/>
            </a:pP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21673761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569</TotalTime>
  <Words>1271</Words>
  <Application>Microsoft Office PowerPoint</Application>
  <PresentationFormat>Panorámica</PresentationFormat>
  <Paragraphs>110</Paragraphs>
  <Slides>19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26</cp:revision>
  <dcterms:created xsi:type="dcterms:W3CDTF">2026-05-04T22:07:42Z</dcterms:created>
  <dcterms:modified xsi:type="dcterms:W3CDTF">2026-05-30T08:03:33Z</dcterms:modified>
</cp:coreProperties>
</file>