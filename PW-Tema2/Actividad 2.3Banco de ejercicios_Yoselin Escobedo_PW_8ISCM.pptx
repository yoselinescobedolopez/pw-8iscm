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1" r:id="rId3"/>
    <p:sldId id="262" r:id="rId4"/>
    <p:sldId id="263" r:id="rId5"/>
    <p:sldId id="264" r:id="rId6"/>
    <p:sldId id="265" r:id="rId7"/>
    <p:sldId id="266" r:id="rId8"/>
    <p:sldId id="268" r:id="rId9"/>
    <p:sldId id="267" r:id="rId10"/>
    <p:sldId id="269" r:id="rId11"/>
    <p:sldId id="272" r:id="rId12"/>
    <p:sldId id="274" r:id="rId1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5" d="100"/>
          <a:sy n="75" d="100"/>
        </p:scale>
        <p:origin x="54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C2DCD-AC8A-449F-8B6B-BF54A68B454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53BB7105-F4B5-48B9-9492-1CFE864DF2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B8851AB1-5EA5-4092-A6A7-77546AF3F78E}"/>
              </a:ext>
            </a:extLst>
          </p:cNvPr>
          <p:cNvSpPr>
            <a:spLocks noGrp="1"/>
          </p:cNvSpPr>
          <p:nvPr>
            <p:ph type="dt" sz="half" idx="10"/>
          </p:nvPr>
        </p:nvSpPr>
        <p:spPr/>
        <p:txBody>
          <a:bodyPr/>
          <a:lstStyle/>
          <a:p>
            <a:fld id="{2EDA4892-F101-4625-A5E4-A07C38D8A44F}" type="datetime1">
              <a:rPr lang="es-MX" smtClean="0"/>
              <a:t>30/05/2026</a:t>
            </a:fld>
            <a:endParaRPr lang="es-MX"/>
          </a:p>
        </p:txBody>
      </p:sp>
      <p:sp>
        <p:nvSpPr>
          <p:cNvPr id="5" name="Marcador de pie de página 4">
            <a:extLst>
              <a:ext uri="{FF2B5EF4-FFF2-40B4-BE49-F238E27FC236}">
                <a16:creationId xmlns:a16="http://schemas.microsoft.com/office/drawing/2014/main" id="{1528A527-841C-48D7-9023-3B22FB0EA3A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61BA832-955B-4C1C-ACE2-DBFCAC872B2A}"/>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44628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EA191A-A004-4ACC-A7E4-9869F8A8F3B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60295D4-71A2-4340-8242-727F4354F5C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959995C-43A4-4E8C-B7DA-4C83C1BF8231}"/>
              </a:ext>
            </a:extLst>
          </p:cNvPr>
          <p:cNvSpPr>
            <a:spLocks noGrp="1"/>
          </p:cNvSpPr>
          <p:nvPr>
            <p:ph type="dt" sz="half" idx="10"/>
          </p:nvPr>
        </p:nvSpPr>
        <p:spPr/>
        <p:txBody>
          <a:bodyPr/>
          <a:lstStyle/>
          <a:p>
            <a:fld id="{F5BB46FB-B9D9-479C-AB82-3D0BCED6B875}" type="datetime1">
              <a:rPr lang="es-MX" smtClean="0"/>
              <a:t>30/05/2026</a:t>
            </a:fld>
            <a:endParaRPr lang="es-MX"/>
          </a:p>
        </p:txBody>
      </p:sp>
      <p:sp>
        <p:nvSpPr>
          <p:cNvPr id="5" name="Marcador de pie de página 4">
            <a:extLst>
              <a:ext uri="{FF2B5EF4-FFF2-40B4-BE49-F238E27FC236}">
                <a16:creationId xmlns:a16="http://schemas.microsoft.com/office/drawing/2014/main" id="{BB976FA6-467E-48EB-9E30-01FC48CDCB1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448C06C-278A-4110-8A82-46FA38F281E2}"/>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184405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10E0EC-5487-4690-8752-1AC0B2BCE24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C931B0-47BC-449A-B9F0-2AFAE658C1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B547297-227A-4308-AC01-5EE97D30918D}"/>
              </a:ext>
            </a:extLst>
          </p:cNvPr>
          <p:cNvSpPr>
            <a:spLocks noGrp="1"/>
          </p:cNvSpPr>
          <p:nvPr>
            <p:ph type="dt" sz="half" idx="10"/>
          </p:nvPr>
        </p:nvSpPr>
        <p:spPr/>
        <p:txBody>
          <a:bodyPr/>
          <a:lstStyle/>
          <a:p>
            <a:fld id="{AFB5A942-B43D-49E7-95B3-2758E198ADCE}" type="datetime1">
              <a:rPr lang="es-MX" smtClean="0"/>
              <a:t>30/05/2026</a:t>
            </a:fld>
            <a:endParaRPr lang="es-MX"/>
          </a:p>
        </p:txBody>
      </p:sp>
      <p:sp>
        <p:nvSpPr>
          <p:cNvPr id="5" name="Marcador de pie de página 4">
            <a:extLst>
              <a:ext uri="{FF2B5EF4-FFF2-40B4-BE49-F238E27FC236}">
                <a16:creationId xmlns:a16="http://schemas.microsoft.com/office/drawing/2014/main" id="{A99CDE20-3BE9-484D-866D-20CCC8D3E6F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C791FF6-E693-4506-976B-9C837A1DF916}"/>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379353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1E57B-7FAF-4FF0-B7A7-F4D35109D1A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42F37D2-2597-4D1A-B5BD-CE34F4C94D7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EC009A9-9921-466E-A087-E32790D830D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11D5E3CD-F50B-4B9D-8A96-84E1B41AAFC8}"/>
              </a:ext>
            </a:extLst>
          </p:cNvPr>
          <p:cNvSpPr>
            <a:spLocks noGrp="1"/>
          </p:cNvSpPr>
          <p:nvPr>
            <p:ph type="dt" sz="half" idx="10"/>
          </p:nvPr>
        </p:nvSpPr>
        <p:spPr/>
        <p:txBody>
          <a:bodyPr/>
          <a:lstStyle/>
          <a:p>
            <a:fld id="{64256CE1-E045-44F0-808D-A877973E67B5}" type="datetime1">
              <a:rPr lang="es-MX" smtClean="0"/>
              <a:t>30/05/2026</a:t>
            </a:fld>
            <a:endParaRPr lang="es-MX"/>
          </a:p>
        </p:txBody>
      </p:sp>
      <p:sp>
        <p:nvSpPr>
          <p:cNvPr id="6" name="Marcador de pie de página 5">
            <a:extLst>
              <a:ext uri="{FF2B5EF4-FFF2-40B4-BE49-F238E27FC236}">
                <a16:creationId xmlns:a16="http://schemas.microsoft.com/office/drawing/2014/main" id="{1AF5FDA7-1722-499C-BE43-31BF162C1A1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FAE19A0-C731-468E-B322-6AFD9590050C}"/>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465424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573388-20B4-4B4D-943A-1A84E6070E9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6A7C44A-C018-43A4-8B98-B58C66DE2B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0371149-191F-437C-9E31-C38889A4B2C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E77189FE-9214-4887-AECD-D58B07DBB9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61C7D89-F676-41C1-8137-9CADC7939B4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7ECBE8C5-D2D9-4984-85D5-49477B8FA3D5}"/>
              </a:ext>
            </a:extLst>
          </p:cNvPr>
          <p:cNvSpPr>
            <a:spLocks noGrp="1"/>
          </p:cNvSpPr>
          <p:nvPr>
            <p:ph type="dt" sz="half" idx="10"/>
          </p:nvPr>
        </p:nvSpPr>
        <p:spPr/>
        <p:txBody>
          <a:bodyPr/>
          <a:lstStyle/>
          <a:p>
            <a:fld id="{7AC624B0-6C3A-4E9C-9018-060CE63D804E}" type="datetime1">
              <a:rPr lang="es-MX" smtClean="0"/>
              <a:t>30/05/2026</a:t>
            </a:fld>
            <a:endParaRPr lang="es-MX"/>
          </a:p>
        </p:txBody>
      </p:sp>
      <p:sp>
        <p:nvSpPr>
          <p:cNvPr id="8" name="Marcador de pie de página 7">
            <a:extLst>
              <a:ext uri="{FF2B5EF4-FFF2-40B4-BE49-F238E27FC236}">
                <a16:creationId xmlns:a16="http://schemas.microsoft.com/office/drawing/2014/main" id="{2D7C5BED-6910-40D3-AFA5-EF145FCEBEC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1F61E42-5E4B-4FEE-AFDD-E1247A974B75}"/>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346787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B41831-2C98-460B-AD33-5FE8D9170F0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5644DD64-B05B-4C1D-92C1-DA57D6884A3C}"/>
              </a:ext>
            </a:extLst>
          </p:cNvPr>
          <p:cNvSpPr>
            <a:spLocks noGrp="1"/>
          </p:cNvSpPr>
          <p:nvPr>
            <p:ph type="dt" sz="half" idx="10"/>
          </p:nvPr>
        </p:nvSpPr>
        <p:spPr/>
        <p:txBody>
          <a:bodyPr/>
          <a:lstStyle/>
          <a:p>
            <a:fld id="{6DB3175C-6B69-465A-ABBB-F0D1B03AF1F0}" type="datetime1">
              <a:rPr lang="es-MX" smtClean="0"/>
              <a:t>30/05/2026</a:t>
            </a:fld>
            <a:endParaRPr lang="es-MX"/>
          </a:p>
        </p:txBody>
      </p:sp>
      <p:sp>
        <p:nvSpPr>
          <p:cNvPr id="4" name="Marcador de pie de página 3">
            <a:extLst>
              <a:ext uri="{FF2B5EF4-FFF2-40B4-BE49-F238E27FC236}">
                <a16:creationId xmlns:a16="http://schemas.microsoft.com/office/drawing/2014/main" id="{56B981B8-AE69-428A-B794-A01FC27747AB}"/>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601B8BD4-D0AA-4F35-9912-000A6A80919E}"/>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1579576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9710AA4-FE97-4196-B1EF-2A6C309D7FCC}"/>
              </a:ext>
            </a:extLst>
          </p:cNvPr>
          <p:cNvSpPr>
            <a:spLocks noGrp="1"/>
          </p:cNvSpPr>
          <p:nvPr>
            <p:ph type="dt" sz="half" idx="10"/>
          </p:nvPr>
        </p:nvSpPr>
        <p:spPr/>
        <p:txBody>
          <a:bodyPr/>
          <a:lstStyle/>
          <a:p>
            <a:fld id="{21DC474C-EFFB-40DA-A710-E84AA168EA17}" type="datetime1">
              <a:rPr lang="es-MX" smtClean="0"/>
              <a:t>30/05/2026</a:t>
            </a:fld>
            <a:endParaRPr lang="es-MX"/>
          </a:p>
        </p:txBody>
      </p:sp>
      <p:sp>
        <p:nvSpPr>
          <p:cNvPr id="3" name="Marcador de pie de página 2">
            <a:extLst>
              <a:ext uri="{FF2B5EF4-FFF2-40B4-BE49-F238E27FC236}">
                <a16:creationId xmlns:a16="http://schemas.microsoft.com/office/drawing/2014/main" id="{1EDD75C2-48F9-4A34-A144-438E4E36DAF8}"/>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C34D066D-F48D-4ED2-BB23-0B02471F95E6}"/>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700811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6EE4BB-82F7-48D2-B765-0C407BAB937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18C936E-C0F2-44C9-9867-1895093C2C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77287E58-CA61-406D-9915-CE96E1AD60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DD64CC4-37F3-430A-B755-3981B50635ED}"/>
              </a:ext>
            </a:extLst>
          </p:cNvPr>
          <p:cNvSpPr>
            <a:spLocks noGrp="1"/>
          </p:cNvSpPr>
          <p:nvPr>
            <p:ph type="dt" sz="half" idx="10"/>
          </p:nvPr>
        </p:nvSpPr>
        <p:spPr/>
        <p:txBody>
          <a:bodyPr/>
          <a:lstStyle/>
          <a:p>
            <a:fld id="{F7805E6D-8F13-4503-9C07-1989A9AEC7D2}" type="datetime1">
              <a:rPr lang="es-MX" smtClean="0"/>
              <a:t>30/05/2026</a:t>
            </a:fld>
            <a:endParaRPr lang="es-MX"/>
          </a:p>
        </p:txBody>
      </p:sp>
      <p:sp>
        <p:nvSpPr>
          <p:cNvPr id="6" name="Marcador de pie de página 5">
            <a:extLst>
              <a:ext uri="{FF2B5EF4-FFF2-40B4-BE49-F238E27FC236}">
                <a16:creationId xmlns:a16="http://schemas.microsoft.com/office/drawing/2014/main" id="{3A4289FA-6025-42C6-ADEF-390811F93FF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DD37AAA-FECB-4045-BCBF-C62CFD0DC5B2}"/>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784565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C1A7A3-54EC-492A-B1E3-4AA38494DA1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B4D3CBAA-70ED-458A-A5C7-042136290D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FF3BCADC-C214-407F-A166-86FF8AFED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AF6BDCB-EDF3-4D55-ADB2-33A1B274E918}"/>
              </a:ext>
            </a:extLst>
          </p:cNvPr>
          <p:cNvSpPr>
            <a:spLocks noGrp="1"/>
          </p:cNvSpPr>
          <p:nvPr>
            <p:ph type="dt" sz="half" idx="10"/>
          </p:nvPr>
        </p:nvSpPr>
        <p:spPr/>
        <p:txBody>
          <a:bodyPr/>
          <a:lstStyle/>
          <a:p>
            <a:fld id="{F636BF31-3AD6-4D3B-B0E3-8F36759267AA}" type="datetime1">
              <a:rPr lang="es-MX" smtClean="0"/>
              <a:t>30/05/2026</a:t>
            </a:fld>
            <a:endParaRPr lang="es-MX"/>
          </a:p>
        </p:txBody>
      </p:sp>
      <p:sp>
        <p:nvSpPr>
          <p:cNvPr id="6" name="Marcador de pie de página 5">
            <a:extLst>
              <a:ext uri="{FF2B5EF4-FFF2-40B4-BE49-F238E27FC236}">
                <a16:creationId xmlns:a16="http://schemas.microsoft.com/office/drawing/2014/main" id="{45DE1DA8-DAEB-4105-A6F4-4237CB7AA72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BDEC9FA-8053-47E1-84A9-5C010B809527}"/>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1113282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C5136-58E4-4D50-ABA7-AEF24858B22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63F3E1B-09E8-4C21-A572-C7CB386AE70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98F2573-EE02-42FA-999A-E6C15072AE00}"/>
              </a:ext>
            </a:extLst>
          </p:cNvPr>
          <p:cNvSpPr>
            <a:spLocks noGrp="1"/>
          </p:cNvSpPr>
          <p:nvPr>
            <p:ph type="dt" sz="half" idx="10"/>
          </p:nvPr>
        </p:nvSpPr>
        <p:spPr/>
        <p:txBody>
          <a:bodyPr/>
          <a:lstStyle/>
          <a:p>
            <a:fld id="{9E4C34DB-F73A-4965-AFB7-6DE503A47719}" type="datetime1">
              <a:rPr lang="es-MX" smtClean="0"/>
              <a:t>30/05/2026</a:t>
            </a:fld>
            <a:endParaRPr lang="es-MX"/>
          </a:p>
        </p:txBody>
      </p:sp>
      <p:sp>
        <p:nvSpPr>
          <p:cNvPr id="5" name="Marcador de pie de página 4">
            <a:extLst>
              <a:ext uri="{FF2B5EF4-FFF2-40B4-BE49-F238E27FC236}">
                <a16:creationId xmlns:a16="http://schemas.microsoft.com/office/drawing/2014/main" id="{421ED450-3AE5-4FF3-85C4-D05B7C7D251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730AECC-21CB-45C1-A0BE-6C4F8559F377}"/>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1667808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7593D92-0149-4C30-8F32-2FB45357E71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74265086-F3C6-4C0E-948D-6098979540A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E7CAFC2-9B76-4329-A360-EDC068ACC448}"/>
              </a:ext>
            </a:extLst>
          </p:cNvPr>
          <p:cNvSpPr>
            <a:spLocks noGrp="1"/>
          </p:cNvSpPr>
          <p:nvPr>
            <p:ph type="dt" sz="half" idx="10"/>
          </p:nvPr>
        </p:nvSpPr>
        <p:spPr/>
        <p:txBody>
          <a:bodyPr/>
          <a:lstStyle/>
          <a:p>
            <a:fld id="{1D488CB8-AA30-49B4-BDDC-8B94F5BB8EF5}" type="datetime1">
              <a:rPr lang="es-MX" smtClean="0"/>
              <a:t>30/05/2026</a:t>
            </a:fld>
            <a:endParaRPr lang="es-MX"/>
          </a:p>
        </p:txBody>
      </p:sp>
      <p:sp>
        <p:nvSpPr>
          <p:cNvPr id="5" name="Marcador de pie de página 4">
            <a:extLst>
              <a:ext uri="{FF2B5EF4-FFF2-40B4-BE49-F238E27FC236}">
                <a16:creationId xmlns:a16="http://schemas.microsoft.com/office/drawing/2014/main" id="{8CD1CFF8-6936-4283-8104-F6CE0CEE0DD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01C631-B822-40DE-80CA-54EF54773D83}"/>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454657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454B1E2-0AC7-496A-BEFA-96D3257DC3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E087CF1-8B2C-49E2-AFC5-A64F9C12A5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3D5F78A-4156-447D-BEF5-C5C2F7FFA7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C910CC-05AD-4AC7-A46A-30C8A29E44CC}" type="datetime1">
              <a:rPr lang="es-MX" smtClean="0"/>
              <a:t>30/05/2026</a:t>
            </a:fld>
            <a:endParaRPr lang="es-MX"/>
          </a:p>
        </p:txBody>
      </p:sp>
      <p:sp>
        <p:nvSpPr>
          <p:cNvPr id="5" name="Marcador de pie de página 4">
            <a:extLst>
              <a:ext uri="{FF2B5EF4-FFF2-40B4-BE49-F238E27FC236}">
                <a16:creationId xmlns:a16="http://schemas.microsoft.com/office/drawing/2014/main" id="{21522330-613B-443E-906B-D6CCC369FF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6608A37D-C0D8-40F1-AB6E-EFCDDA4A2C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502DAC-90BF-45A6-8B5C-07C61D9A2095}" type="slidenum">
              <a:rPr lang="es-MX" smtClean="0"/>
              <a:t>‹Nº›</a:t>
            </a:fld>
            <a:endParaRPr lang="es-MX"/>
          </a:p>
        </p:txBody>
      </p:sp>
    </p:spTree>
    <p:extLst>
      <p:ext uri="{BB962C8B-B14F-4D97-AF65-F5344CB8AC3E}">
        <p14:creationId xmlns:p14="http://schemas.microsoft.com/office/powerpoint/2010/main" val="35343116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789BE58-9DBB-4EAC-9858-D0733C757A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80943" y="393283"/>
            <a:ext cx="1685296" cy="687876"/>
          </a:xfrm>
          <a:prstGeom prst="rect">
            <a:avLst/>
          </a:prstGeom>
        </p:spPr>
      </p:pic>
      <p:pic>
        <p:nvPicPr>
          <p:cNvPr id="5" name="Imagen 4">
            <a:extLst>
              <a:ext uri="{FF2B5EF4-FFF2-40B4-BE49-F238E27FC236}">
                <a16:creationId xmlns:a16="http://schemas.microsoft.com/office/drawing/2014/main" id="{6B278B50-3CDC-4A17-AC42-C9D973AC9228}"/>
              </a:ext>
            </a:extLst>
          </p:cNvPr>
          <p:cNvPicPr>
            <a:picLocks noChangeAspect="1"/>
          </p:cNvPicPr>
          <p:nvPr/>
        </p:nvPicPr>
        <p:blipFill>
          <a:blip r:embed="rId3">
            <a:extLst>
              <a:ext uri="{28A0092B-C50C-407E-A947-70E740481C1C}">
                <a14:useLocalDpi xmlns:a14="http://schemas.microsoft.com/office/drawing/2010/main" val="0"/>
              </a:ext>
            </a:extLst>
          </a:blip>
          <a:srcRect l="65474" t="-1" b="-40163"/>
          <a:stretch/>
        </p:blipFill>
        <p:spPr>
          <a:xfrm>
            <a:off x="5795844" y="302590"/>
            <a:ext cx="1752758" cy="1054163"/>
          </a:xfrm>
          <a:prstGeom prst="rect">
            <a:avLst/>
          </a:prstGeom>
        </p:spPr>
      </p:pic>
      <p:sp>
        <p:nvSpPr>
          <p:cNvPr id="6" name="CuadroTexto 5">
            <a:extLst>
              <a:ext uri="{FF2B5EF4-FFF2-40B4-BE49-F238E27FC236}">
                <a16:creationId xmlns:a16="http://schemas.microsoft.com/office/drawing/2014/main" id="{20F05F39-33B0-4802-91AC-25B520CB7310}"/>
              </a:ext>
            </a:extLst>
          </p:cNvPr>
          <p:cNvSpPr txBox="1"/>
          <p:nvPr/>
        </p:nvSpPr>
        <p:spPr>
          <a:xfrm>
            <a:off x="2933669" y="1312415"/>
            <a:ext cx="7234002" cy="5362174"/>
          </a:xfrm>
          <a:prstGeom prst="rect">
            <a:avLst/>
          </a:prstGeom>
          <a:noFill/>
        </p:spPr>
        <p:txBody>
          <a:bodyPr wrap="square">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Tecnológico Nacional de México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Instituto Tecnológico de Frontera Comalapa </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MX"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Ejercicios</a:t>
            </a: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rPr>
              <a:t>Programación web</a:t>
            </a:r>
          </a:p>
          <a:p>
            <a:pPr marL="0" marR="0" lvl="0" indent="0" algn="ctr" defTabSz="914400" rtl="0" eaLnBrk="1" fontAlgn="auto" latinLnBrk="0" hangingPunct="1">
              <a:lnSpc>
                <a:spcPct val="150000"/>
              </a:lnSpc>
              <a:spcBef>
                <a:spcPts val="0"/>
              </a:spcBef>
              <a:spcAft>
                <a:spcPts val="800"/>
              </a:spcAft>
              <a:buClrTx/>
              <a:buSzTx/>
              <a:buFontTx/>
              <a:buNone/>
              <a:tabLst/>
              <a:defRPr/>
            </a:pPr>
            <a:endPar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Alumna: Gleysi Yoselin Escobedo López</a:t>
            </a: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Semestre: 8</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Número de control: 22270456</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Carrera: Ingeniería en Sistemas Computacionales</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Docente: Ing. </a:t>
            </a:r>
            <a:r>
              <a:rPr kumimoji="0" lang="es-E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Francisco Javier Velázquez Mingo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Fecha de entrega: </a:t>
            </a:r>
            <a:r>
              <a:rPr lang="es-ES" sz="1200" dirty="0">
                <a:solidFill>
                  <a:srgbClr val="000000"/>
                </a:solidFill>
                <a:latin typeface="Arial" panose="020B0604020202020204" pitchFamily="34" charset="0"/>
                <a:ea typeface="Arial" panose="020B0604020202020204" pitchFamily="34" charset="0"/>
                <a:cs typeface="Arial" panose="020B0604020202020204" pitchFamily="34" charset="0"/>
              </a:rPr>
              <a:t>7</a:t>
            </a: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 de mayo de 2026</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55B43FBD-AF01-4BCF-85EB-E2D6E6681905}"/>
              </a:ext>
            </a:extLst>
          </p:cNvPr>
          <p:cNvPicPr>
            <a:picLocks noChangeAspect="1"/>
          </p:cNvPicPr>
          <p:nvPr/>
        </p:nvPicPr>
        <p:blipFill>
          <a:blip r:embed="rId3">
            <a:extLst>
              <a:ext uri="{28A0092B-C50C-407E-A947-70E740481C1C}">
                <a14:useLocalDpi xmlns:a14="http://schemas.microsoft.com/office/drawing/2010/main" val="0"/>
              </a:ext>
            </a:extLst>
          </a:blip>
          <a:srcRect r="37787" b="6206"/>
          <a:stretch/>
        </p:blipFill>
        <p:spPr>
          <a:xfrm>
            <a:off x="2087811" y="129623"/>
            <a:ext cx="2599700" cy="580650"/>
          </a:xfrm>
          <a:prstGeom prst="rect">
            <a:avLst/>
          </a:prstGeom>
        </p:spPr>
      </p:pic>
      <p:sp>
        <p:nvSpPr>
          <p:cNvPr id="8" name="Marcador de número de diapositiva 7">
            <a:extLst>
              <a:ext uri="{FF2B5EF4-FFF2-40B4-BE49-F238E27FC236}">
                <a16:creationId xmlns:a16="http://schemas.microsoft.com/office/drawing/2014/main" id="{55FAF01F-AE09-41B5-9F68-749F01CF774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2000" b="0" i="0" u="none" strike="noStrike" kern="1200" cap="none" spc="0" normalizeH="0" baseline="0" noProof="0" smtClean="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s-MX" sz="2000" b="0" i="0" u="none" strike="noStrike" kern="1200" cap="none" spc="0" normalizeH="0" baseline="0" noProof="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206737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0CE0191-9C54-491F-AFCD-659839E54898}"/>
              </a:ext>
            </a:extLst>
          </p:cNvPr>
          <p:cNvSpPr txBox="1"/>
          <p:nvPr/>
        </p:nvSpPr>
        <p:spPr>
          <a:xfrm>
            <a:off x="1578009" y="1140937"/>
            <a:ext cx="9305144" cy="3005951"/>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Introducción</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Este documento </a:t>
            </a: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presenta </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la integración entre una aplicación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frontend</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construida en Angular y los servicios en la nube de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Supabase</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Se describe de manera detallada el desarrollo y la implementación de un módulo completo de gestión de usuarios, incluyendo el almacenamiento en una base de datos relacional y el diseño de formularios dinámicos de registro e inicio de sesión, hasta la configuración de seguridad como la verificación y confirmación de identidad mediante correo electrónico.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C0844D1A-B0B6-46CC-A6F2-230A2CC20D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0446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CAB8C19-EA23-4958-8BE4-9C5CE941C0ED}"/>
              </a:ext>
            </a:extLst>
          </p:cNvPr>
          <p:cNvSpPr txBox="1"/>
          <p:nvPr/>
        </p:nvSpPr>
        <p:spPr>
          <a:xfrm>
            <a:off x="1443428" y="1260840"/>
            <a:ext cx="9305144" cy="320651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Justificación</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 realización de estos ejercicios prácticos permitió observar cómo </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conectar el diseño visual de una página web con un sistema real que pueda guardar y procesar información en la nube</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se. Trabajar con herramientas modernas como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Supabase</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nos permite conocer y aplicar de manera sencilla servicios de autenticación.</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Al trabajar en conjunto con Angular y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se logró utilizar una base de datos sin la complicación de configurar un servidor físico desde cero, más adelante se mostrará el resultado de la implementación de estas herramientas en conjunto.</a:t>
            </a:r>
          </a:p>
        </p:txBody>
      </p:sp>
      <p:sp>
        <p:nvSpPr>
          <p:cNvPr id="3" name="Marcador de número de diapositiva 2">
            <a:extLst>
              <a:ext uri="{FF2B5EF4-FFF2-40B4-BE49-F238E27FC236}">
                <a16:creationId xmlns:a16="http://schemas.microsoft.com/office/drawing/2014/main" id="{B431F4E5-AEC7-4788-984A-02B0B23E3E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2387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CAB8C19-EA23-4958-8BE4-9C5CE941C0ED}"/>
              </a:ext>
            </a:extLst>
          </p:cNvPr>
          <p:cNvSpPr txBox="1"/>
          <p:nvPr/>
        </p:nvSpPr>
        <p:spPr>
          <a:xfrm>
            <a:off x="1034134" y="1938338"/>
            <a:ext cx="5061866" cy="2125069"/>
          </a:xfrm>
          <a:prstGeom prst="rect">
            <a:avLst/>
          </a:prstGeom>
          <a:noFill/>
        </p:spPr>
        <p:txBody>
          <a:bodyPr wrap="square">
            <a:spAutoFit/>
          </a:bodyPr>
          <a:lstStyle/>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Los resultados de este segundo avance demuestran la correcta integración de la base de datos </a:t>
            </a:r>
            <a:r>
              <a:rPr lang="es-MX" dirty="0">
                <a:latin typeface="Arial" panose="020B0604020202020204" pitchFamily="34" charset="0"/>
                <a:ea typeface="Calibri" panose="020F0502020204030204" pitchFamily="34" charset="0"/>
                <a:cs typeface="Times New Roman" panose="02020603050405020304" pitchFamily="18" charset="0"/>
              </a:rPr>
              <a:t>con </a:t>
            </a:r>
            <a:r>
              <a:rPr lang="es-MX" sz="1800" dirty="0">
                <a:effectLst/>
                <a:latin typeface="Arial" panose="020B0604020202020204" pitchFamily="34" charset="0"/>
                <a:ea typeface="Calibri" panose="020F0502020204030204" pitchFamily="34" charset="0"/>
                <a:cs typeface="Times New Roman" panose="02020603050405020304" pitchFamily="18" charset="0"/>
              </a:rPr>
              <a:t>Angular, incluyendo  los servicios de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backend</a:t>
            </a:r>
            <a:r>
              <a:rPr lang="es-MX" sz="1800" dirty="0">
                <a:effectLst/>
                <a:latin typeface="Arial" panose="020B0604020202020204" pitchFamily="34" charset="0"/>
                <a:ea typeface="Calibri" panose="020F0502020204030204" pitchFamily="34" charset="0"/>
                <a:cs typeface="Times New Roman" panose="02020603050405020304" pitchFamily="18" charset="0"/>
              </a:rPr>
              <a:t> asíncronos y almacenamiento en la nube proporcionados por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Supabase</a:t>
            </a:r>
            <a:r>
              <a:rPr lang="es-MX" sz="1800" dirty="0">
                <a:effectLst/>
                <a:latin typeface="Arial" panose="020B0604020202020204" pitchFamily="34" charset="0"/>
                <a:ea typeface="Calibri" panose="020F0502020204030204" pitchFamily="34" charset="0"/>
                <a:cs typeface="Times New Roman" panose="02020603050405020304" pitchFamily="18" charset="0"/>
              </a:rPr>
              <a:t>.</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Marcador de número de diapositiva 2">
            <a:extLst>
              <a:ext uri="{FF2B5EF4-FFF2-40B4-BE49-F238E27FC236}">
                <a16:creationId xmlns:a16="http://schemas.microsoft.com/office/drawing/2014/main" id="{B431F4E5-AEC7-4788-984A-02B0B23E3E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4" name="Imagen 3">
            <a:extLst>
              <a:ext uri="{FF2B5EF4-FFF2-40B4-BE49-F238E27FC236}">
                <a16:creationId xmlns:a16="http://schemas.microsoft.com/office/drawing/2014/main" id="{7EBC9854-5825-4AB2-8BF6-6294F8FF39A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496306" y="1339834"/>
            <a:ext cx="4934073" cy="1360161"/>
          </a:xfrm>
          <a:prstGeom prst="rect">
            <a:avLst/>
          </a:prstGeom>
          <a:noFill/>
          <a:ln>
            <a:noFill/>
          </a:ln>
        </p:spPr>
      </p:pic>
      <p:pic>
        <p:nvPicPr>
          <p:cNvPr id="5" name="Imagen 4">
            <a:extLst>
              <a:ext uri="{FF2B5EF4-FFF2-40B4-BE49-F238E27FC236}">
                <a16:creationId xmlns:a16="http://schemas.microsoft.com/office/drawing/2014/main" id="{66390633-BFBC-435D-86F3-7B4DB07921BD}"/>
              </a:ext>
            </a:extLst>
          </p:cNvPr>
          <p:cNvPicPr/>
          <p:nvPr/>
        </p:nvPicPr>
        <p:blipFill rotWithShape="1">
          <a:blip r:embed="rId3"/>
          <a:srcRect t="4892" r="1587" b="21987"/>
          <a:stretch/>
        </p:blipFill>
        <p:spPr bwMode="auto">
          <a:xfrm>
            <a:off x="6096000" y="3775550"/>
            <a:ext cx="5521325" cy="23063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01681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CAB8C19-EA23-4958-8BE4-9C5CE941C0ED}"/>
              </a:ext>
            </a:extLst>
          </p:cNvPr>
          <p:cNvSpPr txBox="1"/>
          <p:nvPr/>
        </p:nvSpPr>
        <p:spPr>
          <a:xfrm>
            <a:off x="1100528" y="1330284"/>
            <a:ext cx="5917492" cy="4197431"/>
          </a:xfrm>
          <a:prstGeom prst="rect">
            <a:avLst/>
          </a:prstGeom>
          <a:noFill/>
        </p:spPr>
        <p:txBody>
          <a:bodyPr wrap="square">
            <a:spAutoFit/>
          </a:bodyPr>
          <a:lstStyle/>
          <a:p>
            <a:pPr algn="just">
              <a:lnSpc>
                <a:spcPct val="150000"/>
              </a:lnSpc>
              <a:spcAft>
                <a:spcPts val="800"/>
              </a:spcAft>
            </a:pPr>
            <a:r>
              <a:rPr lang="es-MX" dirty="0">
                <a:latin typeface="Arial" panose="020B0604020202020204" pitchFamily="34" charset="0"/>
                <a:ea typeface="Calibri" panose="020F0502020204030204" pitchFamily="34" charset="0"/>
                <a:cs typeface="Times New Roman" panose="02020603050405020304" pitchFamily="18" charset="0"/>
              </a:rPr>
              <a:t>El m</a:t>
            </a:r>
            <a:r>
              <a:rPr lang="es-MX" sz="1800" dirty="0">
                <a:effectLst/>
                <a:latin typeface="Arial" panose="020B0604020202020204" pitchFamily="34" charset="0"/>
                <a:ea typeface="Calibri" panose="020F0502020204030204" pitchFamily="34" charset="0"/>
                <a:cs typeface="Times New Roman" panose="02020603050405020304" pitchFamily="18" charset="0"/>
              </a:rPr>
              <a:t>ódulo de registro de usuarios e inserción de datos registra los campos esenciales: </a:t>
            </a:r>
          </a:p>
          <a:p>
            <a:pPr marL="285750" indent="-285750" algn="just">
              <a:lnSpc>
                <a:spcPct val="150000"/>
              </a:lnSpc>
              <a:spcAft>
                <a:spcPts val="800"/>
              </a:spcAft>
              <a:buFont typeface="Arial" panose="020B0604020202020204" pitchFamily="34" charset="0"/>
              <a:buChar char="•"/>
            </a:pPr>
            <a:r>
              <a:rPr lang="es-MX" dirty="0">
                <a:latin typeface="Arial" panose="020B0604020202020204" pitchFamily="34" charset="0"/>
                <a:ea typeface="Calibri" panose="020F0502020204030204" pitchFamily="34" charset="0"/>
                <a:cs typeface="Times New Roman" panose="02020603050405020304" pitchFamily="18" charset="0"/>
              </a:rPr>
              <a:t>N</a:t>
            </a:r>
            <a:r>
              <a:rPr lang="es-MX" sz="1800" dirty="0">
                <a:effectLst/>
                <a:latin typeface="Arial" panose="020B0604020202020204" pitchFamily="34" charset="0"/>
                <a:ea typeface="Calibri" panose="020F0502020204030204" pitchFamily="34" charset="0"/>
                <a:cs typeface="Times New Roman" panose="02020603050405020304" pitchFamily="18" charset="0"/>
              </a:rPr>
              <a:t>ombre completo</a:t>
            </a:r>
          </a:p>
          <a:p>
            <a:pPr marL="285750" indent="-285750" algn="just">
              <a:lnSpc>
                <a:spcPct val="150000"/>
              </a:lnSpc>
              <a:spcAft>
                <a:spcPts val="800"/>
              </a:spcAft>
              <a:buFont typeface="Arial" panose="020B0604020202020204" pitchFamily="34" charset="0"/>
              <a:buChar char="•"/>
            </a:pPr>
            <a:r>
              <a:rPr lang="es-MX" dirty="0">
                <a:latin typeface="Arial" panose="020B0604020202020204" pitchFamily="34" charset="0"/>
                <a:ea typeface="Calibri" panose="020F0502020204030204" pitchFamily="34" charset="0"/>
                <a:cs typeface="Times New Roman" panose="02020603050405020304" pitchFamily="18" charset="0"/>
              </a:rPr>
              <a:t>N</a:t>
            </a:r>
            <a:r>
              <a:rPr lang="es-MX" sz="1800" dirty="0">
                <a:effectLst/>
                <a:latin typeface="Arial" panose="020B0604020202020204" pitchFamily="34" charset="0"/>
                <a:ea typeface="Calibri" panose="020F0502020204030204" pitchFamily="34" charset="0"/>
                <a:cs typeface="Times New Roman" panose="02020603050405020304" pitchFamily="18" charset="0"/>
              </a:rPr>
              <a:t>úmero de control </a:t>
            </a:r>
          </a:p>
          <a:p>
            <a:pPr marL="285750" indent="-285750" algn="just">
              <a:lnSpc>
                <a:spcPct val="150000"/>
              </a:lnSpc>
              <a:spcAft>
                <a:spcPts val="800"/>
              </a:spcAft>
              <a:buFont typeface="Arial" panose="020B0604020202020204" pitchFamily="34" charset="0"/>
              <a:buChar char="•"/>
            </a:pPr>
            <a:r>
              <a:rPr lang="es-MX" dirty="0">
                <a:latin typeface="Arial" panose="020B0604020202020204" pitchFamily="34" charset="0"/>
                <a:ea typeface="Calibri" panose="020F0502020204030204" pitchFamily="34" charset="0"/>
                <a:cs typeface="Times New Roman" panose="02020603050405020304" pitchFamily="18" charset="0"/>
              </a:rPr>
              <a:t>C</a:t>
            </a:r>
            <a:r>
              <a:rPr lang="es-MX" sz="1800" dirty="0">
                <a:effectLst/>
                <a:latin typeface="Arial" panose="020B0604020202020204" pitchFamily="34" charset="0"/>
                <a:ea typeface="Calibri" panose="020F0502020204030204" pitchFamily="34" charset="0"/>
                <a:cs typeface="Times New Roman" panose="02020603050405020304" pitchFamily="18" charset="0"/>
              </a:rPr>
              <a:t>orreo electrónico </a:t>
            </a:r>
          </a:p>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Al oprimir "Crear cuenta", se guardan los datos del formulario. La interfaz responde de inmediato notificando el procesamiento del registro o redirigiendo al usuario sin recargas de página.</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Marcador de número de diapositiva 2">
            <a:extLst>
              <a:ext uri="{FF2B5EF4-FFF2-40B4-BE49-F238E27FC236}">
                <a16:creationId xmlns:a16="http://schemas.microsoft.com/office/drawing/2014/main" id="{B431F4E5-AEC7-4788-984A-02B0B23E3E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Imagen 4">
            <a:extLst>
              <a:ext uri="{FF2B5EF4-FFF2-40B4-BE49-F238E27FC236}">
                <a16:creationId xmlns:a16="http://schemas.microsoft.com/office/drawing/2014/main" id="{439B901D-8655-47C8-92DD-9178400F7799}"/>
              </a:ext>
            </a:extLst>
          </p:cNvPr>
          <p:cNvPicPr/>
          <p:nvPr/>
        </p:nvPicPr>
        <p:blipFill rotWithShape="1">
          <a:blip r:embed="rId2"/>
          <a:srcRect l="25291" t="7245" r="27020" b="16684"/>
          <a:stretch/>
        </p:blipFill>
        <p:spPr bwMode="auto">
          <a:xfrm>
            <a:off x="7520940" y="1600200"/>
            <a:ext cx="4114800" cy="301815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10614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CAB8C19-EA23-4958-8BE4-9C5CE941C0ED}"/>
              </a:ext>
            </a:extLst>
          </p:cNvPr>
          <p:cNvSpPr txBox="1"/>
          <p:nvPr/>
        </p:nvSpPr>
        <p:spPr>
          <a:xfrm>
            <a:off x="786780" y="2011528"/>
            <a:ext cx="4651343" cy="1709571"/>
          </a:xfrm>
          <a:prstGeom prst="rect">
            <a:avLst/>
          </a:prstGeom>
          <a:noFill/>
        </p:spPr>
        <p:txBody>
          <a:bodyPr wrap="square">
            <a:spAutoFit/>
          </a:bodyPr>
          <a:lstStyle/>
          <a:p>
            <a:pPr algn="just">
              <a:lnSpc>
                <a:spcPct val="150000"/>
              </a:lnSpc>
              <a:spcAft>
                <a:spcPts val="800"/>
              </a:spcAft>
            </a:pPr>
            <a:r>
              <a:rPr lang="es-MX" dirty="0">
                <a:latin typeface="Arial" panose="020B0604020202020204" pitchFamily="34" charset="0"/>
                <a:ea typeface="Calibri" panose="020F0502020204030204" pitchFamily="34" charset="0"/>
                <a:cs typeface="Times New Roman" panose="02020603050405020304" pitchFamily="18" charset="0"/>
              </a:rPr>
              <a:t>El éxito de la inserción de datos se comprueba en el módulo de administración de la plataforma </a:t>
            </a:r>
            <a:r>
              <a:rPr lang="es-MX" dirty="0" err="1">
                <a:latin typeface="Arial" panose="020B0604020202020204" pitchFamily="34" charset="0"/>
                <a:ea typeface="Calibri" panose="020F0502020204030204" pitchFamily="34" charset="0"/>
                <a:cs typeface="Times New Roman" panose="02020603050405020304" pitchFamily="18" charset="0"/>
              </a:rPr>
              <a:t>Supabase</a:t>
            </a:r>
            <a:r>
              <a:rPr lang="es-MX" dirty="0">
                <a:latin typeface="Arial" panose="020B0604020202020204" pitchFamily="34" charset="0"/>
                <a:ea typeface="Calibri" panose="020F0502020204030204" pitchFamily="34" charset="0"/>
                <a:cs typeface="Times New Roman" panose="02020603050405020304" pitchFamily="18" charset="0"/>
              </a:rPr>
              <a:t> (</a:t>
            </a:r>
            <a:r>
              <a:rPr lang="es-MX" dirty="0" err="1">
                <a:latin typeface="Arial" panose="020B0604020202020204" pitchFamily="34" charset="0"/>
                <a:ea typeface="Calibri" panose="020F0502020204030204" pitchFamily="34" charset="0"/>
                <a:cs typeface="Times New Roman" panose="02020603050405020304" pitchFamily="18" charset="0"/>
              </a:rPr>
              <a:t>Authentication</a:t>
            </a:r>
            <a:r>
              <a:rPr lang="es-MX" dirty="0">
                <a:latin typeface="Arial" panose="020B0604020202020204" pitchFamily="34" charset="0"/>
                <a:ea typeface="Calibri" panose="020F0502020204030204" pitchFamily="34" charset="0"/>
                <a:cs typeface="Times New Roman" panose="02020603050405020304" pitchFamily="18" charset="0"/>
              </a:rPr>
              <a:t> &gt; </a:t>
            </a:r>
            <a:r>
              <a:rPr lang="es-MX" dirty="0" err="1">
                <a:latin typeface="Arial" panose="020B0604020202020204" pitchFamily="34" charset="0"/>
                <a:ea typeface="Calibri" panose="020F0502020204030204" pitchFamily="34" charset="0"/>
                <a:cs typeface="Times New Roman" panose="02020603050405020304" pitchFamily="18" charset="0"/>
              </a:rPr>
              <a:t>Users</a:t>
            </a:r>
            <a:r>
              <a:rPr lang="es-MX" dirty="0">
                <a:latin typeface="Arial" panose="020B0604020202020204" pitchFamily="34" charset="0"/>
                <a:ea typeface="Calibri" panose="020F0502020204030204" pitchFamily="34" charset="0"/>
                <a:cs typeface="Times New Roman" panose="02020603050405020304" pitchFamily="18" charset="0"/>
              </a:rPr>
              <a:t>).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Marcador de número de diapositiva 2">
            <a:extLst>
              <a:ext uri="{FF2B5EF4-FFF2-40B4-BE49-F238E27FC236}">
                <a16:creationId xmlns:a16="http://schemas.microsoft.com/office/drawing/2014/main" id="{B431F4E5-AEC7-4788-984A-02B0B23E3E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Imagen 5">
            <a:extLst>
              <a:ext uri="{FF2B5EF4-FFF2-40B4-BE49-F238E27FC236}">
                <a16:creationId xmlns:a16="http://schemas.microsoft.com/office/drawing/2014/main" id="{8F27F7A7-1606-4018-9B03-F1F5188B7F3E}"/>
              </a:ext>
            </a:extLst>
          </p:cNvPr>
          <p:cNvPicPr/>
          <p:nvPr/>
        </p:nvPicPr>
        <p:blipFill rotWithShape="1">
          <a:blip r:embed="rId2"/>
          <a:srcRect t="7785" b="10031"/>
          <a:stretch/>
        </p:blipFill>
        <p:spPr bwMode="auto">
          <a:xfrm>
            <a:off x="5730251" y="1542562"/>
            <a:ext cx="6091572" cy="335401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06427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CAB8C19-EA23-4958-8BE4-9C5CE941C0ED}"/>
              </a:ext>
            </a:extLst>
          </p:cNvPr>
          <p:cNvSpPr txBox="1"/>
          <p:nvPr/>
        </p:nvSpPr>
        <p:spPr>
          <a:xfrm>
            <a:off x="785866" y="1333554"/>
            <a:ext cx="4915686" cy="2426305"/>
          </a:xfrm>
          <a:prstGeom prst="rect">
            <a:avLst/>
          </a:prstGeom>
          <a:noFill/>
        </p:spPr>
        <p:txBody>
          <a:bodyPr wrap="square">
            <a:spAutoFit/>
          </a:bodyPr>
          <a:lstStyle/>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Ejemplo de inserción</a:t>
            </a:r>
            <a:r>
              <a:rPr lang="es-MX" dirty="0">
                <a:latin typeface="Calibri" panose="020F0502020204030204" pitchFamily="34" charset="0"/>
                <a:ea typeface="Calibri" panose="020F0502020204030204" pitchFamily="34" charset="0"/>
                <a:cs typeface="Times New Roman" panose="02020603050405020304" pitchFamily="18" charset="0"/>
              </a:rPr>
              <a:t>:</a:t>
            </a:r>
          </a:p>
          <a:p>
            <a:pPr marL="285750" indent="-285750" algn="just">
              <a:lnSpc>
                <a:spcPct val="150000"/>
              </a:lnSpc>
              <a:spcAft>
                <a:spcPts val="800"/>
              </a:spcAft>
              <a:buFont typeface="Arial" panose="020B0604020202020204" pitchFamily="34" charset="0"/>
              <a:buChar char="•"/>
            </a:pPr>
            <a:r>
              <a:rPr lang="es-MX" dirty="0">
                <a:latin typeface="Arial" panose="020B0604020202020204" pitchFamily="34" charset="0"/>
                <a:ea typeface="Calibri" panose="020F0502020204030204" pitchFamily="34" charset="0"/>
                <a:cs typeface="Times New Roman" panose="02020603050405020304" pitchFamily="18" charset="0"/>
              </a:rPr>
              <a:t>Nombre: </a:t>
            </a:r>
            <a:r>
              <a:rPr lang="es-MX" sz="1800" dirty="0">
                <a:effectLst/>
                <a:latin typeface="Arial" panose="020B0604020202020204" pitchFamily="34" charset="0"/>
                <a:ea typeface="Calibri" panose="020F0502020204030204" pitchFamily="34" charset="0"/>
                <a:cs typeface="Times New Roman" panose="02020603050405020304" pitchFamily="18" charset="0"/>
              </a:rPr>
              <a:t>Gleysi Yoselin Escobedo López).</a:t>
            </a:r>
          </a:p>
          <a:p>
            <a:pPr marL="285750" indent="-285750" algn="just">
              <a:lnSpc>
                <a:spcPct val="150000"/>
              </a:lnSpc>
              <a:spcAft>
                <a:spcPts val="800"/>
              </a:spcAft>
              <a:buFont typeface="Arial" panose="020B0604020202020204" pitchFamily="34" charset="0"/>
              <a:buChar char="•"/>
            </a:pPr>
            <a:r>
              <a:rPr lang="es-MX" dirty="0">
                <a:latin typeface="Arial" panose="020B0604020202020204" pitchFamily="34" charset="0"/>
                <a:ea typeface="Calibri" panose="020F0502020204030204" pitchFamily="34" charset="0"/>
                <a:cs typeface="Times New Roman" panose="02020603050405020304" pitchFamily="18" charset="0"/>
              </a:rPr>
              <a:t>N</a:t>
            </a:r>
            <a:r>
              <a:rPr lang="es-MX" sz="1800" dirty="0">
                <a:effectLst/>
                <a:latin typeface="Arial" panose="020B0604020202020204" pitchFamily="34" charset="0"/>
                <a:ea typeface="Calibri" panose="020F0502020204030204" pitchFamily="34" charset="0"/>
                <a:cs typeface="Times New Roman" panose="02020603050405020304" pitchFamily="18" charset="0"/>
              </a:rPr>
              <a:t>úmero de control (22270456).</a:t>
            </a:r>
          </a:p>
          <a:p>
            <a:pPr marL="285750" indent="-285750">
              <a:lnSpc>
                <a:spcPct val="150000"/>
              </a:lnSpc>
              <a:spcAft>
                <a:spcPts val="800"/>
              </a:spcAft>
              <a:buFont typeface="Arial" panose="020B0604020202020204" pitchFamily="34" charset="0"/>
              <a:buChar char="•"/>
            </a:pPr>
            <a:r>
              <a:rPr lang="es-MX" dirty="0">
                <a:latin typeface="Arial" panose="020B0604020202020204" pitchFamily="34" charset="0"/>
                <a:ea typeface="Calibri" panose="020F0502020204030204" pitchFamily="34" charset="0"/>
                <a:cs typeface="Times New Roman" panose="02020603050405020304" pitchFamily="18" charset="0"/>
              </a:rPr>
              <a:t>C</a:t>
            </a:r>
            <a:r>
              <a:rPr lang="es-MX" sz="1800" dirty="0">
                <a:effectLst/>
                <a:latin typeface="Arial" panose="020B0604020202020204" pitchFamily="34" charset="0"/>
                <a:ea typeface="Calibri" panose="020F0502020204030204" pitchFamily="34" charset="0"/>
                <a:cs typeface="Times New Roman" panose="02020603050405020304" pitchFamily="18" charset="0"/>
              </a:rPr>
              <a:t>orreo electrónico (Yoselin_eslo@hotmail.com)</a:t>
            </a:r>
          </a:p>
        </p:txBody>
      </p:sp>
      <p:sp>
        <p:nvSpPr>
          <p:cNvPr id="3" name="Marcador de número de diapositiva 2">
            <a:extLst>
              <a:ext uri="{FF2B5EF4-FFF2-40B4-BE49-F238E27FC236}">
                <a16:creationId xmlns:a16="http://schemas.microsoft.com/office/drawing/2014/main" id="{B431F4E5-AEC7-4788-984A-02B0B23E3E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Imagen 4">
            <a:extLst>
              <a:ext uri="{FF2B5EF4-FFF2-40B4-BE49-F238E27FC236}">
                <a16:creationId xmlns:a16="http://schemas.microsoft.com/office/drawing/2014/main" id="{B107A12F-943A-4335-A238-9E63372EAB8A}"/>
              </a:ext>
            </a:extLst>
          </p:cNvPr>
          <p:cNvPicPr/>
          <p:nvPr/>
        </p:nvPicPr>
        <p:blipFill rotWithShape="1">
          <a:blip r:embed="rId2"/>
          <a:srcRect l="29146" t="9317" r="27020" b="16684"/>
          <a:stretch/>
        </p:blipFill>
        <p:spPr bwMode="auto">
          <a:xfrm>
            <a:off x="6948804" y="1758948"/>
            <a:ext cx="3323592" cy="334010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16015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CAB8C19-EA23-4958-8BE4-9C5CE941C0ED}"/>
              </a:ext>
            </a:extLst>
          </p:cNvPr>
          <p:cNvSpPr txBox="1"/>
          <p:nvPr/>
        </p:nvSpPr>
        <p:spPr>
          <a:xfrm>
            <a:off x="646166" y="1948815"/>
            <a:ext cx="4915686" cy="1703030"/>
          </a:xfrm>
          <a:prstGeom prst="rect">
            <a:avLst/>
          </a:prstGeom>
          <a:noFill/>
        </p:spPr>
        <p:txBody>
          <a:bodyPr wrap="square">
            <a:spAutoFit/>
          </a:bodyPr>
          <a:lstStyle/>
          <a:p>
            <a:pPr algn="just">
              <a:lnSpc>
                <a:spcPct val="150000"/>
              </a:lnSpc>
              <a:spcAft>
                <a:spcPts val="800"/>
              </a:spcAft>
            </a:pPr>
            <a:r>
              <a:rPr lang="es-MX" dirty="0">
                <a:latin typeface="Arial" panose="020B0604020202020204" pitchFamily="34" charset="0"/>
                <a:ea typeface="Calibri" panose="020F0502020204030204" pitchFamily="34" charset="0"/>
                <a:cs typeface="Times New Roman" panose="02020603050405020304" pitchFamily="18" charset="0"/>
              </a:rPr>
              <a:t>Como se observa en la captura, la base de datos relacional registró exitosamente los datos del usuario, asignándole un identificador único generado por el servidor.</a:t>
            </a:r>
          </a:p>
        </p:txBody>
      </p:sp>
      <p:sp>
        <p:nvSpPr>
          <p:cNvPr id="3" name="Marcador de número de diapositiva 2">
            <a:extLst>
              <a:ext uri="{FF2B5EF4-FFF2-40B4-BE49-F238E27FC236}">
                <a16:creationId xmlns:a16="http://schemas.microsoft.com/office/drawing/2014/main" id="{B431F4E5-AEC7-4788-984A-02B0B23E3E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Imagen 5">
            <a:extLst>
              <a:ext uri="{FF2B5EF4-FFF2-40B4-BE49-F238E27FC236}">
                <a16:creationId xmlns:a16="http://schemas.microsoft.com/office/drawing/2014/main" id="{8BFEE0C6-6852-4A8C-8DF6-E02219915EF7}"/>
              </a:ext>
            </a:extLst>
          </p:cNvPr>
          <p:cNvPicPr/>
          <p:nvPr/>
        </p:nvPicPr>
        <p:blipFill rotWithShape="1">
          <a:blip r:embed="rId2"/>
          <a:srcRect t="5742" b="10873"/>
          <a:stretch/>
        </p:blipFill>
        <p:spPr bwMode="auto">
          <a:xfrm>
            <a:off x="6096000" y="1219159"/>
            <a:ext cx="5013960" cy="2407285"/>
          </a:xfrm>
          <a:prstGeom prst="rect">
            <a:avLst/>
          </a:prstGeom>
          <a:ln>
            <a:noFill/>
          </a:ln>
          <a:extLst>
            <a:ext uri="{53640926-AAD7-44D8-BBD7-CCE9431645EC}">
              <a14:shadowObscured xmlns:a14="http://schemas.microsoft.com/office/drawing/2010/main"/>
            </a:ext>
          </a:extLst>
        </p:spPr>
      </p:pic>
      <p:pic>
        <p:nvPicPr>
          <p:cNvPr id="7" name="Imagen 6">
            <a:extLst>
              <a:ext uri="{FF2B5EF4-FFF2-40B4-BE49-F238E27FC236}">
                <a16:creationId xmlns:a16="http://schemas.microsoft.com/office/drawing/2014/main" id="{026B5D63-B017-4076-9221-EA97EE7B9A9D}"/>
              </a:ext>
            </a:extLst>
          </p:cNvPr>
          <p:cNvPicPr>
            <a:picLocks noChangeAspect="1"/>
          </p:cNvPicPr>
          <p:nvPr/>
        </p:nvPicPr>
        <p:blipFill>
          <a:blip r:embed="rId3"/>
          <a:stretch>
            <a:fillRect/>
          </a:stretch>
        </p:blipFill>
        <p:spPr>
          <a:xfrm>
            <a:off x="4803343" y="4057067"/>
            <a:ext cx="6868589" cy="1868660"/>
          </a:xfrm>
          <a:prstGeom prst="rect">
            <a:avLst/>
          </a:prstGeom>
        </p:spPr>
      </p:pic>
    </p:spTree>
    <p:extLst>
      <p:ext uri="{BB962C8B-B14F-4D97-AF65-F5344CB8AC3E}">
        <p14:creationId xmlns:p14="http://schemas.microsoft.com/office/powerpoint/2010/main" val="1683348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CAB8C19-EA23-4958-8BE4-9C5CE941C0ED}"/>
              </a:ext>
            </a:extLst>
          </p:cNvPr>
          <p:cNvSpPr txBox="1"/>
          <p:nvPr/>
        </p:nvSpPr>
        <p:spPr>
          <a:xfrm>
            <a:off x="747766" y="1948815"/>
            <a:ext cx="4915686" cy="1709571"/>
          </a:xfrm>
          <a:prstGeom prst="rect">
            <a:avLst/>
          </a:prstGeom>
          <a:noFill/>
        </p:spPr>
        <p:txBody>
          <a:bodyPr wrap="square">
            <a:spAutoFit/>
          </a:bodyPr>
          <a:lstStyle/>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Después del registro se regresó al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login</a:t>
            </a:r>
            <a:r>
              <a:rPr lang="es-MX" sz="1800" dirty="0">
                <a:effectLst/>
                <a:latin typeface="Arial" panose="020B0604020202020204" pitchFamily="34" charset="0"/>
                <a:ea typeface="Calibri" panose="020F0502020204030204" pitchFamily="34" charset="0"/>
                <a:cs typeface="Times New Roman" panose="02020603050405020304" pitchFamily="18" charset="0"/>
              </a:rPr>
              <a:t>, al seleccionar iniciar sesión se hace una petición a una fuente de datos y se valida si los datos ingresados son correctos o no para ingresar.</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Marcador de número de diapositiva 2">
            <a:extLst>
              <a:ext uri="{FF2B5EF4-FFF2-40B4-BE49-F238E27FC236}">
                <a16:creationId xmlns:a16="http://schemas.microsoft.com/office/drawing/2014/main" id="{B431F4E5-AEC7-4788-984A-02B0B23E3E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Imagen 7">
            <a:extLst>
              <a:ext uri="{FF2B5EF4-FFF2-40B4-BE49-F238E27FC236}">
                <a16:creationId xmlns:a16="http://schemas.microsoft.com/office/drawing/2014/main" id="{8349DD2E-C4B4-480C-B952-4CC37984FB1D}"/>
              </a:ext>
            </a:extLst>
          </p:cNvPr>
          <p:cNvPicPr>
            <a:picLocks noChangeAspect="1"/>
          </p:cNvPicPr>
          <p:nvPr/>
        </p:nvPicPr>
        <p:blipFill>
          <a:blip r:embed="rId2"/>
          <a:stretch>
            <a:fillRect/>
          </a:stretch>
        </p:blipFill>
        <p:spPr>
          <a:xfrm>
            <a:off x="5974687" y="641365"/>
            <a:ext cx="5271826" cy="2355835"/>
          </a:xfrm>
          <a:prstGeom prst="rect">
            <a:avLst/>
          </a:prstGeom>
        </p:spPr>
      </p:pic>
      <p:pic>
        <p:nvPicPr>
          <p:cNvPr id="10" name="Imagen 9">
            <a:extLst>
              <a:ext uri="{FF2B5EF4-FFF2-40B4-BE49-F238E27FC236}">
                <a16:creationId xmlns:a16="http://schemas.microsoft.com/office/drawing/2014/main" id="{8E4FDACB-BFA4-4552-8EA9-971A88FF9D11}"/>
              </a:ext>
            </a:extLst>
          </p:cNvPr>
          <p:cNvPicPr>
            <a:picLocks noChangeAspect="1"/>
          </p:cNvPicPr>
          <p:nvPr/>
        </p:nvPicPr>
        <p:blipFill rotWithShape="1">
          <a:blip r:embed="rId3"/>
          <a:srcRect l="13022" t="9239" r="9686" b="11833"/>
          <a:stretch/>
        </p:blipFill>
        <p:spPr>
          <a:xfrm>
            <a:off x="6096000" y="3359151"/>
            <a:ext cx="5220473" cy="2997199"/>
          </a:xfrm>
          <a:prstGeom prst="rect">
            <a:avLst/>
          </a:prstGeom>
        </p:spPr>
      </p:pic>
    </p:spTree>
    <p:extLst>
      <p:ext uri="{BB962C8B-B14F-4D97-AF65-F5344CB8AC3E}">
        <p14:creationId xmlns:p14="http://schemas.microsoft.com/office/powerpoint/2010/main" val="666825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CAB8C19-EA23-4958-8BE4-9C5CE941C0ED}"/>
              </a:ext>
            </a:extLst>
          </p:cNvPr>
          <p:cNvSpPr txBox="1"/>
          <p:nvPr/>
        </p:nvSpPr>
        <p:spPr>
          <a:xfrm>
            <a:off x="747766" y="1948814"/>
            <a:ext cx="3609082" cy="2540567"/>
          </a:xfrm>
          <a:prstGeom prst="rect">
            <a:avLst/>
          </a:prstGeom>
          <a:noFill/>
        </p:spPr>
        <p:txBody>
          <a:bodyPr wrap="square">
            <a:spAutoFit/>
          </a:bodyPr>
          <a:lstStyle/>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Se activó la confirmación a través de Email, cuando un usuario inicia sesión por primera vez, de esta manera el usuario recibirá un correo con un enlace para confirmar su acceso.</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Marcador de número de diapositiva 2">
            <a:extLst>
              <a:ext uri="{FF2B5EF4-FFF2-40B4-BE49-F238E27FC236}">
                <a16:creationId xmlns:a16="http://schemas.microsoft.com/office/drawing/2014/main" id="{B431F4E5-AEC7-4788-984A-02B0B23E3E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Imagen 4">
            <a:extLst>
              <a:ext uri="{FF2B5EF4-FFF2-40B4-BE49-F238E27FC236}">
                <a16:creationId xmlns:a16="http://schemas.microsoft.com/office/drawing/2014/main" id="{33624BED-1E11-455E-9B93-3B3B37580645}"/>
              </a:ext>
            </a:extLst>
          </p:cNvPr>
          <p:cNvPicPr>
            <a:picLocks noChangeAspect="1"/>
          </p:cNvPicPr>
          <p:nvPr/>
        </p:nvPicPr>
        <p:blipFill rotWithShape="1">
          <a:blip r:embed="rId2"/>
          <a:srcRect l="10088" t="4529"/>
          <a:stretch/>
        </p:blipFill>
        <p:spPr>
          <a:xfrm>
            <a:off x="4908176" y="2332602"/>
            <a:ext cx="4259909" cy="2156779"/>
          </a:xfrm>
          <a:prstGeom prst="rect">
            <a:avLst/>
          </a:prstGeom>
        </p:spPr>
      </p:pic>
      <p:pic>
        <p:nvPicPr>
          <p:cNvPr id="7" name="Imagen 6">
            <a:extLst>
              <a:ext uri="{FF2B5EF4-FFF2-40B4-BE49-F238E27FC236}">
                <a16:creationId xmlns:a16="http://schemas.microsoft.com/office/drawing/2014/main" id="{6A87EBBA-FAE9-4DB6-9AEB-5BAC4C0335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90815" y="708585"/>
            <a:ext cx="2521891" cy="5647765"/>
          </a:xfrm>
          <a:prstGeom prst="rect">
            <a:avLst/>
          </a:prstGeom>
        </p:spPr>
      </p:pic>
    </p:spTree>
    <p:extLst>
      <p:ext uri="{BB962C8B-B14F-4D97-AF65-F5344CB8AC3E}">
        <p14:creationId xmlns:p14="http://schemas.microsoft.com/office/powerpoint/2010/main" val="870669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1690489" y="1331791"/>
            <a:ext cx="8811021" cy="5473293"/>
          </a:xfrm>
          <a:prstGeom prst="rect">
            <a:avLst/>
          </a:prstGeom>
          <a:noFill/>
        </p:spPr>
        <p:txBody>
          <a:bodyPr wrap="square">
            <a:spAutoFit/>
          </a:bodyPr>
          <a:lstStyle/>
          <a:p>
            <a:pPr marL="0" marR="0" lvl="0" indent="0" algn="just" defTabSz="914400" rtl="0" eaLnBrk="1" fontAlgn="auto" latinLnBrk="0" hangingPunct="1">
              <a:lnSpc>
                <a:spcPct val="150000"/>
              </a:lnSpc>
              <a:spcBef>
                <a:spcPts val="20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Times New Roman" panose="02020603050405020304" pitchFamily="18" charset="0"/>
              </a:rPr>
              <a:t>Conclusión</a:t>
            </a:r>
          </a:p>
          <a:p>
            <a:pPr marL="0" marR="0" lvl="0" indent="0" algn="just" defTabSz="914400" rtl="0" eaLnBrk="1" fontAlgn="auto" latinLnBrk="0" hangingPunct="1">
              <a:lnSpc>
                <a:spcPct val="150000"/>
              </a:lnSpc>
              <a:spcBef>
                <a:spcPts val="20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Times New Roman" panose="02020603050405020304" pitchFamily="18" charset="0"/>
              </a:rPr>
              <a:t>En conclusión, según los resultados presentados anteriormente, se logró pasar de una interfaz estática (creada con Angular) a un sistema dinámico.</a:t>
            </a:r>
          </a:p>
          <a:p>
            <a:pPr marL="0" marR="0" lvl="0" indent="0" algn="just" defTabSz="914400" rtl="0" eaLnBrk="1" fontAlgn="auto" latinLnBrk="0" hangingPunct="1">
              <a:lnSpc>
                <a:spcPct val="150000"/>
              </a:lnSpc>
              <a:spcBef>
                <a:spcPts val="20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Times New Roman" panose="02020603050405020304" pitchFamily="18" charset="0"/>
              </a:rPr>
              <a:t>Con estas herramientas en conjunto, se logró crear e implementar una base de datos. Se utilizó de manera exitosa la tabla "perfiles", que almacena la información de registro. Además, el servicio de autenticación hizo posible tener un control en los usuarios, al validar los datos se decide si el acceso se autoriza o es denegado.</a:t>
            </a:r>
          </a:p>
          <a:p>
            <a:pPr marL="0" marR="0" lvl="0" indent="0" algn="just" defTabSz="914400" rtl="0" eaLnBrk="1" fontAlgn="auto" latinLnBrk="0" hangingPunct="1">
              <a:lnSpc>
                <a:spcPct val="150000"/>
              </a:lnSpc>
              <a:spcBef>
                <a:spcPts val="20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4273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1591456" y="815859"/>
            <a:ext cx="9305144" cy="375538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Fuentes de información</a:t>
            </a: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Amankwah, K. (2025, 6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junio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Creación de autenticación segura en Angular con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DEV Community. https://dev.to/kingsley/building-secure-authentication-in-angular-with-supabase-2e1p</a:t>
            </a:r>
            <a:endPar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Enlace a Git: </a:t>
            </a:r>
            <a:endParaRPr kumimoji="0" lang="es-MX"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https://github.com/yoselinescobedolopez/Programacion_web.git</a:t>
            </a:r>
            <a:endParaRPr kumimoji="0" lang="es-MX"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216737611"/>
      </p:ext>
    </p:extLst>
  </p:cSld>
  <p:clrMapOvr>
    <a:masterClrMapping/>
  </p:clrMapOvr>
</p:sld>
</file>

<file path=ppt/theme/theme1.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TotalTime>
  <Words>609</Words>
  <Application>Microsoft Office PowerPoint</Application>
  <PresentationFormat>Panorámica</PresentationFormat>
  <Paragraphs>55</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Calibri</vt:lpstr>
      <vt:lpstr>Calibri Light</vt:lpstr>
      <vt:lpstr>Century Gothic</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Gleysi Yoselin Escobedo López</dc:creator>
  <cp:lastModifiedBy>Gleysi Yoselin Escobedo López</cp:lastModifiedBy>
  <cp:revision>19</cp:revision>
  <dcterms:created xsi:type="dcterms:W3CDTF">2026-05-30T20:47:40Z</dcterms:created>
  <dcterms:modified xsi:type="dcterms:W3CDTF">2026-05-31T00:19:19Z</dcterms:modified>
</cp:coreProperties>
</file>