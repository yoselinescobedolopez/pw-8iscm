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18"/>
  </p:notesMasterIdLst>
  <p:sldIdLst>
    <p:sldId id="259" r:id="rId2"/>
    <p:sldId id="273"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4"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2" d="100"/>
          <a:sy n="42" d="100"/>
        </p:scale>
        <p:origin x="72" y="6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CBCE15-A6DF-4E5F-9825-3505D4034720}" type="datetimeFigureOut">
              <a:rPr lang="es-MX" smtClean="0"/>
              <a:t>30/05/2026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78E956-4C18-4660-89D9-52F55CEA4C3E}" type="slidenum">
              <a:rPr lang="es-MX" smtClean="0"/>
              <a:t>‹Nº›</a:t>
            </a:fld>
            <a:endParaRPr lang="es-MX"/>
          </a:p>
        </p:txBody>
      </p:sp>
    </p:spTree>
    <p:extLst>
      <p:ext uri="{BB962C8B-B14F-4D97-AF65-F5344CB8AC3E}">
        <p14:creationId xmlns:p14="http://schemas.microsoft.com/office/powerpoint/2010/main" val="394506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5C2DCD-AC8A-449F-8B6B-BF54A68B454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53BB7105-F4B5-48B9-9492-1CFE864DF2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B8851AB1-5EA5-4092-A6A7-77546AF3F78E}"/>
              </a:ext>
            </a:extLst>
          </p:cNvPr>
          <p:cNvSpPr>
            <a:spLocks noGrp="1"/>
          </p:cNvSpPr>
          <p:nvPr>
            <p:ph type="dt" sz="half" idx="10"/>
          </p:nvPr>
        </p:nvSpPr>
        <p:spPr/>
        <p:txBody>
          <a:bodyPr/>
          <a:lstStyle/>
          <a:p>
            <a:fld id="{2EDA4892-F101-4625-A5E4-A07C38D8A44F}" type="datetime1">
              <a:rPr lang="es-MX" smtClean="0"/>
              <a:t>30/05/2026</a:t>
            </a:fld>
            <a:endParaRPr lang="es-MX"/>
          </a:p>
        </p:txBody>
      </p:sp>
      <p:sp>
        <p:nvSpPr>
          <p:cNvPr id="5" name="Marcador de pie de página 4">
            <a:extLst>
              <a:ext uri="{FF2B5EF4-FFF2-40B4-BE49-F238E27FC236}">
                <a16:creationId xmlns:a16="http://schemas.microsoft.com/office/drawing/2014/main" id="{1528A527-841C-48D7-9023-3B22FB0EA3A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61BA832-955B-4C1C-ACE2-DBFCAC872B2A}"/>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915435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EA191A-A004-4ACC-A7E4-9869F8A8F3B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60295D4-71A2-4340-8242-727F4354F5C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959995C-43A4-4E8C-B7DA-4C83C1BF8231}"/>
              </a:ext>
            </a:extLst>
          </p:cNvPr>
          <p:cNvSpPr>
            <a:spLocks noGrp="1"/>
          </p:cNvSpPr>
          <p:nvPr>
            <p:ph type="dt" sz="half" idx="10"/>
          </p:nvPr>
        </p:nvSpPr>
        <p:spPr/>
        <p:txBody>
          <a:bodyPr/>
          <a:lstStyle/>
          <a:p>
            <a:fld id="{F5BB46FB-B9D9-479C-AB82-3D0BCED6B875}" type="datetime1">
              <a:rPr lang="es-MX" smtClean="0"/>
              <a:t>30/05/2026</a:t>
            </a:fld>
            <a:endParaRPr lang="es-MX"/>
          </a:p>
        </p:txBody>
      </p:sp>
      <p:sp>
        <p:nvSpPr>
          <p:cNvPr id="5" name="Marcador de pie de página 4">
            <a:extLst>
              <a:ext uri="{FF2B5EF4-FFF2-40B4-BE49-F238E27FC236}">
                <a16:creationId xmlns:a16="http://schemas.microsoft.com/office/drawing/2014/main" id="{BB976FA6-467E-48EB-9E30-01FC48CDCB1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448C06C-278A-4110-8A82-46FA38F281E2}"/>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751769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10E0EC-5487-4690-8752-1AC0B2BCE24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C931B0-47BC-449A-B9F0-2AFAE658C1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B547297-227A-4308-AC01-5EE97D30918D}"/>
              </a:ext>
            </a:extLst>
          </p:cNvPr>
          <p:cNvSpPr>
            <a:spLocks noGrp="1"/>
          </p:cNvSpPr>
          <p:nvPr>
            <p:ph type="dt" sz="half" idx="10"/>
          </p:nvPr>
        </p:nvSpPr>
        <p:spPr/>
        <p:txBody>
          <a:bodyPr/>
          <a:lstStyle/>
          <a:p>
            <a:fld id="{AFB5A942-B43D-49E7-95B3-2758E198ADCE}" type="datetime1">
              <a:rPr lang="es-MX" smtClean="0"/>
              <a:t>30/05/2026</a:t>
            </a:fld>
            <a:endParaRPr lang="es-MX"/>
          </a:p>
        </p:txBody>
      </p:sp>
      <p:sp>
        <p:nvSpPr>
          <p:cNvPr id="5" name="Marcador de pie de página 4">
            <a:extLst>
              <a:ext uri="{FF2B5EF4-FFF2-40B4-BE49-F238E27FC236}">
                <a16:creationId xmlns:a16="http://schemas.microsoft.com/office/drawing/2014/main" id="{A99CDE20-3BE9-484D-866D-20CCC8D3E6F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C791FF6-E693-4506-976B-9C837A1DF916}"/>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1014745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1E57B-7FAF-4FF0-B7A7-F4D35109D1A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42F37D2-2597-4D1A-B5BD-CE34F4C94D7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EC009A9-9921-466E-A087-E32790D830D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11D5E3CD-F50B-4B9D-8A96-84E1B41AAFC8}"/>
              </a:ext>
            </a:extLst>
          </p:cNvPr>
          <p:cNvSpPr>
            <a:spLocks noGrp="1"/>
          </p:cNvSpPr>
          <p:nvPr>
            <p:ph type="dt" sz="half" idx="10"/>
          </p:nvPr>
        </p:nvSpPr>
        <p:spPr/>
        <p:txBody>
          <a:bodyPr/>
          <a:lstStyle/>
          <a:p>
            <a:fld id="{64256CE1-E045-44F0-808D-A877973E67B5}" type="datetime1">
              <a:rPr lang="es-MX" smtClean="0"/>
              <a:t>30/05/2026</a:t>
            </a:fld>
            <a:endParaRPr lang="es-MX"/>
          </a:p>
        </p:txBody>
      </p:sp>
      <p:sp>
        <p:nvSpPr>
          <p:cNvPr id="6" name="Marcador de pie de página 5">
            <a:extLst>
              <a:ext uri="{FF2B5EF4-FFF2-40B4-BE49-F238E27FC236}">
                <a16:creationId xmlns:a16="http://schemas.microsoft.com/office/drawing/2014/main" id="{1AF5FDA7-1722-499C-BE43-31BF162C1A1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FAE19A0-C731-468E-B322-6AFD9590050C}"/>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1558499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573388-20B4-4B4D-943A-1A84E6070E9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6A7C44A-C018-43A4-8B98-B58C66DE2B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0371149-191F-437C-9E31-C38889A4B2C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E77189FE-9214-4887-AECD-D58B07DBB9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61C7D89-F676-41C1-8137-9CADC7939B4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7ECBE8C5-D2D9-4984-85D5-49477B8FA3D5}"/>
              </a:ext>
            </a:extLst>
          </p:cNvPr>
          <p:cNvSpPr>
            <a:spLocks noGrp="1"/>
          </p:cNvSpPr>
          <p:nvPr>
            <p:ph type="dt" sz="half" idx="10"/>
          </p:nvPr>
        </p:nvSpPr>
        <p:spPr/>
        <p:txBody>
          <a:bodyPr/>
          <a:lstStyle/>
          <a:p>
            <a:fld id="{7AC624B0-6C3A-4E9C-9018-060CE63D804E}" type="datetime1">
              <a:rPr lang="es-MX" smtClean="0"/>
              <a:t>30/05/2026</a:t>
            </a:fld>
            <a:endParaRPr lang="es-MX"/>
          </a:p>
        </p:txBody>
      </p:sp>
      <p:sp>
        <p:nvSpPr>
          <p:cNvPr id="8" name="Marcador de pie de página 7">
            <a:extLst>
              <a:ext uri="{FF2B5EF4-FFF2-40B4-BE49-F238E27FC236}">
                <a16:creationId xmlns:a16="http://schemas.microsoft.com/office/drawing/2014/main" id="{2D7C5BED-6910-40D3-AFA5-EF145FCEBEC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1F61E42-5E4B-4FEE-AFDD-E1247A974B75}"/>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013515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B41831-2C98-460B-AD33-5FE8D9170F0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5644DD64-B05B-4C1D-92C1-DA57D6884A3C}"/>
              </a:ext>
            </a:extLst>
          </p:cNvPr>
          <p:cNvSpPr>
            <a:spLocks noGrp="1"/>
          </p:cNvSpPr>
          <p:nvPr>
            <p:ph type="dt" sz="half" idx="10"/>
          </p:nvPr>
        </p:nvSpPr>
        <p:spPr/>
        <p:txBody>
          <a:bodyPr/>
          <a:lstStyle/>
          <a:p>
            <a:fld id="{6DB3175C-6B69-465A-ABBB-F0D1B03AF1F0}" type="datetime1">
              <a:rPr lang="es-MX" smtClean="0"/>
              <a:t>30/05/2026</a:t>
            </a:fld>
            <a:endParaRPr lang="es-MX"/>
          </a:p>
        </p:txBody>
      </p:sp>
      <p:sp>
        <p:nvSpPr>
          <p:cNvPr id="4" name="Marcador de pie de página 3">
            <a:extLst>
              <a:ext uri="{FF2B5EF4-FFF2-40B4-BE49-F238E27FC236}">
                <a16:creationId xmlns:a16="http://schemas.microsoft.com/office/drawing/2014/main" id="{56B981B8-AE69-428A-B794-A01FC27747AB}"/>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601B8BD4-D0AA-4F35-9912-000A6A80919E}"/>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59535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9710AA4-FE97-4196-B1EF-2A6C309D7FCC}"/>
              </a:ext>
            </a:extLst>
          </p:cNvPr>
          <p:cNvSpPr>
            <a:spLocks noGrp="1"/>
          </p:cNvSpPr>
          <p:nvPr>
            <p:ph type="dt" sz="half" idx="10"/>
          </p:nvPr>
        </p:nvSpPr>
        <p:spPr/>
        <p:txBody>
          <a:bodyPr/>
          <a:lstStyle/>
          <a:p>
            <a:fld id="{21DC474C-EFFB-40DA-A710-E84AA168EA17}" type="datetime1">
              <a:rPr lang="es-MX" smtClean="0"/>
              <a:t>30/05/2026</a:t>
            </a:fld>
            <a:endParaRPr lang="es-MX"/>
          </a:p>
        </p:txBody>
      </p:sp>
      <p:sp>
        <p:nvSpPr>
          <p:cNvPr id="3" name="Marcador de pie de página 2">
            <a:extLst>
              <a:ext uri="{FF2B5EF4-FFF2-40B4-BE49-F238E27FC236}">
                <a16:creationId xmlns:a16="http://schemas.microsoft.com/office/drawing/2014/main" id="{1EDD75C2-48F9-4A34-A144-438E4E36DAF8}"/>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C34D066D-F48D-4ED2-BB23-0B02471F95E6}"/>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17631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6EE4BB-82F7-48D2-B765-0C407BAB937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18C936E-C0F2-44C9-9867-1895093C2C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77287E58-CA61-406D-9915-CE96E1AD60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DD64CC4-37F3-430A-B755-3981B50635ED}"/>
              </a:ext>
            </a:extLst>
          </p:cNvPr>
          <p:cNvSpPr>
            <a:spLocks noGrp="1"/>
          </p:cNvSpPr>
          <p:nvPr>
            <p:ph type="dt" sz="half" idx="10"/>
          </p:nvPr>
        </p:nvSpPr>
        <p:spPr/>
        <p:txBody>
          <a:bodyPr/>
          <a:lstStyle/>
          <a:p>
            <a:fld id="{F7805E6D-8F13-4503-9C07-1989A9AEC7D2}" type="datetime1">
              <a:rPr lang="es-MX" smtClean="0"/>
              <a:t>30/05/2026</a:t>
            </a:fld>
            <a:endParaRPr lang="es-MX"/>
          </a:p>
        </p:txBody>
      </p:sp>
      <p:sp>
        <p:nvSpPr>
          <p:cNvPr id="6" name="Marcador de pie de página 5">
            <a:extLst>
              <a:ext uri="{FF2B5EF4-FFF2-40B4-BE49-F238E27FC236}">
                <a16:creationId xmlns:a16="http://schemas.microsoft.com/office/drawing/2014/main" id="{3A4289FA-6025-42C6-ADEF-390811F93FF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DD37AAA-FECB-4045-BCBF-C62CFD0DC5B2}"/>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117379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C1A7A3-54EC-492A-B1E3-4AA38494DA1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B4D3CBAA-70ED-458A-A5C7-042136290D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FF3BCADC-C214-407F-A166-86FF8AFED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AF6BDCB-EDF3-4D55-ADB2-33A1B274E918}"/>
              </a:ext>
            </a:extLst>
          </p:cNvPr>
          <p:cNvSpPr>
            <a:spLocks noGrp="1"/>
          </p:cNvSpPr>
          <p:nvPr>
            <p:ph type="dt" sz="half" idx="10"/>
          </p:nvPr>
        </p:nvSpPr>
        <p:spPr/>
        <p:txBody>
          <a:bodyPr/>
          <a:lstStyle/>
          <a:p>
            <a:fld id="{F636BF31-3AD6-4D3B-B0E3-8F36759267AA}" type="datetime1">
              <a:rPr lang="es-MX" smtClean="0"/>
              <a:t>30/05/2026</a:t>
            </a:fld>
            <a:endParaRPr lang="es-MX"/>
          </a:p>
        </p:txBody>
      </p:sp>
      <p:sp>
        <p:nvSpPr>
          <p:cNvPr id="6" name="Marcador de pie de página 5">
            <a:extLst>
              <a:ext uri="{FF2B5EF4-FFF2-40B4-BE49-F238E27FC236}">
                <a16:creationId xmlns:a16="http://schemas.microsoft.com/office/drawing/2014/main" id="{45DE1DA8-DAEB-4105-A6F4-4237CB7AA72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BDEC9FA-8053-47E1-84A9-5C010B809527}"/>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373382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C5136-58E4-4D50-ABA7-AEF24858B22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63F3E1B-09E8-4C21-A572-C7CB386AE70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98F2573-EE02-42FA-999A-E6C15072AE00}"/>
              </a:ext>
            </a:extLst>
          </p:cNvPr>
          <p:cNvSpPr>
            <a:spLocks noGrp="1"/>
          </p:cNvSpPr>
          <p:nvPr>
            <p:ph type="dt" sz="half" idx="10"/>
          </p:nvPr>
        </p:nvSpPr>
        <p:spPr/>
        <p:txBody>
          <a:bodyPr/>
          <a:lstStyle/>
          <a:p>
            <a:fld id="{9E4C34DB-F73A-4965-AFB7-6DE503A47719}" type="datetime1">
              <a:rPr lang="es-MX" smtClean="0"/>
              <a:t>30/05/2026</a:t>
            </a:fld>
            <a:endParaRPr lang="es-MX"/>
          </a:p>
        </p:txBody>
      </p:sp>
      <p:sp>
        <p:nvSpPr>
          <p:cNvPr id="5" name="Marcador de pie de página 4">
            <a:extLst>
              <a:ext uri="{FF2B5EF4-FFF2-40B4-BE49-F238E27FC236}">
                <a16:creationId xmlns:a16="http://schemas.microsoft.com/office/drawing/2014/main" id="{421ED450-3AE5-4FF3-85C4-D05B7C7D251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730AECC-21CB-45C1-A0BE-6C4F8559F377}"/>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342646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7593D92-0149-4C30-8F32-2FB45357E71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74265086-F3C6-4C0E-948D-6098979540A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E7CAFC2-9B76-4329-A360-EDC068ACC448}"/>
              </a:ext>
            </a:extLst>
          </p:cNvPr>
          <p:cNvSpPr>
            <a:spLocks noGrp="1"/>
          </p:cNvSpPr>
          <p:nvPr>
            <p:ph type="dt" sz="half" idx="10"/>
          </p:nvPr>
        </p:nvSpPr>
        <p:spPr/>
        <p:txBody>
          <a:bodyPr/>
          <a:lstStyle/>
          <a:p>
            <a:fld id="{1D488CB8-AA30-49B4-BDDC-8B94F5BB8EF5}" type="datetime1">
              <a:rPr lang="es-MX" smtClean="0"/>
              <a:t>30/05/2026</a:t>
            </a:fld>
            <a:endParaRPr lang="es-MX"/>
          </a:p>
        </p:txBody>
      </p:sp>
      <p:sp>
        <p:nvSpPr>
          <p:cNvPr id="5" name="Marcador de pie de página 4">
            <a:extLst>
              <a:ext uri="{FF2B5EF4-FFF2-40B4-BE49-F238E27FC236}">
                <a16:creationId xmlns:a16="http://schemas.microsoft.com/office/drawing/2014/main" id="{8CD1CFF8-6936-4283-8104-F6CE0CEE0DD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01C631-B822-40DE-80CA-54EF54773D83}"/>
              </a:ext>
            </a:extLst>
          </p:cNvPr>
          <p:cNvSpPr>
            <a:spLocks noGrp="1"/>
          </p:cNvSpPr>
          <p:nvPr>
            <p:ph type="sldNum" sz="quarter" idx="12"/>
          </p:nvPr>
        </p:nvSpPr>
        <p:spPr/>
        <p:txBody>
          <a:bodyPr/>
          <a:lstStyle/>
          <a:p>
            <a:fld id="{DE502DAC-90BF-45A6-8B5C-07C61D9A2095}" type="slidenum">
              <a:rPr lang="es-MX" smtClean="0"/>
              <a:t>‹Nº›</a:t>
            </a:fld>
            <a:endParaRPr lang="es-MX"/>
          </a:p>
        </p:txBody>
      </p:sp>
    </p:spTree>
    <p:extLst>
      <p:ext uri="{BB962C8B-B14F-4D97-AF65-F5344CB8AC3E}">
        <p14:creationId xmlns:p14="http://schemas.microsoft.com/office/powerpoint/2010/main" val="2495129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454B1E2-0AC7-496A-BEFA-96D3257DC3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E087CF1-8B2C-49E2-AFC5-A64F9C12A5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3D5F78A-4156-447D-BEF5-C5C2F7FFA7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C910CC-05AD-4AC7-A46A-30C8A29E44CC}" type="datetime1">
              <a:rPr lang="es-MX" smtClean="0"/>
              <a:t>30/05/2026</a:t>
            </a:fld>
            <a:endParaRPr lang="es-MX"/>
          </a:p>
        </p:txBody>
      </p:sp>
      <p:sp>
        <p:nvSpPr>
          <p:cNvPr id="5" name="Marcador de pie de página 4">
            <a:extLst>
              <a:ext uri="{FF2B5EF4-FFF2-40B4-BE49-F238E27FC236}">
                <a16:creationId xmlns:a16="http://schemas.microsoft.com/office/drawing/2014/main" id="{21522330-613B-443E-906B-D6CCC369FF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6608A37D-C0D8-40F1-AB6E-EFCDDA4A2C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502DAC-90BF-45A6-8B5C-07C61D9A2095}" type="slidenum">
              <a:rPr lang="es-MX" smtClean="0"/>
              <a:t>‹Nº›</a:t>
            </a:fld>
            <a:endParaRPr lang="es-MX"/>
          </a:p>
        </p:txBody>
      </p:sp>
    </p:spTree>
    <p:extLst>
      <p:ext uri="{BB962C8B-B14F-4D97-AF65-F5344CB8AC3E}">
        <p14:creationId xmlns:p14="http://schemas.microsoft.com/office/powerpoint/2010/main" val="2416729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789BE58-9DBB-4EAC-9858-D0733C757A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80943" y="393283"/>
            <a:ext cx="1685296" cy="687876"/>
          </a:xfrm>
          <a:prstGeom prst="rect">
            <a:avLst/>
          </a:prstGeom>
        </p:spPr>
      </p:pic>
      <p:pic>
        <p:nvPicPr>
          <p:cNvPr id="5" name="Imagen 4">
            <a:extLst>
              <a:ext uri="{FF2B5EF4-FFF2-40B4-BE49-F238E27FC236}">
                <a16:creationId xmlns:a16="http://schemas.microsoft.com/office/drawing/2014/main" id="{6B278B50-3CDC-4A17-AC42-C9D973AC9228}"/>
              </a:ext>
            </a:extLst>
          </p:cNvPr>
          <p:cNvPicPr>
            <a:picLocks noChangeAspect="1"/>
          </p:cNvPicPr>
          <p:nvPr/>
        </p:nvPicPr>
        <p:blipFill>
          <a:blip r:embed="rId3">
            <a:extLst>
              <a:ext uri="{28A0092B-C50C-407E-A947-70E740481C1C}">
                <a14:useLocalDpi xmlns:a14="http://schemas.microsoft.com/office/drawing/2010/main" val="0"/>
              </a:ext>
            </a:extLst>
          </a:blip>
          <a:srcRect l="65474" t="-1" b="-40163"/>
          <a:stretch/>
        </p:blipFill>
        <p:spPr>
          <a:xfrm>
            <a:off x="5795844" y="302590"/>
            <a:ext cx="1752758" cy="1054163"/>
          </a:xfrm>
          <a:prstGeom prst="rect">
            <a:avLst/>
          </a:prstGeom>
        </p:spPr>
      </p:pic>
      <p:sp>
        <p:nvSpPr>
          <p:cNvPr id="6" name="CuadroTexto 5">
            <a:extLst>
              <a:ext uri="{FF2B5EF4-FFF2-40B4-BE49-F238E27FC236}">
                <a16:creationId xmlns:a16="http://schemas.microsoft.com/office/drawing/2014/main" id="{20F05F39-33B0-4802-91AC-25B520CB7310}"/>
              </a:ext>
            </a:extLst>
          </p:cNvPr>
          <p:cNvSpPr txBox="1"/>
          <p:nvPr/>
        </p:nvSpPr>
        <p:spPr>
          <a:xfrm>
            <a:off x="2933669" y="1312415"/>
            <a:ext cx="7234002" cy="5362174"/>
          </a:xfrm>
          <a:prstGeom prst="rect">
            <a:avLst/>
          </a:prstGeom>
          <a:noFill/>
        </p:spPr>
        <p:txBody>
          <a:bodyPr wrap="square">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Tecnológico Nacional de México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Instituto Tecnológico de Frontera Comalapa </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MX" sz="1200" b="0" i="0" u="none" strike="noStrike" kern="1200" cap="none" spc="0" normalizeH="0" baseline="0" noProof="0" dirty="0" err="1">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Report</a:t>
            </a:r>
            <a:r>
              <a:rPr lang="es-MX" sz="1200" dirty="0">
                <a:solidFill>
                  <a:srgbClr val="000000"/>
                </a:solidFill>
                <a:latin typeface="Arial" panose="020B0604020202020204" pitchFamily="34" charset="0"/>
                <a:ea typeface="Arial" panose="020B0604020202020204" pitchFamily="34" charset="0"/>
                <a:cs typeface="Arial" panose="020B0604020202020204" pitchFamily="34" charset="0"/>
              </a:rPr>
              <a:t>e de práctica</a:t>
            </a:r>
            <a:r>
              <a:rPr kumimoji="0" lang="es-MX"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 </a:t>
            </a: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rPr>
              <a:t>Programación web</a:t>
            </a:r>
          </a:p>
          <a:p>
            <a:pPr marL="0" marR="0" lvl="0" indent="0" algn="ctr" defTabSz="914400" rtl="0" eaLnBrk="1" fontAlgn="auto" latinLnBrk="0" hangingPunct="1">
              <a:lnSpc>
                <a:spcPct val="150000"/>
              </a:lnSpc>
              <a:spcBef>
                <a:spcPts val="0"/>
              </a:spcBef>
              <a:spcAft>
                <a:spcPts val="800"/>
              </a:spcAft>
              <a:buClrTx/>
              <a:buSzTx/>
              <a:buFontTx/>
              <a:buNone/>
              <a:tabLst/>
              <a:defRPr/>
            </a:pPr>
            <a:endPar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0"/>
              </a:spcBef>
              <a:spcAft>
                <a:spcPts val="8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Alumna: Gleysi Yoselin Escobedo López</a:t>
            </a: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Semestre: 8</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Número de control: 22270456</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Carrera: Ingeniería en Sistemas Computacionales</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Docente: Ing. </a:t>
            </a:r>
            <a:r>
              <a:rPr kumimoji="0" lang="es-E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Francisco Javier Velázquez Mingo</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ts val="1200"/>
              </a:spcBef>
              <a:spcAft>
                <a:spcPts val="1200"/>
              </a:spcAft>
              <a:buClrTx/>
              <a:buSzTx/>
              <a:buFontTx/>
              <a:buNone/>
              <a:tabLst/>
              <a:defRPr/>
            </a:pPr>
            <a:r>
              <a:rPr kumimoji="0" lang="es-ES" sz="12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Arial" panose="020B0604020202020204" pitchFamily="34" charset="0"/>
              </a:rPr>
              <a:t>Fecha de entrega: 1 de mayo de 2026</a:t>
            </a:r>
            <a:endPar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55B43FBD-AF01-4BCF-85EB-E2D6E6681905}"/>
              </a:ext>
            </a:extLst>
          </p:cNvPr>
          <p:cNvPicPr>
            <a:picLocks noChangeAspect="1"/>
          </p:cNvPicPr>
          <p:nvPr/>
        </p:nvPicPr>
        <p:blipFill>
          <a:blip r:embed="rId3">
            <a:extLst>
              <a:ext uri="{28A0092B-C50C-407E-A947-70E740481C1C}">
                <a14:useLocalDpi xmlns:a14="http://schemas.microsoft.com/office/drawing/2010/main" val="0"/>
              </a:ext>
            </a:extLst>
          </a:blip>
          <a:srcRect r="37787" b="6206"/>
          <a:stretch/>
        </p:blipFill>
        <p:spPr>
          <a:xfrm>
            <a:off x="2087811" y="129623"/>
            <a:ext cx="2599700" cy="580650"/>
          </a:xfrm>
          <a:prstGeom prst="rect">
            <a:avLst/>
          </a:prstGeom>
        </p:spPr>
      </p:pic>
      <p:sp>
        <p:nvSpPr>
          <p:cNvPr id="8" name="Marcador de número de diapositiva 7">
            <a:extLst>
              <a:ext uri="{FF2B5EF4-FFF2-40B4-BE49-F238E27FC236}">
                <a16:creationId xmlns:a16="http://schemas.microsoft.com/office/drawing/2014/main" id="{55FAF01F-AE09-41B5-9F68-749F01CF774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2C58D8-1624-4D54-ACD0-789AEADE08C3}" type="slidenum">
              <a:rPr kumimoji="0" lang="es-MX" sz="2000" b="0" i="0" u="none" strike="noStrike" kern="1200" cap="none" spc="0" normalizeH="0" baseline="0" noProof="0" smtClean="0">
                <a:ln>
                  <a:noFill/>
                </a:ln>
                <a:solidFill>
                  <a:srgbClr val="FEFFFF"/>
                </a:solidFill>
                <a:effectLst/>
                <a:uLnTx/>
                <a:uFillTx/>
                <a:latin typeface="Century Gothic" panose="020B0502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s-MX" sz="2000" b="0" i="0" u="none" strike="noStrike" kern="1200" cap="none" spc="0" normalizeH="0" baseline="0" noProof="0">
              <a:ln>
                <a:noFill/>
              </a:ln>
              <a:solidFill>
                <a:srgbClr val="FEFFFF"/>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206737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8E05B76-8C46-41F1-8E3D-E9CCAACF8FAF}"/>
              </a:ext>
            </a:extLst>
          </p:cNvPr>
          <p:cNvSpPr txBox="1"/>
          <p:nvPr/>
        </p:nvSpPr>
        <p:spPr>
          <a:xfrm>
            <a:off x="2600874" y="911575"/>
            <a:ext cx="9305144" cy="7874463"/>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Contenido</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Introducción……………………………………………………………..……………3</a:t>
            </a:r>
          </a:p>
          <a:p>
            <a:pPr algn="just">
              <a:lnSpc>
                <a:spcPct val="150000"/>
              </a:lnSpc>
              <a:spcAft>
                <a:spcPts val="800"/>
              </a:spcAft>
            </a:pPr>
            <a:r>
              <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Justificación……………………………………………………………..……………3</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Reporte de segundo avance - Conexión a Base de datos</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Primeros pasos en </a:t>
            </a:r>
            <a:r>
              <a:rPr kumimoji="0" lang="es-MX" sz="160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a:t>
            </a:r>
            <a:r>
              <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y creación de BD…………………………………5-8</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Configuración de código en Angular………………………………………………9-13</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Servicios de </a:t>
            </a:r>
            <a:r>
              <a:rPr kumimoji="0" lang="es-MX" sz="160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a:t>
            </a:r>
            <a:r>
              <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utilizados…………………………………………………14</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Conclusión…………………………………………………………………………...15</a:t>
            </a:r>
          </a:p>
          <a:p>
            <a:pPr algn="just">
              <a:lnSpc>
                <a:spcPct val="150000"/>
              </a:lnSpc>
              <a:spcAft>
                <a:spcPts val="800"/>
              </a:spcAft>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Fuentes de información</a:t>
            </a:r>
            <a:r>
              <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………………………..…………………………………...16</a:t>
            </a: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4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4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D0658A4E-72AE-4243-BE78-EB0ECDB469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1573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0CE0191-9C54-491F-AFCD-659839E54898}"/>
              </a:ext>
            </a:extLst>
          </p:cNvPr>
          <p:cNvSpPr txBox="1"/>
          <p:nvPr/>
        </p:nvSpPr>
        <p:spPr>
          <a:xfrm>
            <a:off x="1578009" y="1140937"/>
            <a:ext cx="9305144" cy="3939540"/>
          </a:xfrm>
          <a:prstGeom prst="rect">
            <a:avLst/>
          </a:prstGeom>
          <a:noFill/>
        </p:spPr>
        <p:txBody>
          <a:bodyPr wrap="square">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Introducción</a:t>
            </a:r>
          </a:p>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Para la Unidad 2 de la asignatura Programación Web, se continúa con el desarrollo del proyecto integrador. En la etapa anterior se abordó la arquitectura basada en componentes, el manejo de rutas y el diseño de las interfaces de usuario, este segundo avance se enfoca en el almacenamiento de información en una base de datos. </a:t>
            </a:r>
          </a:p>
          <a:p>
            <a:pPr algn="just">
              <a:lnSpc>
                <a:spcPct val="150000"/>
              </a:lnSpc>
            </a:pPr>
            <a:r>
              <a:rPr lang="es-MX" sz="1800" dirty="0">
                <a:effectLst/>
                <a:latin typeface="Arial" panose="020B0604020202020204" pitchFamily="34" charset="0"/>
                <a:ea typeface="Calibri" panose="020F0502020204030204" pitchFamily="34" charset="0"/>
                <a:cs typeface="Arial" panose="020B0604020202020204" pitchFamily="34" charset="0"/>
              </a:rPr>
              <a:t>Se ha implementado la conexión con </a:t>
            </a:r>
            <a:r>
              <a:rPr lang="es-MX" sz="1800" dirty="0" err="1">
                <a:effectLst/>
                <a:latin typeface="Arial" panose="020B0604020202020204" pitchFamily="34" charset="0"/>
                <a:ea typeface="Calibri" panose="020F0502020204030204" pitchFamily="34" charset="0"/>
                <a:cs typeface="Arial" panose="020B0604020202020204" pitchFamily="34" charset="0"/>
              </a:rPr>
              <a:t>Supabase</a:t>
            </a:r>
            <a:r>
              <a:rPr lang="es-MX" sz="1800" dirty="0">
                <a:effectLst/>
                <a:latin typeface="Arial" panose="020B0604020202020204" pitchFamily="34" charset="0"/>
                <a:ea typeface="Calibri" panose="020F0502020204030204" pitchFamily="34" charset="0"/>
                <a:cs typeface="Arial" panose="020B0604020202020204" pitchFamily="34" charset="0"/>
              </a:rPr>
              <a:t>, una base de datos relacional en la nube. En este reporte se explica el proceso seguido, desde la creación del proyecto, la estructuración de la tabla "perfiles”, hasta la integración de </a:t>
            </a:r>
            <a:r>
              <a:rPr lang="es-MX" sz="1800" dirty="0" err="1">
                <a:effectLst/>
                <a:latin typeface="Arial" panose="020B0604020202020204" pitchFamily="34" charset="0"/>
                <a:ea typeface="Calibri" panose="020F0502020204030204" pitchFamily="34" charset="0"/>
                <a:cs typeface="Arial" panose="020B0604020202020204" pitchFamily="34" charset="0"/>
              </a:rPr>
              <a:t>Supabase</a:t>
            </a:r>
            <a:r>
              <a:rPr lang="es-MX" sz="1800" dirty="0">
                <a:effectLst/>
                <a:latin typeface="Arial" panose="020B0604020202020204" pitchFamily="34" charset="0"/>
                <a:ea typeface="Calibri" panose="020F0502020204030204" pitchFamily="34" charset="0"/>
                <a:cs typeface="Arial" panose="020B0604020202020204" pitchFamily="34" charset="0"/>
              </a:rPr>
              <a:t> en el entorno de desarrollo.</a:t>
            </a:r>
            <a:endParaRPr lang="es-MX" sz="1200" dirty="0">
              <a:effectLst/>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C0844D1A-B0B6-46CC-A6F2-230A2CC20DD5}"/>
              </a:ext>
            </a:extLst>
          </p:cNvPr>
          <p:cNvSpPr>
            <a:spLocks noGrp="1"/>
          </p:cNvSpPr>
          <p:nvPr>
            <p:ph type="sldNum" sz="quarter" idx="12"/>
          </p:nvPr>
        </p:nvSpPr>
        <p:spPr/>
        <p:txBody>
          <a:bodyPr/>
          <a:lstStyle/>
          <a:p>
            <a:fld id="{C62C58D8-1624-4D54-ACD0-789AEADE08C3}" type="slidenum">
              <a:rPr lang="es-MX" smtClean="0"/>
              <a:t>3</a:t>
            </a:fld>
            <a:endParaRPr lang="es-MX"/>
          </a:p>
        </p:txBody>
      </p:sp>
    </p:spTree>
    <p:extLst>
      <p:ext uri="{BB962C8B-B14F-4D97-AF65-F5344CB8AC3E}">
        <p14:creationId xmlns:p14="http://schemas.microsoft.com/office/powerpoint/2010/main" val="4020446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CAB8C19-EA23-4958-8BE4-9C5CE941C0ED}"/>
              </a:ext>
            </a:extLst>
          </p:cNvPr>
          <p:cNvSpPr txBox="1"/>
          <p:nvPr/>
        </p:nvSpPr>
        <p:spPr>
          <a:xfrm>
            <a:off x="1443428" y="1260840"/>
            <a:ext cx="9305144" cy="2734595"/>
          </a:xfrm>
          <a:prstGeom prst="rect">
            <a:avLst/>
          </a:prstGeom>
          <a:noFill/>
        </p:spPr>
        <p:txBody>
          <a:bodyPr wrap="square">
            <a:spAutoFit/>
          </a:bodyPr>
          <a:lstStyle/>
          <a:p>
            <a:pPr algn="just">
              <a:lnSpc>
                <a:spcPct val="150000"/>
              </a:lnSpc>
              <a:spcAft>
                <a:spcPts val="800"/>
              </a:spcAft>
              <a:buNone/>
            </a:pPr>
            <a:r>
              <a:rPr lang="es-MX" sz="1600" b="1" dirty="0">
                <a:effectLst/>
                <a:latin typeface="Arial" panose="020B0604020202020204" pitchFamily="34" charset="0"/>
                <a:ea typeface="Aptos" panose="020B0004020202020204" pitchFamily="34" charset="0"/>
                <a:cs typeface="Arial" panose="020B0604020202020204" pitchFamily="34" charset="0"/>
              </a:rPr>
              <a:t>Justificación</a:t>
            </a:r>
          </a:p>
          <a:p>
            <a:pPr algn="just">
              <a:lnSpc>
                <a:spcPct val="150000"/>
              </a:lnSpc>
              <a:spcAft>
                <a:spcPts val="800"/>
              </a:spcAft>
              <a:buNone/>
            </a:pPr>
            <a:r>
              <a:rPr lang="es-MX" sz="1600" dirty="0">
                <a:latin typeface="Arial" panose="020B0604020202020204" pitchFamily="34" charset="0"/>
                <a:cs typeface="Arial" panose="020B0604020202020204" pitchFamily="34" charset="0"/>
              </a:rPr>
              <a:t>El desarrollo de aplicaciones web requiere mecanismos confiables para el almacenamiento, consulta y administración de datos. Después de haber establecido la estructura visual y funcional de la aplicación se incorporó la opción que permita conservar la información de manera segura y accesible. Por esta razón, se realizó la integración de la base de </a:t>
            </a:r>
            <a:r>
              <a:rPr lang="es-MX" sz="1600" dirty="0" err="1">
                <a:latin typeface="Arial" panose="020B0604020202020204" pitchFamily="34" charset="0"/>
                <a:cs typeface="Arial" panose="020B0604020202020204" pitchFamily="34" charset="0"/>
              </a:rPr>
              <a:t>datos.La</a:t>
            </a:r>
            <a:r>
              <a:rPr lang="es-MX" sz="1600" dirty="0">
                <a:latin typeface="Arial" panose="020B0604020202020204" pitchFamily="34" charset="0"/>
                <a:cs typeface="Arial" panose="020B0604020202020204" pitchFamily="34" charset="0"/>
              </a:rPr>
              <a:t> implementación de </a:t>
            </a:r>
            <a:r>
              <a:rPr lang="es-MX" sz="1600" dirty="0" err="1">
                <a:latin typeface="Arial" panose="020B0604020202020204" pitchFamily="34" charset="0"/>
                <a:cs typeface="Arial" panose="020B0604020202020204" pitchFamily="34" charset="0"/>
              </a:rPr>
              <a:t>Supabase</a:t>
            </a:r>
            <a:r>
              <a:rPr lang="es-MX" sz="1600" dirty="0">
                <a:latin typeface="Arial" panose="020B0604020202020204" pitchFamily="34" charset="0"/>
                <a:cs typeface="Arial" panose="020B0604020202020204" pitchFamily="34" charset="0"/>
              </a:rPr>
              <a:t> facilita la conexión entre el </a:t>
            </a:r>
            <a:r>
              <a:rPr lang="es-MX" sz="1600" dirty="0" err="1">
                <a:latin typeface="Arial" panose="020B0604020202020204" pitchFamily="34" charset="0"/>
                <a:cs typeface="Arial" panose="020B0604020202020204" pitchFamily="34" charset="0"/>
              </a:rPr>
              <a:t>frontend</a:t>
            </a:r>
            <a:r>
              <a:rPr lang="es-MX" sz="1600" dirty="0">
                <a:latin typeface="Arial" panose="020B0604020202020204" pitchFamily="34" charset="0"/>
                <a:cs typeface="Arial" panose="020B0604020202020204" pitchFamily="34" charset="0"/>
              </a:rPr>
              <a:t> y una base de datos relacional. Además, esta herramienta proporciona servicios escalables, acceso remoto y una configuración simplificada.</a:t>
            </a:r>
            <a:endParaRPr lang="es-MX" sz="1600" dirty="0">
              <a:effectLst/>
              <a:latin typeface="Arial" panose="020B0604020202020204" pitchFamily="34" charset="0"/>
              <a:ea typeface="Aptos" panose="020B00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B431F4E5-AEC7-4788-984A-02B0B23E3EFE}"/>
              </a:ext>
            </a:extLst>
          </p:cNvPr>
          <p:cNvSpPr>
            <a:spLocks noGrp="1"/>
          </p:cNvSpPr>
          <p:nvPr>
            <p:ph type="sldNum" sz="quarter" idx="12"/>
          </p:nvPr>
        </p:nvSpPr>
        <p:spPr/>
        <p:txBody>
          <a:bodyPr/>
          <a:lstStyle/>
          <a:p>
            <a:fld id="{C62C58D8-1624-4D54-ACD0-789AEADE08C3}" type="slidenum">
              <a:rPr lang="es-MX" smtClean="0"/>
              <a:t>4</a:t>
            </a:fld>
            <a:endParaRPr lang="es-MX"/>
          </a:p>
        </p:txBody>
      </p:sp>
    </p:spTree>
    <p:extLst>
      <p:ext uri="{BB962C8B-B14F-4D97-AF65-F5344CB8AC3E}">
        <p14:creationId xmlns:p14="http://schemas.microsoft.com/office/powerpoint/2010/main" val="2272387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2485073" y="633709"/>
            <a:ext cx="7972425" cy="3416320"/>
          </a:xfrm>
          <a:prstGeom prst="rect">
            <a:avLst/>
          </a:prstGeom>
          <a:noFill/>
        </p:spPr>
        <p:txBody>
          <a:bodyPr wrap="square">
            <a:spAutoFit/>
          </a:bodyPr>
          <a:lstStyle/>
          <a:p>
            <a:pPr algn="just"/>
            <a:r>
              <a:rPr lang="es-MX" b="1" dirty="0">
                <a:latin typeface="Arial" panose="020B0604020202020204" pitchFamily="34" charset="0"/>
                <a:cs typeface="Arial" panose="020B0604020202020204" pitchFamily="34" charset="0"/>
              </a:rPr>
              <a:t>Primeros pasos en </a:t>
            </a:r>
            <a:r>
              <a:rPr lang="es-MX" b="1" dirty="0" err="1">
                <a:latin typeface="Arial" panose="020B0604020202020204" pitchFamily="34" charset="0"/>
                <a:cs typeface="Arial" panose="020B0604020202020204" pitchFamily="34" charset="0"/>
              </a:rPr>
              <a:t>Supabase</a:t>
            </a:r>
            <a:r>
              <a:rPr lang="es-MX" b="1" dirty="0">
                <a:latin typeface="Arial" panose="020B0604020202020204" pitchFamily="34" charset="0"/>
                <a:cs typeface="Arial" panose="020B0604020202020204" pitchFamily="34" charset="0"/>
              </a:rPr>
              <a:t> y creación de BD</a:t>
            </a:r>
          </a:p>
          <a:p>
            <a:pPr algn="just"/>
            <a:endParaRPr lang="es-MX" b="1"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1.Primero se definió la base de datos que se utilizaría, en este caso, se optó por utilizar una base de datos relacional (</a:t>
            </a:r>
            <a:r>
              <a:rPr lang="es-MX" dirty="0" err="1">
                <a:latin typeface="Arial" panose="020B0604020202020204" pitchFamily="34" charset="0"/>
                <a:cs typeface="Arial" panose="020B0604020202020204" pitchFamily="34" charset="0"/>
              </a:rPr>
              <a:t>Supabase</a:t>
            </a:r>
            <a:r>
              <a:rPr lang="es-MX" dirty="0">
                <a:latin typeface="Arial" panose="020B0604020202020204" pitchFamily="34" charset="0"/>
                <a:cs typeface="Arial" panose="020B0604020202020204" pitchFamily="34" charset="0"/>
              </a:rPr>
              <a:t>).</a:t>
            </a:r>
          </a:p>
          <a:p>
            <a:pPr algn="just"/>
            <a:r>
              <a:rPr lang="es-MX" dirty="0">
                <a:latin typeface="Arial" panose="020B0604020202020204" pitchFamily="34" charset="0"/>
                <a:cs typeface="Arial" panose="020B0604020202020204" pitchFamily="34" charset="0"/>
              </a:rPr>
              <a:t>     </a:t>
            </a:r>
          </a:p>
          <a:p>
            <a:pPr algn="just"/>
            <a:endParaRPr lang="es-MX" dirty="0">
              <a:latin typeface="Arial" panose="020B0604020202020204" pitchFamily="34" charset="0"/>
              <a:cs typeface="Arial" panose="020B0604020202020204" pitchFamily="34" charset="0"/>
            </a:endParaRPr>
          </a:p>
          <a:p>
            <a:pPr algn="just"/>
            <a:endParaRPr lang="es-MX" dirty="0">
              <a:latin typeface="Arial" panose="020B0604020202020204" pitchFamily="34" charset="0"/>
              <a:cs typeface="Arial" panose="020B0604020202020204" pitchFamily="34" charset="0"/>
            </a:endParaRPr>
          </a:p>
          <a:p>
            <a:pPr algn="just"/>
            <a:endParaRPr lang="es-MX" dirty="0">
              <a:latin typeface="Arial" panose="020B0604020202020204" pitchFamily="34" charset="0"/>
              <a:cs typeface="Arial" panose="020B0604020202020204" pitchFamily="34" charset="0"/>
            </a:endParaRPr>
          </a:p>
          <a:p>
            <a:pPr algn="just"/>
            <a:endParaRPr lang="es-MX" dirty="0">
              <a:latin typeface="Arial" panose="020B0604020202020204" pitchFamily="34" charset="0"/>
              <a:cs typeface="Arial" panose="020B0604020202020204" pitchFamily="34" charset="0"/>
            </a:endParaRP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2.Para utilizar esta herramienta se creo una cuenta usando nuestro correo electrónico.</a:t>
            </a: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fld id="{C62C58D8-1624-4D54-ACD0-789AEADE08C3}" type="slidenum">
              <a:rPr lang="es-MX" smtClean="0"/>
              <a:t>5</a:t>
            </a:fld>
            <a:endParaRPr lang="es-MX"/>
          </a:p>
        </p:txBody>
      </p:sp>
      <p:pic>
        <p:nvPicPr>
          <p:cNvPr id="6" name="Imagen 5">
            <a:extLst>
              <a:ext uri="{FF2B5EF4-FFF2-40B4-BE49-F238E27FC236}">
                <a16:creationId xmlns:a16="http://schemas.microsoft.com/office/drawing/2014/main" id="{E164004B-F342-4324-85C7-76EE73DDC45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050347" y="2164437"/>
            <a:ext cx="3866515" cy="927100"/>
          </a:xfrm>
          <a:prstGeom prst="rect">
            <a:avLst/>
          </a:prstGeom>
          <a:noFill/>
          <a:ln>
            <a:noFill/>
          </a:ln>
        </p:spPr>
      </p:pic>
      <p:pic>
        <p:nvPicPr>
          <p:cNvPr id="16" name="Imagen 15">
            <a:extLst>
              <a:ext uri="{FF2B5EF4-FFF2-40B4-BE49-F238E27FC236}">
                <a16:creationId xmlns:a16="http://schemas.microsoft.com/office/drawing/2014/main" id="{498B5E33-AC93-41B3-9435-9DDF05EE9234}"/>
              </a:ext>
            </a:extLst>
          </p:cNvPr>
          <p:cNvPicPr/>
          <p:nvPr/>
        </p:nvPicPr>
        <p:blipFill rotWithShape="1">
          <a:blip r:embed="rId3"/>
          <a:srcRect t="4892" r="1587" b="21987"/>
          <a:stretch/>
        </p:blipFill>
        <p:spPr bwMode="auto">
          <a:xfrm>
            <a:off x="4050347" y="4050030"/>
            <a:ext cx="5521325" cy="23063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37739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1046956" y="1479529"/>
            <a:ext cx="4487227" cy="4385816"/>
          </a:xfrm>
          <a:prstGeom prst="rect">
            <a:avLst/>
          </a:prstGeom>
          <a:noFill/>
        </p:spPr>
        <p:txBody>
          <a:bodyPr wrap="square">
            <a:spAutoFit/>
          </a:bodyPr>
          <a:lstStyle/>
          <a:p>
            <a:pPr algn="just">
              <a:lnSpc>
                <a:spcPct val="150000"/>
              </a:lnSpc>
            </a:pPr>
            <a:r>
              <a:rPr lang="es-MX" b="1" dirty="0">
                <a:latin typeface="Arial" panose="020B0604020202020204" pitchFamily="34" charset="0"/>
                <a:cs typeface="Arial" panose="020B0604020202020204" pitchFamily="34" charset="0"/>
              </a:rPr>
              <a:t>Primeros pasos en </a:t>
            </a:r>
            <a:r>
              <a:rPr lang="es-MX" b="1" dirty="0" err="1">
                <a:latin typeface="Arial" panose="020B0604020202020204" pitchFamily="34" charset="0"/>
                <a:cs typeface="Arial" panose="020B0604020202020204" pitchFamily="34" charset="0"/>
              </a:rPr>
              <a:t>Supabase</a:t>
            </a:r>
            <a:r>
              <a:rPr lang="es-MX" b="1" dirty="0">
                <a:latin typeface="Arial" panose="020B0604020202020204" pitchFamily="34" charset="0"/>
                <a:cs typeface="Arial" panose="020B0604020202020204" pitchFamily="34" charset="0"/>
              </a:rPr>
              <a:t> y creación de BD</a:t>
            </a:r>
          </a:p>
          <a:p>
            <a:pPr algn="just">
              <a:lnSpc>
                <a:spcPct val="150000"/>
              </a:lnSpc>
            </a:pPr>
            <a:endParaRPr lang="es-MX" b="1" dirty="0">
              <a:latin typeface="Arial" panose="020B0604020202020204" pitchFamily="34" charset="0"/>
              <a:cs typeface="Arial" panose="020B0604020202020204" pitchFamily="34" charset="0"/>
            </a:endParaRPr>
          </a:p>
          <a:p>
            <a:pPr algn="just">
              <a:lnSpc>
                <a:spcPct val="150000"/>
              </a:lnSpc>
            </a:pPr>
            <a:r>
              <a:rPr lang="es-MX" dirty="0">
                <a:latin typeface="Arial" panose="020B0604020202020204" pitchFamily="34" charset="0"/>
                <a:cs typeface="Arial" panose="020B0604020202020204" pitchFamily="34" charset="0"/>
              </a:rPr>
              <a:t>3. </a:t>
            </a:r>
            <a:r>
              <a:rPr lang="es-MX" sz="1800" dirty="0">
                <a:effectLst/>
                <a:latin typeface="Arial" panose="020B0604020202020204" pitchFamily="34" charset="0"/>
                <a:ea typeface="Calibri" panose="020F0502020204030204" pitchFamily="34" charset="0"/>
                <a:cs typeface="Arial" panose="020B0604020202020204" pitchFamily="34" charset="0"/>
              </a:rPr>
              <a:t>Se ingresó la información y datos solicitados para poder crear proyectos.</a:t>
            </a:r>
          </a:p>
          <a:p>
            <a:pPr algn="just">
              <a:lnSpc>
                <a:spcPct val="150000"/>
              </a:lnSpc>
            </a:pPr>
            <a:r>
              <a:rPr lang="es-MX" dirty="0">
                <a:latin typeface="Arial" panose="020B0604020202020204" pitchFamily="34" charset="0"/>
                <a:ea typeface="Calibri" panose="020F0502020204030204" pitchFamily="34" charset="0"/>
                <a:cs typeface="Arial" panose="020B0604020202020204" pitchFamily="34" charset="0"/>
              </a:rPr>
              <a:t>4. </a:t>
            </a:r>
            <a:r>
              <a:rPr lang="es-MX" sz="1800" dirty="0">
                <a:effectLst/>
                <a:latin typeface="Arial" panose="020B0604020202020204" pitchFamily="34" charset="0"/>
                <a:ea typeface="Calibri" panose="020F0502020204030204" pitchFamily="34" charset="0"/>
                <a:cs typeface="Arial" panose="020B0604020202020204" pitchFamily="34" charset="0"/>
              </a:rPr>
              <a:t>Después de crear una cuenta iniciar sesión en la misma, se prosiguió a crear un nuevo proyecto, dentro de </a:t>
            </a:r>
            <a:r>
              <a:rPr lang="es-MX" sz="1800" dirty="0" err="1">
                <a:effectLst/>
                <a:latin typeface="Arial" panose="020B0604020202020204" pitchFamily="34" charset="0"/>
                <a:ea typeface="Calibri" panose="020F0502020204030204" pitchFamily="34" charset="0"/>
                <a:cs typeface="Arial" panose="020B0604020202020204" pitchFamily="34" charset="0"/>
              </a:rPr>
              <a:t>Supabase</a:t>
            </a:r>
            <a:r>
              <a:rPr lang="es-MX" sz="1800" dirty="0">
                <a:effectLst/>
                <a:latin typeface="Arial" panose="020B0604020202020204" pitchFamily="34" charset="0"/>
                <a:ea typeface="Calibri" panose="020F0502020204030204" pitchFamily="34" charset="0"/>
                <a:cs typeface="Arial" panose="020B0604020202020204" pitchFamily="34" charset="0"/>
              </a:rPr>
              <a:t>, llamado “solicita-</a:t>
            </a:r>
            <a:r>
              <a:rPr lang="es-MX" sz="1800" dirty="0" err="1">
                <a:effectLst/>
                <a:latin typeface="Arial" panose="020B0604020202020204" pitchFamily="34" charset="0"/>
                <a:ea typeface="Calibri" panose="020F0502020204030204" pitchFamily="34" charset="0"/>
                <a:cs typeface="Arial" panose="020B0604020202020204" pitchFamily="34" charset="0"/>
              </a:rPr>
              <a:t>tec</a:t>
            </a:r>
            <a:r>
              <a:rPr lang="es-MX" sz="1800" dirty="0">
                <a:effectLst/>
                <a:latin typeface="Arial" panose="020B0604020202020204" pitchFamily="34" charset="0"/>
                <a:ea typeface="Calibri" panose="020F0502020204030204" pitchFamily="34" charset="0"/>
                <a:cs typeface="Arial" panose="020B0604020202020204" pitchFamily="34" charset="0"/>
              </a:rPr>
              <a:t>”.</a:t>
            </a:r>
          </a:p>
          <a:p>
            <a:pPr algn="just"/>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MX" dirty="0">
              <a:latin typeface="Arial" panose="020B06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fld id="{C62C58D8-1624-4D54-ACD0-789AEADE08C3}" type="slidenum">
              <a:rPr lang="es-MX" smtClean="0"/>
              <a:t>6</a:t>
            </a:fld>
            <a:endParaRPr lang="es-MX"/>
          </a:p>
        </p:txBody>
      </p:sp>
      <p:pic>
        <p:nvPicPr>
          <p:cNvPr id="7" name="Imagen 6">
            <a:extLst>
              <a:ext uri="{FF2B5EF4-FFF2-40B4-BE49-F238E27FC236}">
                <a16:creationId xmlns:a16="http://schemas.microsoft.com/office/drawing/2014/main" id="{C6217627-021B-417A-9B6C-BE4B67D5C758}"/>
              </a:ext>
            </a:extLst>
          </p:cNvPr>
          <p:cNvPicPr/>
          <p:nvPr/>
        </p:nvPicPr>
        <p:blipFill rotWithShape="1">
          <a:blip r:embed="rId2"/>
          <a:srcRect t="13551" b="6286"/>
          <a:stretch/>
        </p:blipFill>
        <p:spPr bwMode="auto">
          <a:xfrm>
            <a:off x="6096000" y="3147695"/>
            <a:ext cx="5610860" cy="2528570"/>
          </a:xfrm>
          <a:prstGeom prst="rect">
            <a:avLst/>
          </a:prstGeom>
          <a:ln>
            <a:noFill/>
          </a:ln>
          <a:extLst>
            <a:ext uri="{53640926-AAD7-44D8-BBD7-CCE9431645EC}">
              <a14:shadowObscured xmlns:a14="http://schemas.microsoft.com/office/drawing/2010/main"/>
            </a:ext>
          </a:extLst>
        </p:spPr>
      </p:pic>
      <p:pic>
        <p:nvPicPr>
          <p:cNvPr id="8" name="Imagen 7">
            <a:extLst>
              <a:ext uri="{FF2B5EF4-FFF2-40B4-BE49-F238E27FC236}">
                <a16:creationId xmlns:a16="http://schemas.microsoft.com/office/drawing/2014/main" id="{85691BAA-E778-4FB7-8881-3A4DB9A55CD3}"/>
              </a:ext>
            </a:extLst>
          </p:cNvPr>
          <p:cNvPicPr/>
          <p:nvPr/>
        </p:nvPicPr>
        <p:blipFill rotWithShape="1">
          <a:blip r:embed="rId3"/>
          <a:srcRect t="20324" b="10803"/>
          <a:stretch/>
        </p:blipFill>
        <p:spPr bwMode="auto">
          <a:xfrm>
            <a:off x="6095365" y="634683"/>
            <a:ext cx="5611495" cy="217297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24320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744459" y="885169"/>
            <a:ext cx="5673884" cy="6150402"/>
          </a:xfrm>
          <a:prstGeom prst="rect">
            <a:avLst/>
          </a:prstGeom>
          <a:noFill/>
        </p:spPr>
        <p:txBody>
          <a:bodyPr wrap="square">
            <a:spAutoFit/>
          </a:bodyPr>
          <a:lstStyle/>
          <a:p>
            <a:pPr algn="just">
              <a:lnSpc>
                <a:spcPct val="150000"/>
              </a:lnSpc>
            </a:pPr>
            <a:r>
              <a:rPr lang="es-MX" b="1" dirty="0">
                <a:latin typeface="Arial" panose="020B0604020202020204" pitchFamily="34" charset="0"/>
                <a:cs typeface="Arial" panose="020B0604020202020204" pitchFamily="34" charset="0"/>
              </a:rPr>
              <a:t>Primeros pasos en </a:t>
            </a:r>
            <a:r>
              <a:rPr lang="es-MX" b="1" dirty="0" err="1">
                <a:latin typeface="Arial" panose="020B0604020202020204" pitchFamily="34" charset="0"/>
                <a:cs typeface="Arial" panose="020B0604020202020204" pitchFamily="34" charset="0"/>
              </a:rPr>
              <a:t>Supabase</a:t>
            </a:r>
            <a:r>
              <a:rPr lang="es-MX" b="1" dirty="0">
                <a:latin typeface="Arial" panose="020B0604020202020204" pitchFamily="34" charset="0"/>
                <a:cs typeface="Arial" panose="020B0604020202020204" pitchFamily="34" charset="0"/>
              </a:rPr>
              <a:t> y creación de BD</a:t>
            </a:r>
          </a:p>
          <a:p>
            <a:pPr algn="just">
              <a:lnSpc>
                <a:spcPct val="150000"/>
              </a:lnSpc>
            </a:pPr>
            <a:endParaRPr lang="es-MX" b="1" dirty="0">
              <a:latin typeface="Arial" panose="020B0604020202020204" pitchFamily="34" charset="0"/>
              <a:cs typeface="Arial" panose="020B0604020202020204" pitchFamily="34" charset="0"/>
            </a:endParaRPr>
          </a:p>
          <a:p>
            <a:pPr lvl="0" algn="just">
              <a:lnSpc>
                <a:spcPct val="150000"/>
              </a:lnSpc>
            </a:pPr>
            <a:r>
              <a:rPr lang="es-MX" dirty="0">
                <a:latin typeface="Arial" panose="020B0604020202020204" pitchFamily="34" charset="0"/>
                <a:cs typeface="Arial" panose="020B0604020202020204" pitchFamily="34" charset="0"/>
              </a:rPr>
              <a:t>5. </a:t>
            </a:r>
            <a:r>
              <a:rPr lang="es-MX" sz="1800" dirty="0">
                <a:effectLst/>
                <a:latin typeface="Arial" panose="020B0604020202020204" pitchFamily="34" charset="0"/>
                <a:ea typeface="Calibri" panose="020F0502020204030204" pitchFamily="34" charset="0"/>
                <a:cs typeface="Times New Roman" panose="02020603050405020304" pitchFamily="18" charset="0"/>
              </a:rPr>
              <a:t>Tomando en cuenta el diseño de la pantalla de registro se identificaron los datos solicitados al usuario, por lo tanto, esa información debe almacenarse en una base de datos, esta base debe contar con los campos:</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s-MX" sz="1800" dirty="0">
                <a:effectLst/>
                <a:latin typeface="Arial" panose="020B0604020202020204" pitchFamily="34" charset="0"/>
                <a:ea typeface="Calibri" panose="020F0502020204030204" pitchFamily="34" charset="0"/>
                <a:cs typeface="Times New Roman" panose="02020603050405020304" pitchFamily="18" charset="0"/>
              </a:rPr>
              <a:t>Nombre</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s-MX" sz="1800" dirty="0">
                <a:effectLst/>
                <a:latin typeface="Arial" panose="020B0604020202020204" pitchFamily="34" charset="0"/>
                <a:ea typeface="Calibri" panose="020F0502020204030204" pitchFamily="34" charset="0"/>
                <a:cs typeface="Times New Roman" panose="02020603050405020304" pitchFamily="18" charset="0"/>
              </a:rPr>
              <a:t>Número de control</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s-MX" sz="1800" dirty="0">
                <a:effectLst/>
                <a:latin typeface="Arial" panose="020B0604020202020204" pitchFamily="34" charset="0"/>
                <a:ea typeface="Calibri" panose="020F0502020204030204" pitchFamily="34" charset="0"/>
                <a:cs typeface="Times New Roman" panose="02020603050405020304" pitchFamily="18" charset="0"/>
              </a:rPr>
              <a:t>Email</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6. Dentro de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Supabase</a:t>
            </a:r>
            <a:r>
              <a:rPr lang="es-MX" sz="1800" dirty="0">
                <a:effectLst/>
                <a:latin typeface="Arial" panose="020B0604020202020204" pitchFamily="34" charset="0"/>
                <a:ea typeface="Calibri" panose="020F0502020204030204" pitchFamily="34" charset="0"/>
                <a:cs typeface="Times New Roman" panose="02020603050405020304" pitchFamily="18" charset="0"/>
              </a:rPr>
              <a:t> en la sección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Database</a:t>
            </a:r>
            <a:r>
              <a:rPr lang="es-MX" sz="1800" dirty="0">
                <a:effectLst/>
                <a:latin typeface="Arial" panose="020B0604020202020204" pitchFamily="34" charset="0"/>
                <a:ea typeface="Calibri" panose="020F0502020204030204" pitchFamily="34" charset="0"/>
                <a:cs typeface="Times New Roman" panose="02020603050405020304" pitchFamily="18" charset="0"/>
              </a:rPr>
              <a:t> se creó la base de datos “perfiles”.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MX" dirty="0">
              <a:latin typeface="Arial" panose="020B06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fld id="{C62C58D8-1624-4D54-ACD0-789AEADE08C3}" type="slidenum">
              <a:rPr lang="es-MX" smtClean="0"/>
              <a:t>7</a:t>
            </a:fld>
            <a:endParaRPr lang="es-MX"/>
          </a:p>
        </p:txBody>
      </p:sp>
      <p:pic>
        <p:nvPicPr>
          <p:cNvPr id="6" name="Imagen 5">
            <a:extLst>
              <a:ext uri="{FF2B5EF4-FFF2-40B4-BE49-F238E27FC236}">
                <a16:creationId xmlns:a16="http://schemas.microsoft.com/office/drawing/2014/main" id="{FAF41985-8B44-4E62-8C26-BCAB71E67A4B}"/>
              </a:ext>
            </a:extLst>
          </p:cNvPr>
          <p:cNvPicPr/>
          <p:nvPr/>
        </p:nvPicPr>
        <p:blipFill rotWithShape="1">
          <a:blip r:embed="rId2"/>
          <a:srcRect l="1" t="8113" r="-3900" b="11193"/>
          <a:stretch/>
        </p:blipFill>
        <p:spPr bwMode="auto">
          <a:xfrm>
            <a:off x="6581140" y="2156460"/>
            <a:ext cx="5610860" cy="25450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79291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904479" y="1468951"/>
            <a:ext cx="4673361" cy="3241913"/>
          </a:xfrm>
          <a:prstGeom prst="rect">
            <a:avLst/>
          </a:prstGeom>
          <a:noFill/>
        </p:spPr>
        <p:txBody>
          <a:bodyPr wrap="square">
            <a:spAutoFit/>
          </a:bodyPr>
          <a:lstStyle/>
          <a:p>
            <a:pPr algn="just">
              <a:lnSpc>
                <a:spcPct val="150000"/>
              </a:lnSpc>
            </a:pPr>
            <a:r>
              <a:rPr lang="es-MX" b="1" dirty="0">
                <a:latin typeface="Arial" panose="020B0604020202020204" pitchFamily="34" charset="0"/>
                <a:cs typeface="Arial" panose="020B0604020202020204" pitchFamily="34" charset="0"/>
              </a:rPr>
              <a:t>Primeros pasos en </a:t>
            </a:r>
            <a:r>
              <a:rPr lang="es-MX" b="1" dirty="0" err="1">
                <a:latin typeface="Arial" panose="020B0604020202020204" pitchFamily="34" charset="0"/>
                <a:cs typeface="Arial" panose="020B0604020202020204" pitchFamily="34" charset="0"/>
              </a:rPr>
              <a:t>Supabase</a:t>
            </a:r>
            <a:r>
              <a:rPr lang="es-MX" b="1" dirty="0">
                <a:latin typeface="Arial" panose="020B0604020202020204" pitchFamily="34" charset="0"/>
                <a:cs typeface="Arial" panose="020B0604020202020204" pitchFamily="34" charset="0"/>
              </a:rPr>
              <a:t> y creación de BD</a:t>
            </a:r>
          </a:p>
          <a:p>
            <a:pPr algn="just">
              <a:lnSpc>
                <a:spcPct val="150000"/>
              </a:lnSpc>
            </a:pPr>
            <a:endParaRPr lang="es-MX" b="1" dirty="0">
              <a:latin typeface="Arial" panose="020B0604020202020204" pitchFamily="34" charset="0"/>
              <a:cs typeface="Arial" panose="020B0604020202020204" pitchFamily="34" charset="0"/>
            </a:endParaRPr>
          </a:p>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La tabla contiene las columnas necesarias y se asignó el tipo de dato correspondiente.</a:t>
            </a:r>
          </a:p>
          <a:p>
            <a:pPr algn="just">
              <a:lnSpc>
                <a:spcPct val="150000"/>
              </a:lnSpc>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MX" dirty="0">
              <a:latin typeface="Arial" panose="020B06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fld id="{C62C58D8-1624-4D54-ACD0-789AEADE08C3}" type="slidenum">
              <a:rPr lang="es-MX" smtClean="0"/>
              <a:t>8</a:t>
            </a:fld>
            <a:endParaRPr lang="es-MX"/>
          </a:p>
        </p:txBody>
      </p:sp>
      <p:pic>
        <p:nvPicPr>
          <p:cNvPr id="5" name="Imagen 4">
            <a:extLst>
              <a:ext uri="{FF2B5EF4-FFF2-40B4-BE49-F238E27FC236}">
                <a16:creationId xmlns:a16="http://schemas.microsoft.com/office/drawing/2014/main" id="{EAE55CCE-2905-41BD-9C53-3FE8A0E75E41}"/>
              </a:ext>
            </a:extLst>
          </p:cNvPr>
          <p:cNvPicPr/>
          <p:nvPr/>
        </p:nvPicPr>
        <p:blipFill rotWithShape="1">
          <a:blip r:embed="rId2"/>
          <a:srcRect t="5565" b="8646"/>
          <a:stretch/>
        </p:blipFill>
        <p:spPr bwMode="auto">
          <a:xfrm>
            <a:off x="5951220" y="1468951"/>
            <a:ext cx="5611495" cy="270637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93948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904479" y="1468951"/>
            <a:ext cx="4673361" cy="4903907"/>
          </a:xfrm>
          <a:prstGeom prst="rect">
            <a:avLst/>
          </a:prstGeom>
          <a:noFill/>
        </p:spPr>
        <p:txBody>
          <a:bodyPr wrap="square">
            <a:spAutoFit/>
          </a:bodyPr>
          <a:lstStyle/>
          <a:p>
            <a:pPr algn="just">
              <a:lnSpc>
                <a:spcPct val="150000"/>
              </a:lnSpc>
              <a:spcBef>
                <a:spcPts val="200"/>
              </a:spcBef>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Configuración de código en Angular</a:t>
            </a:r>
            <a:endParaRPr lang="es-MX" sz="1800" b="1" dirty="0">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s-MX" sz="1800" dirty="0">
                <a:effectLst/>
                <a:latin typeface="Arial" panose="020B0604020202020204" pitchFamily="34" charset="0"/>
                <a:ea typeface="Calibri" panose="020F0502020204030204" pitchFamily="34" charset="0"/>
                <a:cs typeface="Times New Roman" panose="02020603050405020304" pitchFamily="18" charset="0"/>
              </a:rPr>
              <a:t>Dentro del código también se necesitó realizar algunos ajustes, para que los elementos ingresados puedan almacenarse se instaló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Supabase</a:t>
            </a:r>
            <a:r>
              <a:rPr lang="es-MX" sz="1800" dirty="0">
                <a:effectLst/>
                <a:latin typeface="Arial" panose="020B0604020202020204" pitchFamily="34" charset="0"/>
                <a:ea typeface="Calibri" panose="020F0502020204030204" pitchFamily="34" charset="0"/>
                <a:cs typeface="Times New Roman" panose="02020603050405020304" pitchFamily="18" charset="0"/>
              </a:rPr>
              <a:t> en Angular, para que puedan trabajar en conjunto. Para lograrlo se ejecutó el comando:</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800"/>
              </a:spcAft>
            </a:pPr>
            <a:r>
              <a:rPr lang="es-MX" sz="1800" dirty="0" err="1">
                <a:effectLst/>
                <a:latin typeface="Arial" panose="020B0604020202020204" pitchFamily="34" charset="0"/>
                <a:ea typeface="Calibri" panose="020F0502020204030204" pitchFamily="34" charset="0"/>
                <a:cs typeface="Times New Roman" panose="02020603050405020304" pitchFamily="18" charset="0"/>
              </a:rPr>
              <a:t>npm</a:t>
            </a:r>
            <a:r>
              <a:rPr lang="es-MX" sz="1800" dirty="0">
                <a:effectLst/>
                <a:latin typeface="Arial" panose="020B0604020202020204" pitchFamily="34" charset="0"/>
                <a:ea typeface="Calibri" panose="020F0502020204030204" pitchFamily="34" charset="0"/>
                <a:cs typeface="Times New Roman" panose="02020603050405020304" pitchFamily="18" charset="0"/>
              </a:rPr>
              <a:t>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install</a:t>
            </a:r>
            <a:r>
              <a:rPr lang="es-MX" sz="1800" dirty="0">
                <a:effectLst/>
                <a:latin typeface="Arial" panose="020B0604020202020204" pitchFamily="34" charset="0"/>
                <a:ea typeface="Calibri" panose="020F0502020204030204" pitchFamily="34" charset="0"/>
                <a:cs typeface="Times New Roman" panose="02020603050405020304" pitchFamily="18" charset="0"/>
              </a:rPr>
              <a:t> @supabase/supabase-js</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MX" dirty="0">
              <a:latin typeface="Arial" panose="020B06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fld id="{C62C58D8-1624-4D54-ACD0-789AEADE08C3}" type="slidenum">
              <a:rPr lang="es-MX" smtClean="0"/>
              <a:t>9</a:t>
            </a:fld>
            <a:endParaRPr lang="es-MX"/>
          </a:p>
        </p:txBody>
      </p:sp>
      <p:pic>
        <p:nvPicPr>
          <p:cNvPr id="6" name="Imagen 5">
            <a:extLst>
              <a:ext uri="{FF2B5EF4-FFF2-40B4-BE49-F238E27FC236}">
                <a16:creationId xmlns:a16="http://schemas.microsoft.com/office/drawing/2014/main" id="{4553F12E-BD62-476E-90F6-6247D2E6A7FD}"/>
              </a:ext>
            </a:extLst>
          </p:cNvPr>
          <p:cNvPicPr/>
          <p:nvPr/>
        </p:nvPicPr>
        <p:blipFill rotWithShape="1">
          <a:blip r:embed="rId2"/>
          <a:srcRect b="11854"/>
          <a:stretch/>
        </p:blipFill>
        <p:spPr bwMode="auto">
          <a:xfrm>
            <a:off x="5966462" y="1764030"/>
            <a:ext cx="5612130" cy="27813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29025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904479" y="1468951"/>
            <a:ext cx="4673361" cy="4385816"/>
          </a:xfrm>
          <a:prstGeom prst="rect">
            <a:avLst/>
          </a:prstGeom>
          <a:noFill/>
        </p:spPr>
        <p:txBody>
          <a:bodyPr wrap="square">
            <a:spAutoFit/>
          </a:bodyPr>
          <a:lstStyle/>
          <a:p>
            <a:pPr algn="just">
              <a:lnSpc>
                <a:spcPct val="150000"/>
              </a:lnSpc>
              <a:spcBef>
                <a:spcPts val="200"/>
              </a:spcBef>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Configuración de código en Angular</a:t>
            </a:r>
            <a:endParaRPr lang="es-MX" sz="1800" b="1" dirty="0">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lvl="0" indent="-342900" algn="just">
              <a:lnSpc>
                <a:spcPct val="150000"/>
              </a:lnSpc>
              <a:buAutoNum type="arabicPeriod" startAt="2"/>
            </a:pPr>
            <a:r>
              <a:rPr lang="es-MX" sz="1800" dirty="0">
                <a:effectLst/>
                <a:latin typeface="Arial" panose="020B0604020202020204" pitchFamily="34" charset="0"/>
                <a:ea typeface="Calibri" panose="020F0502020204030204" pitchFamily="34" charset="0"/>
                <a:cs typeface="Times New Roman" panose="02020603050405020304" pitchFamily="18" charset="0"/>
              </a:rPr>
              <a:t>Se creó una carpeta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environments</a:t>
            </a:r>
            <a:r>
              <a:rPr lang="es-MX" sz="1800" dirty="0">
                <a:effectLst/>
                <a:latin typeface="Arial" panose="020B0604020202020204" pitchFamily="34" charset="0"/>
                <a:ea typeface="Calibri" panose="020F0502020204030204" pitchFamily="34" charset="0"/>
                <a:cs typeface="Times New Roman" panose="02020603050405020304" pitchFamily="18" charset="0"/>
              </a:rPr>
              <a:t>”, que contendría el archivo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environments.ts</a:t>
            </a:r>
            <a:r>
              <a:rPr lang="es-MX" sz="1800" dirty="0">
                <a:effectLst/>
                <a:latin typeface="Arial" panose="020B0604020202020204" pitchFamily="34" charset="0"/>
                <a:ea typeface="Calibri" panose="020F0502020204030204" pitchFamily="34" charset="0"/>
                <a:cs typeface="Times New Roman" panose="02020603050405020304" pitchFamily="18" charset="0"/>
              </a:rPr>
              <a:t>” </a:t>
            </a:r>
            <a:endParaRPr lang="es-MX" dirty="0">
              <a:latin typeface="Arial" panose="020B0604020202020204" pitchFamily="34" charset="0"/>
              <a:ea typeface="Calibri" panose="020F0502020204030204" pitchFamily="34" charset="0"/>
              <a:cs typeface="Times New Roman" panose="02020603050405020304" pitchFamily="18" charset="0"/>
            </a:endParaRPr>
          </a:p>
          <a:p>
            <a:pPr lvl="0" algn="just">
              <a:lnSpc>
                <a:spcPct val="150000"/>
              </a:lnSpc>
            </a:pPr>
            <a:r>
              <a:rPr lang="es-MX" sz="1800" dirty="0">
                <a:effectLst/>
                <a:latin typeface="Arial" panose="020B0604020202020204" pitchFamily="34" charset="0"/>
                <a:ea typeface="Calibri" panose="020F0502020204030204" pitchFamily="34" charset="0"/>
                <a:cs typeface="Times New Roman" panose="02020603050405020304" pitchFamily="18" charset="0"/>
              </a:rPr>
              <a:t>Este archivo contiene las rutas y llaves del proyecto creado en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Supabase</a:t>
            </a:r>
            <a:r>
              <a:rPr lang="es-MX" sz="1800" dirty="0">
                <a:effectLst/>
                <a:latin typeface="Arial" panose="020B0604020202020204" pitchFamily="34" charset="0"/>
                <a:ea typeface="Calibri" panose="020F0502020204030204" pitchFamily="34" charset="0"/>
                <a:cs typeface="Times New Roman" panose="02020603050405020304" pitchFamily="18" charset="0"/>
              </a:rPr>
              <a:t>, al especificarlas se realiza la conexión a la base de datos.</a:t>
            </a:r>
          </a:p>
          <a:p>
            <a:pPr algn="just">
              <a:lnSpc>
                <a:spcPct val="150000"/>
              </a:lnSpc>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MX" dirty="0">
              <a:latin typeface="Arial" panose="020B06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fld id="{C62C58D8-1624-4D54-ACD0-789AEADE08C3}" type="slidenum">
              <a:rPr lang="es-MX" smtClean="0"/>
              <a:t>10</a:t>
            </a:fld>
            <a:endParaRPr lang="es-MX"/>
          </a:p>
        </p:txBody>
      </p:sp>
      <p:pic>
        <p:nvPicPr>
          <p:cNvPr id="11" name="Imagen 10">
            <a:extLst>
              <a:ext uri="{FF2B5EF4-FFF2-40B4-BE49-F238E27FC236}">
                <a16:creationId xmlns:a16="http://schemas.microsoft.com/office/drawing/2014/main" id="{11F3037A-1309-417E-87F9-28409B122435}"/>
              </a:ext>
            </a:extLst>
          </p:cNvPr>
          <p:cNvPicPr/>
          <p:nvPr/>
        </p:nvPicPr>
        <p:blipFill rotWithShape="1">
          <a:blip r:embed="rId2"/>
          <a:srcRect b="30953"/>
          <a:stretch/>
        </p:blipFill>
        <p:spPr bwMode="auto">
          <a:xfrm>
            <a:off x="6096000" y="1997075"/>
            <a:ext cx="5612130" cy="21780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32125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904479" y="1468951"/>
            <a:ext cx="4673361" cy="4072910"/>
          </a:xfrm>
          <a:prstGeom prst="rect">
            <a:avLst/>
          </a:prstGeom>
          <a:noFill/>
        </p:spPr>
        <p:txBody>
          <a:bodyPr wrap="square">
            <a:spAutoFit/>
          </a:bodyPr>
          <a:lstStyle/>
          <a:p>
            <a:pPr algn="just">
              <a:lnSpc>
                <a:spcPct val="150000"/>
              </a:lnSpc>
              <a:spcBef>
                <a:spcPts val="200"/>
              </a:spcBef>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Configuración de código en Angular</a:t>
            </a:r>
            <a:endParaRPr lang="es-MX" sz="1800" b="1" dirty="0">
              <a:effectLst/>
              <a:latin typeface="Calibri Light" panose="020F0302020204030204" pitchFamily="34" charset="0"/>
              <a:ea typeface="Times New Roman" panose="02020603050405020304" pitchFamily="18" charset="0"/>
              <a:cs typeface="Times New Roman" panose="02020603050405020304" pitchFamily="18" charset="0"/>
            </a:endParaRPr>
          </a:p>
          <a:p>
            <a:pPr lvl="0" algn="just">
              <a:lnSpc>
                <a:spcPct val="150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3. También se creó la carpeta </a:t>
            </a:r>
            <a:r>
              <a:rPr lang="es-MX" sz="1800" dirty="0" err="1">
                <a:effectLst/>
                <a:latin typeface="Arial" panose="020B0604020202020204" pitchFamily="34" charset="0"/>
                <a:ea typeface="Calibri" panose="020F0502020204030204" pitchFamily="34" charset="0"/>
                <a:cs typeface="Arial" panose="020B0604020202020204" pitchFamily="34" charset="0"/>
              </a:rPr>
              <a:t>services</a:t>
            </a:r>
            <a:r>
              <a:rPr lang="es-MX" sz="1800" dirty="0">
                <a:effectLst/>
                <a:latin typeface="Arial" panose="020B0604020202020204" pitchFamily="34" charset="0"/>
                <a:ea typeface="Calibri" panose="020F0502020204030204" pitchFamily="34" charset="0"/>
                <a:cs typeface="Arial" panose="020B0604020202020204" pitchFamily="34" charset="0"/>
              </a:rPr>
              <a:t> en Angular, esta se usa para lógica reutilizable, como autenticación, acceso a </a:t>
            </a:r>
            <a:r>
              <a:rPr lang="es-MX" sz="1800" dirty="0" err="1">
                <a:effectLst/>
                <a:latin typeface="Arial" panose="020B0604020202020204" pitchFamily="34" charset="0"/>
                <a:ea typeface="Calibri" panose="020F0502020204030204" pitchFamily="34" charset="0"/>
                <a:cs typeface="Arial" panose="020B0604020202020204" pitchFamily="34" charset="0"/>
              </a:rPr>
              <a:t>APIs</a:t>
            </a:r>
            <a:r>
              <a:rPr lang="es-MX" sz="1800" dirty="0">
                <a:effectLst/>
                <a:latin typeface="Arial" panose="020B0604020202020204" pitchFamily="34" charset="0"/>
                <a:ea typeface="Calibri" panose="020F0502020204030204" pitchFamily="34" charset="0"/>
                <a:cs typeface="Arial" panose="020B0604020202020204" pitchFamily="34" charset="0"/>
              </a:rPr>
              <a:t> y manejo de sesión. En este caso, cualquier componente puede reutiliza la conexión con </a:t>
            </a:r>
            <a:r>
              <a:rPr lang="es-MX" sz="1800" dirty="0" err="1">
                <a:effectLst/>
                <a:latin typeface="Arial" panose="020B0604020202020204" pitchFamily="34" charset="0"/>
                <a:ea typeface="Calibri" panose="020F0502020204030204" pitchFamily="34" charset="0"/>
                <a:cs typeface="Arial" panose="020B0604020202020204" pitchFamily="34" charset="0"/>
              </a:rPr>
              <a:t>Supabase</a:t>
            </a:r>
            <a:r>
              <a:rPr lang="es-MX" sz="1800" dirty="0">
                <a:effectLst/>
                <a:latin typeface="Arial" panose="020B0604020202020204" pitchFamily="34" charset="0"/>
                <a:ea typeface="Calibri" panose="020F0502020204030204" pitchFamily="34" charset="0"/>
                <a:cs typeface="Arial" panose="020B0604020202020204" pitchFamily="34" charset="0"/>
              </a:rPr>
              <a:t>.</a:t>
            </a:r>
          </a:p>
          <a:p>
            <a:pPr algn="just">
              <a:lnSpc>
                <a:spcPct val="150000"/>
              </a:lnSpc>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MX" dirty="0">
              <a:latin typeface="Arial" panose="020B06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fld id="{C62C58D8-1624-4D54-ACD0-789AEADE08C3}" type="slidenum">
              <a:rPr lang="es-MX" smtClean="0"/>
              <a:t>11</a:t>
            </a:fld>
            <a:endParaRPr lang="es-MX"/>
          </a:p>
        </p:txBody>
      </p:sp>
      <p:pic>
        <p:nvPicPr>
          <p:cNvPr id="5" name="Imagen 4">
            <a:extLst>
              <a:ext uri="{FF2B5EF4-FFF2-40B4-BE49-F238E27FC236}">
                <a16:creationId xmlns:a16="http://schemas.microsoft.com/office/drawing/2014/main" id="{9695846D-8088-4868-808A-1A05C6A85AC1}"/>
              </a:ext>
            </a:extLst>
          </p:cNvPr>
          <p:cNvPicPr/>
          <p:nvPr/>
        </p:nvPicPr>
        <p:blipFill rotWithShape="1">
          <a:blip r:embed="rId2"/>
          <a:srcRect b="20443"/>
          <a:stretch/>
        </p:blipFill>
        <p:spPr bwMode="auto">
          <a:xfrm>
            <a:off x="5886452" y="1671002"/>
            <a:ext cx="5612130" cy="251015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3605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904479" y="1468951"/>
            <a:ext cx="4673361" cy="5006499"/>
          </a:xfrm>
          <a:prstGeom prst="rect">
            <a:avLst/>
          </a:prstGeom>
          <a:noFill/>
        </p:spPr>
        <p:txBody>
          <a:bodyPr wrap="square">
            <a:spAutoFit/>
          </a:bodyPr>
          <a:lstStyle/>
          <a:p>
            <a:pPr algn="just">
              <a:lnSpc>
                <a:spcPct val="150000"/>
              </a:lnSpc>
              <a:spcBef>
                <a:spcPts val="200"/>
              </a:spcBef>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Configuración de código en Angular</a:t>
            </a:r>
            <a:endParaRPr lang="es-MX" sz="1800" b="1" dirty="0">
              <a:effectLst/>
              <a:latin typeface="Calibri Light" panose="020F0302020204030204" pitchFamily="34" charset="0"/>
              <a:ea typeface="Times New Roman" panose="02020603050405020304" pitchFamily="18" charset="0"/>
              <a:cs typeface="Times New Roman" panose="02020603050405020304" pitchFamily="18" charset="0"/>
            </a:endParaRPr>
          </a:p>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4. </a:t>
            </a:r>
            <a:r>
              <a:rPr lang="es-MX" sz="1800" dirty="0">
                <a:effectLst/>
                <a:latin typeface="Arial" panose="020B0604020202020204" pitchFamily="34" charset="0"/>
                <a:ea typeface="Calibri" panose="020F0502020204030204" pitchFamily="34" charset="0"/>
                <a:cs typeface="Times New Roman" panose="02020603050405020304" pitchFamily="18" charset="0"/>
              </a:rPr>
              <a:t>En la base “perfiles”, únicamente se almacenan: nombre, correo y número de control, estos campos se especificaron en la clase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RegistroComponent</a:t>
            </a:r>
            <a:r>
              <a:rPr lang="es-MX" sz="1800" dirty="0">
                <a:effectLst/>
                <a:latin typeface="Arial" panose="020B0604020202020204" pitchFamily="34" charset="0"/>
                <a:ea typeface="Calibri" panose="020F0502020204030204" pitchFamily="34" charset="0"/>
                <a:cs typeface="Times New Roman" panose="02020603050405020304" pitchFamily="18" charset="0"/>
              </a:rPr>
              <a:t>. Al hacer el registro de un nuevo usuario los datos confidenciales no se guardan en la base de datos.</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MX" dirty="0">
              <a:latin typeface="Arial" panose="020B06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fld id="{C62C58D8-1624-4D54-ACD0-789AEADE08C3}" type="slidenum">
              <a:rPr lang="es-MX" smtClean="0"/>
              <a:t>12</a:t>
            </a:fld>
            <a:endParaRPr lang="es-MX"/>
          </a:p>
        </p:txBody>
      </p:sp>
      <p:pic>
        <p:nvPicPr>
          <p:cNvPr id="6" name="Imagen 5">
            <a:extLst>
              <a:ext uri="{FF2B5EF4-FFF2-40B4-BE49-F238E27FC236}">
                <a16:creationId xmlns:a16="http://schemas.microsoft.com/office/drawing/2014/main" id="{5336A7FF-9466-4437-B91D-60E1DDC504B1}"/>
              </a:ext>
            </a:extLst>
          </p:cNvPr>
          <p:cNvPicPr/>
          <p:nvPr/>
        </p:nvPicPr>
        <p:blipFill rotWithShape="1">
          <a:blip r:embed="rId2"/>
          <a:srcRect l="652" t="4174" r="1718" b="13512"/>
          <a:stretch/>
        </p:blipFill>
        <p:spPr bwMode="auto">
          <a:xfrm>
            <a:off x="5989955" y="1810702"/>
            <a:ext cx="5478145" cy="259651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8579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904479" y="1468951"/>
            <a:ext cx="4673361" cy="6771084"/>
          </a:xfrm>
          <a:prstGeom prst="rect">
            <a:avLst/>
          </a:prstGeom>
          <a:noFill/>
        </p:spPr>
        <p:txBody>
          <a:bodyPr wrap="square">
            <a:spAutoFit/>
          </a:bodyPr>
          <a:lstStyle/>
          <a:p>
            <a:pPr algn="just">
              <a:lnSpc>
                <a:spcPct val="150000"/>
              </a:lnSpc>
              <a:spcBef>
                <a:spcPts val="200"/>
              </a:spcBef>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Configuración de código en Angular</a:t>
            </a:r>
            <a:endParaRPr lang="es-MX" sz="1800" b="1" dirty="0">
              <a:effectLst/>
              <a:latin typeface="Calibri Light" panose="020F0302020204030204" pitchFamily="34" charset="0"/>
              <a:ea typeface="Times New Roman" panose="02020603050405020304" pitchFamily="18" charset="0"/>
              <a:cs typeface="Times New Roman" panose="02020603050405020304" pitchFamily="18" charset="0"/>
            </a:endParaRPr>
          </a:p>
          <a:p>
            <a:pPr algn="just">
              <a:lnSpc>
                <a:spcPct val="150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5. </a:t>
            </a:r>
            <a:r>
              <a:rPr lang="es-MX" sz="1800" dirty="0">
                <a:effectLst/>
                <a:latin typeface="Arial" panose="020B0604020202020204" pitchFamily="34" charset="0"/>
                <a:ea typeface="Calibri" panose="020F0502020204030204" pitchFamily="34" charset="0"/>
                <a:cs typeface="Times New Roman" panose="02020603050405020304" pitchFamily="18" charset="0"/>
              </a:rPr>
              <a:t>Los datos que se plantearon guardar son los solicitados en la pantalla de registro, que posteriormente serán verificados al iniciar sesión. En el archivo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login.ts</a:t>
            </a:r>
            <a:r>
              <a:rPr lang="es-MX" sz="1800" dirty="0">
                <a:effectLst/>
                <a:latin typeface="Arial" panose="020B0604020202020204" pitchFamily="34" charset="0"/>
                <a:ea typeface="Calibri" panose="020F0502020204030204" pitchFamily="34" charset="0"/>
                <a:cs typeface="Times New Roman" panose="02020603050405020304" pitchFamily="18" charset="0"/>
              </a:rPr>
              <a:t> se puede observar que se utilizó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async</a:t>
            </a:r>
            <a:r>
              <a:rPr lang="es-MX" sz="1800" dirty="0">
                <a:effectLst/>
                <a:latin typeface="Arial" panose="020B0604020202020204" pitchFamily="34" charset="0"/>
                <a:ea typeface="Calibri" panose="020F0502020204030204" pitchFamily="34" charset="0"/>
                <a:cs typeface="Times New Roman" panose="02020603050405020304" pitchFamily="18" charset="0"/>
              </a:rPr>
              <a:t>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login</a:t>
            </a:r>
            <a:r>
              <a:rPr lang="es-MX" sz="1800" dirty="0">
                <a:effectLst/>
                <a:latin typeface="Arial" panose="020B0604020202020204" pitchFamily="34" charset="0"/>
                <a:ea typeface="Calibri" panose="020F0502020204030204" pitchFamily="34" charset="0"/>
                <a:cs typeface="Times New Roman" panose="02020603050405020304" pitchFamily="18" charset="0"/>
              </a:rPr>
              <a:t>(), una función asíncrona, que espera una respuesta del servidor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Supabase</a:t>
            </a:r>
            <a:r>
              <a:rPr lang="es-MX" sz="1800" dirty="0">
                <a:effectLst/>
                <a:latin typeface="Arial" panose="020B0604020202020204" pitchFamily="34" charset="0"/>
                <a:ea typeface="Calibri" panose="020F0502020204030204" pitchFamily="34" charset="0"/>
                <a:cs typeface="Times New Roman" panose="02020603050405020304" pitchFamily="18" charset="0"/>
              </a:rPr>
              <a:t>), es decir la validación de los datos (correo y contraseña), para ingresar o denegar el acceso.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MX" dirty="0">
              <a:latin typeface="Arial" panose="020B06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fld id="{C62C58D8-1624-4D54-ACD0-789AEADE08C3}" type="slidenum">
              <a:rPr lang="es-MX" smtClean="0"/>
              <a:t>13</a:t>
            </a:fld>
            <a:endParaRPr lang="es-MX"/>
          </a:p>
        </p:txBody>
      </p:sp>
      <p:pic>
        <p:nvPicPr>
          <p:cNvPr id="5" name="Imagen 4">
            <a:extLst>
              <a:ext uri="{FF2B5EF4-FFF2-40B4-BE49-F238E27FC236}">
                <a16:creationId xmlns:a16="http://schemas.microsoft.com/office/drawing/2014/main" id="{441095E4-D1B7-488B-ABA4-6BE8E5C22C9B}"/>
              </a:ext>
            </a:extLst>
          </p:cNvPr>
          <p:cNvPicPr/>
          <p:nvPr/>
        </p:nvPicPr>
        <p:blipFill rotWithShape="1">
          <a:blip r:embed="rId2"/>
          <a:srcRect r="-888" b="11902"/>
          <a:stretch/>
        </p:blipFill>
        <p:spPr bwMode="auto">
          <a:xfrm>
            <a:off x="6096000" y="2039302"/>
            <a:ext cx="5661660" cy="277939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6450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904479" y="1468951"/>
            <a:ext cx="4673361" cy="6355586"/>
          </a:xfrm>
          <a:prstGeom prst="rect">
            <a:avLst/>
          </a:prstGeom>
          <a:noFill/>
        </p:spPr>
        <p:txBody>
          <a:bodyPr wrap="square">
            <a:spAutoFit/>
          </a:bodyPr>
          <a:lstStyle/>
          <a:p>
            <a:pPr algn="just">
              <a:lnSpc>
                <a:spcPct val="150000"/>
              </a:lnSpc>
              <a:spcBef>
                <a:spcPts val="200"/>
              </a:spcBef>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Servicios de </a:t>
            </a:r>
            <a:r>
              <a:rPr lang="es-MX" sz="1800" b="1" dirty="0" err="1">
                <a:effectLst/>
                <a:latin typeface="Arial" panose="020B0604020202020204" pitchFamily="34" charset="0"/>
                <a:ea typeface="Times New Roman" panose="02020603050405020304" pitchFamily="18" charset="0"/>
                <a:cs typeface="Times New Roman" panose="02020603050405020304" pitchFamily="18" charset="0"/>
              </a:rPr>
              <a:t>Supabase</a:t>
            </a: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 utilizados</a:t>
            </a:r>
          </a:p>
          <a:p>
            <a:pPr algn="just">
              <a:lnSpc>
                <a:spcPct val="150000"/>
              </a:lnSpc>
              <a:spcBef>
                <a:spcPts val="200"/>
              </a:spcBef>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1.También se utilizó el servicio de autenticación incluido en </a:t>
            </a:r>
            <a:r>
              <a:rPr lang="es-MX" sz="1800" dirty="0" err="1">
                <a:effectLst/>
                <a:latin typeface="Arial" panose="020B0604020202020204" pitchFamily="34" charset="0"/>
                <a:ea typeface="Times New Roman" panose="02020603050405020304" pitchFamily="18" charset="0"/>
                <a:cs typeface="Times New Roman" panose="02020603050405020304" pitchFamily="18" charset="0"/>
              </a:rPr>
              <a:t>Supabase</a:t>
            </a:r>
            <a:r>
              <a:rPr lang="es-MX" sz="1800" dirty="0">
                <a:effectLst/>
                <a:latin typeface="Arial" panose="020B0604020202020204" pitchFamily="34" charset="0"/>
                <a:ea typeface="Times New Roman" panose="02020603050405020304" pitchFamily="18" charset="0"/>
                <a:cs typeface="Times New Roman" panose="02020603050405020304" pitchFamily="18" charset="0"/>
              </a:rPr>
              <a:t>. Para esto simplemente se activó y se implemento en algunas partes del código como se describió anteriormente de manera breve.</a:t>
            </a:r>
          </a:p>
          <a:p>
            <a:pPr algn="just">
              <a:lnSpc>
                <a:spcPct val="150000"/>
              </a:lnSpc>
              <a:spcBef>
                <a:spcPts val="200"/>
              </a:spcBef>
            </a:pPr>
            <a:endParaRPr lang="es-MX" sz="1800" dirty="0">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spcBef>
                <a:spcPts val="200"/>
              </a:spcBef>
            </a:pPr>
            <a:r>
              <a:rPr lang="es-MX" dirty="0">
                <a:latin typeface="Arial" panose="020B0604020202020204" pitchFamily="34" charset="0"/>
                <a:ea typeface="Times New Roman" panose="02020603050405020304" pitchFamily="18" charset="0"/>
                <a:cs typeface="Times New Roman" panose="02020603050405020304" pitchFamily="18" charset="0"/>
              </a:rPr>
              <a:t>2. </a:t>
            </a:r>
            <a:r>
              <a:rPr lang="es-MX" sz="1800" dirty="0">
                <a:effectLst/>
                <a:latin typeface="Arial" panose="020B0604020202020204" pitchFamily="34" charset="0"/>
                <a:ea typeface="Calibri" panose="020F0502020204030204" pitchFamily="34" charset="0"/>
                <a:cs typeface="Times New Roman" panose="02020603050405020304" pitchFamily="18" charset="0"/>
              </a:rPr>
              <a:t>Se agregó la URL correspondiente al proyecto de Angular:  localhost:4200</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200"/>
              </a:spcBef>
            </a:pPr>
            <a:endParaRPr lang="es-MX" sz="1800" dirty="0">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MX" dirty="0">
              <a:latin typeface="Arial" panose="020B06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fld id="{C62C58D8-1624-4D54-ACD0-789AEADE08C3}" type="slidenum">
              <a:rPr lang="es-MX" smtClean="0"/>
              <a:t>14</a:t>
            </a:fld>
            <a:endParaRPr lang="es-MX"/>
          </a:p>
        </p:txBody>
      </p:sp>
      <p:pic>
        <p:nvPicPr>
          <p:cNvPr id="6" name="Imagen 5">
            <a:extLst>
              <a:ext uri="{FF2B5EF4-FFF2-40B4-BE49-F238E27FC236}">
                <a16:creationId xmlns:a16="http://schemas.microsoft.com/office/drawing/2014/main" id="{3783227F-BC78-48F5-A418-B2E1A4712C30}"/>
              </a:ext>
            </a:extLst>
          </p:cNvPr>
          <p:cNvPicPr/>
          <p:nvPr/>
        </p:nvPicPr>
        <p:blipFill rotWithShape="1">
          <a:blip r:embed="rId2"/>
          <a:srcRect t="11128" b="16305"/>
          <a:stretch/>
        </p:blipFill>
        <p:spPr bwMode="auto">
          <a:xfrm>
            <a:off x="6096000" y="1139825"/>
            <a:ext cx="5611495" cy="2289175"/>
          </a:xfrm>
          <a:prstGeom prst="rect">
            <a:avLst/>
          </a:prstGeom>
          <a:ln>
            <a:noFill/>
          </a:ln>
          <a:extLst>
            <a:ext uri="{53640926-AAD7-44D8-BBD7-CCE9431645EC}">
              <a14:shadowObscured xmlns:a14="http://schemas.microsoft.com/office/drawing/2010/main"/>
            </a:ext>
          </a:extLst>
        </p:spPr>
      </p:pic>
      <p:pic>
        <p:nvPicPr>
          <p:cNvPr id="7" name="Imagen 6">
            <a:extLst>
              <a:ext uri="{FF2B5EF4-FFF2-40B4-BE49-F238E27FC236}">
                <a16:creationId xmlns:a16="http://schemas.microsoft.com/office/drawing/2014/main" id="{33C78FC0-013B-4B60-9FD5-981C27C52A1F}"/>
              </a:ext>
            </a:extLst>
          </p:cNvPr>
          <p:cNvPicPr/>
          <p:nvPr/>
        </p:nvPicPr>
        <p:blipFill rotWithShape="1">
          <a:blip r:embed="rId3"/>
          <a:srcRect t="18196" b="16080"/>
          <a:stretch/>
        </p:blipFill>
        <p:spPr bwMode="auto">
          <a:xfrm>
            <a:off x="6096635" y="4020600"/>
            <a:ext cx="5610860" cy="20732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23948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E014447-F8D9-484F-9D35-ABB303092023}"/>
              </a:ext>
            </a:extLst>
          </p:cNvPr>
          <p:cNvSpPr txBox="1"/>
          <p:nvPr/>
        </p:nvSpPr>
        <p:spPr>
          <a:xfrm>
            <a:off x="1690489" y="1331791"/>
            <a:ext cx="8811021" cy="5914440"/>
          </a:xfrm>
          <a:prstGeom prst="rect">
            <a:avLst/>
          </a:prstGeom>
          <a:noFill/>
        </p:spPr>
        <p:txBody>
          <a:bodyPr wrap="square">
            <a:spAutoFit/>
          </a:bodyPr>
          <a:lstStyle/>
          <a:p>
            <a:pPr algn="just">
              <a:lnSpc>
                <a:spcPct val="150000"/>
              </a:lnSpc>
              <a:spcBef>
                <a:spcPts val="200"/>
              </a:spcBef>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Conclusión</a:t>
            </a:r>
          </a:p>
          <a:p>
            <a:pPr algn="just">
              <a:lnSpc>
                <a:spcPct val="150000"/>
              </a:lnSpc>
              <a:spcBef>
                <a:spcPts val="200"/>
              </a:spcBef>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En conclusión, en este segundo avance, se logró pasar de una interfaz estática (creada con Angular) a un sistema dinámico mediante la integración de datos y la comunicación asincrónica con </a:t>
            </a:r>
            <a:r>
              <a:rPr lang="es-MX" sz="1800" dirty="0" err="1">
                <a:effectLst/>
                <a:latin typeface="Arial" panose="020B0604020202020204" pitchFamily="34" charset="0"/>
                <a:ea typeface="Times New Roman" panose="02020603050405020304" pitchFamily="18" charset="0"/>
                <a:cs typeface="Times New Roman" panose="02020603050405020304" pitchFamily="18" charset="0"/>
              </a:rPr>
              <a:t>Supabase</a:t>
            </a:r>
            <a:r>
              <a:rPr lang="es-MX" sz="1800" dirty="0">
                <a:effectLst/>
                <a:latin typeface="Arial" panose="020B0604020202020204" pitchFamily="34" charset="0"/>
                <a:ea typeface="Times New Roman" panose="02020603050405020304" pitchFamily="18" charset="0"/>
                <a:cs typeface="Times New Roman" panose="02020603050405020304" pitchFamily="18" charset="0"/>
              </a:rPr>
              <a:t>. </a:t>
            </a:r>
          </a:p>
          <a:p>
            <a:pPr algn="just">
              <a:lnSpc>
                <a:spcPct val="150000"/>
              </a:lnSpc>
              <a:spcBef>
                <a:spcPts val="200"/>
              </a:spcBef>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Con estas herramientas en conjunto, se logró crear e implementar una base de datos. Se utilizó de manera exitosa la tabla "perfiles", que almacena la información de registro. Además, el servicio de autenticación hizo posible tener un control en los usuarios, al validar los datos se decide si el acceso se autoriza o es denegado.</a:t>
            </a:r>
          </a:p>
          <a:p>
            <a:pPr algn="just">
              <a:lnSpc>
                <a:spcPct val="150000"/>
              </a:lnSpc>
              <a:spcBef>
                <a:spcPts val="200"/>
              </a:spcBef>
            </a:pPr>
            <a:endParaRPr lang="es-MX" sz="1800" dirty="0">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spcAft>
                <a:spcPts val="800"/>
              </a:spcAft>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pPr>
            <a:endParaRPr lang="es-MX" sz="1800" dirty="0">
              <a:effectLst/>
              <a:latin typeface="Arial" panose="020B0604020202020204" pitchFamily="34" charset="0"/>
              <a:ea typeface="Calibri" panose="020F0502020204030204" pitchFamily="34" charset="0"/>
              <a:cs typeface="Arial" panose="020B0604020202020204" pitchFamily="34" charset="0"/>
            </a:endParaRPr>
          </a:p>
          <a:p>
            <a:pPr algn="just"/>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s-MX" dirty="0">
              <a:latin typeface="Arial" panose="020B06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3599E6C8-4CDD-47F5-9C66-74BDDAAFA328}"/>
              </a:ext>
            </a:extLst>
          </p:cNvPr>
          <p:cNvSpPr>
            <a:spLocks noGrp="1"/>
          </p:cNvSpPr>
          <p:nvPr>
            <p:ph type="sldNum" sz="quarter" idx="12"/>
          </p:nvPr>
        </p:nvSpPr>
        <p:spPr/>
        <p:txBody>
          <a:bodyPr/>
          <a:lstStyle/>
          <a:p>
            <a:fld id="{C62C58D8-1624-4D54-ACD0-789AEADE08C3}" type="slidenum">
              <a:rPr lang="es-MX" smtClean="0"/>
              <a:t>15</a:t>
            </a:fld>
            <a:endParaRPr lang="es-MX"/>
          </a:p>
        </p:txBody>
      </p:sp>
    </p:spTree>
    <p:extLst>
      <p:ext uri="{BB962C8B-B14F-4D97-AF65-F5344CB8AC3E}">
        <p14:creationId xmlns:p14="http://schemas.microsoft.com/office/powerpoint/2010/main" val="2434273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1591456" y="815859"/>
            <a:ext cx="9305144" cy="375538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Fuentes de información</a:t>
            </a: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Amankwah, K. (2025, 6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junio</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Creación de autenticación segura en Angular con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DEV Community. https://dev.to/kingsley/building-secure-authentication-in-angular-with-supabase-2e1p</a:t>
            </a:r>
            <a:endPar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Enlace a Git: </a:t>
            </a:r>
            <a:endParaRPr kumimoji="0" lang="es-MX"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https://github.com/yoselinescobedolopez/Programacion_web.git</a:t>
            </a:r>
            <a:endParaRPr kumimoji="0" lang="es-MX"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21673761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295</TotalTime>
  <Words>995</Words>
  <Application>Microsoft Office PowerPoint</Application>
  <PresentationFormat>Panorámica</PresentationFormat>
  <Paragraphs>114</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Calibri</vt:lpstr>
      <vt:lpstr>Calibri Light</vt:lpstr>
      <vt:lpstr>Century Gothic</vt:lpstr>
      <vt:lpstr>Symbol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Gleysi Yoselin Escobedo López</dc:creator>
  <cp:lastModifiedBy>Gleysi Yoselin Escobedo López</cp:lastModifiedBy>
  <cp:revision>10</cp:revision>
  <dcterms:created xsi:type="dcterms:W3CDTF">2026-05-30T17:12:49Z</dcterms:created>
  <dcterms:modified xsi:type="dcterms:W3CDTF">2026-05-30T22:08:40Z</dcterms:modified>
</cp:coreProperties>
</file>