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7"/>
  </p:notesMasterIdLst>
  <p:sldIdLst>
    <p:sldId id="262" r:id="rId3"/>
    <p:sldId id="273" r:id="rId4"/>
    <p:sldId id="275" r:id="rId5"/>
    <p:sldId id="265" r:id="rId6"/>
    <p:sldId id="256" r:id="rId7"/>
    <p:sldId id="285" r:id="rId8"/>
    <p:sldId id="286" r:id="rId9"/>
    <p:sldId id="287" r:id="rId10"/>
    <p:sldId id="288" r:id="rId11"/>
    <p:sldId id="289" r:id="rId12"/>
    <p:sldId id="290" r:id="rId13"/>
    <p:sldId id="291" r:id="rId14"/>
    <p:sldId id="280" r:id="rId15"/>
    <p:sldId id="292" r:id="rId16"/>
    <p:sldId id="257" r:id="rId17"/>
    <p:sldId id="276" r:id="rId18"/>
    <p:sldId id="277" r:id="rId19"/>
    <p:sldId id="278" r:id="rId20"/>
    <p:sldId id="293" r:id="rId21"/>
    <p:sldId id="294" r:id="rId22"/>
    <p:sldId id="295" r:id="rId23"/>
    <p:sldId id="284" r:id="rId24"/>
    <p:sldId id="264" r:id="rId25"/>
    <p:sldId id="296" r:id="rId2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0ECA8B-AAB0-428D-BCFC-BE9A649E3CE4}" type="datetimeFigureOut">
              <a:rPr lang="es-MX" smtClean="0"/>
              <a:t>12/06/2026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EF54F9-83F7-4D50-B4E6-6B6575DBF370}" type="slidenum">
              <a:rPr lang="es-MX" smtClean="0"/>
              <a:t>‹Nº›</a:t>
            </a:fld>
            <a:endParaRPr lang="es-MX"/>
          </a:p>
        </p:txBody>
      </p:sp>
    </p:spTree>
    <p:extLst>
      <p:ext uri="{BB962C8B-B14F-4D97-AF65-F5344CB8AC3E}">
        <p14:creationId xmlns:p14="http://schemas.microsoft.com/office/powerpoint/2010/main" val="1249092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1E7CB8-03D8-43B4-8C9D-D9E28618D5F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BE955021-30ED-4E0B-B687-30C6DAB6B2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C2F72F0D-BA28-4D81-B9C4-0A08BAAFFBDE}"/>
              </a:ext>
            </a:extLst>
          </p:cNvPr>
          <p:cNvSpPr>
            <a:spLocks noGrp="1"/>
          </p:cNvSpPr>
          <p:nvPr>
            <p:ph type="dt" sz="half" idx="10"/>
          </p:nvPr>
        </p:nvSpPr>
        <p:spPr/>
        <p:txBody>
          <a:bodyPr/>
          <a:lstStyle/>
          <a:p>
            <a:fld id="{E14B537E-B39D-4427-A890-3F8B973B0B77}" type="datetime1">
              <a:rPr lang="es-MX" smtClean="0"/>
              <a:t>12/06/2026</a:t>
            </a:fld>
            <a:endParaRPr lang="es-MX"/>
          </a:p>
        </p:txBody>
      </p:sp>
      <p:sp>
        <p:nvSpPr>
          <p:cNvPr id="5" name="Marcador de pie de página 4">
            <a:extLst>
              <a:ext uri="{FF2B5EF4-FFF2-40B4-BE49-F238E27FC236}">
                <a16:creationId xmlns:a16="http://schemas.microsoft.com/office/drawing/2014/main" id="{001D97DE-2F57-495C-A604-D2384FF4E62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B4BBBB5-9E2A-4296-9E4A-0F55C04C9A7C}"/>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3907360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921A5F-9D76-4213-AE18-9F9057E74BA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2A4E914A-9E68-4E87-A88A-4FE5C08C893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AE6B45F-350C-4200-821D-678BB1E42C05}"/>
              </a:ext>
            </a:extLst>
          </p:cNvPr>
          <p:cNvSpPr>
            <a:spLocks noGrp="1"/>
          </p:cNvSpPr>
          <p:nvPr>
            <p:ph type="dt" sz="half" idx="10"/>
          </p:nvPr>
        </p:nvSpPr>
        <p:spPr/>
        <p:txBody>
          <a:bodyPr/>
          <a:lstStyle/>
          <a:p>
            <a:fld id="{219C674B-F136-4572-AF79-42159E60014E}" type="datetime1">
              <a:rPr lang="es-MX" smtClean="0"/>
              <a:t>12/06/2026</a:t>
            </a:fld>
            <a:endParaRPr lang="es-MX"/>
          </a:p>
        </p:txBody>
      </p:sp>
      <p:sp>
        <p:nvSpPr>
          <p:cNvPr id="5" name="Marcador de pie de página 4">
            <a:extLst>
              <a:ext uri="{FF2B5EF4-FFF2-40B4-BE49-F238E27FC236}">
                <a16:creationId xmlns:a16="http://schemas.microsoft.com/office/drawing/2014/main" id="{6E5D498D-8093-4338-8BA7-D0E24E377E9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448245D-74C8-4E78-A5AC-50F0F34753BC}"/>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3639581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CC8F2F-C27C-4845-87D4-03E93D24E8D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9B9E0DB-E453-4044-8F21-F5716C9107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328BCDA-C318-4365-B21E-6F0EF34C3425}"/>
              </a:ext>
            </a:extLst>
          </p:cNvPr>
          <p:cNvSpPr>
            <a:spLocks noGrp="1"/>
          </p:cNvSpPr>
          <p:nvPr>
            <p:ph type="dt" sz="half" idx="10"/>
          </p:nvPr>
        </p:nvSpPr>
        <p:spPr/>
        <p:txBody>
          <a:bodyPr/>
          <a:lstStyle/>
          <a:p>
            <a:fld id="{7291FA42-EF22-4087-9D68-2CCC427E1B8D}" type="datetime1">
              <a:rPr lang="es-MX" smtClean="0"/>
              <a:t>12/06/2026</a:t>
            </a:fld>
            <a:endParaRPr lang="es-MX"/>
          </a:p>
        </p:txBody>
      </p:sp>
      <p:sp>
        <p:nvSpPr>
          <p:cNvPr id="5" name="Marcador de pie de página 4">
            <a:extLst>
              <a:ext uri="{FF2B5EF4-FFF2-40B4-BE49-F238E27FC236}">
                <a16:creationId xmlns:a16="http://schemas.microsoft.com/office/drawing/2014/main" id="{E5A5DE3A-9028-4031-8282-7FED4F84506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C88B76D-E822-47FA-B0FB-D55046E2BFA2}"/>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2575950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7157E-DFCB-44A8-B6B3-EC701845C0C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8DB0507-BE0B-46D4-A4B9-F59806FFE8D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B6AA8194-516E-42E7-A10E-37C99460F86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D5EB51F2-054E-41DB-8B46-ED8B9EB76318}"/>
              </a:ext>
            </a:extLst>
          </p:cNvPr>
          <p:cNvSpPr>
            <a:spLocks noGrp="1"/>
          </p:cNvSpPr>
          <p:nvPr>
            <p:ph type="dt" sz="half" idx="10"/>
          </p:nvPr>
        </p:nvSpPr>
        <p:spPr/>
        <p:txBody>
          <a:bodyPr/>
          <a:lstStyle/>
          <a:p>
            <a:fld id="{C7C65C5F-055C-49A2-BAD7-3467F05F5140}" type="datetime1">
              <a:rPr lang="es-MX" smtClean="0"/>
              <a:t>12/06/2026</a:t>
            </a:fld>
            <a:endParaRPr lang="es-MX"/>
          </a:p>
        </p:txBody>
      </p:sp>
      <p:sp>
        <p:nvSpPr>
          <p:cNvPr id="6" name="Marcador de pie de página 5">
            <a:extLst>
              <a:ext uri="{FF2B5EF4-FFF2-40B4-BE49-F238E27FC236}">
                <a16:creationId xmlns:a16="http://schemas.microsoft.com/office/drawing/2014/main" id="{D4AE5FD9-795E-466B-9633-471083CBB6B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FEC56F5-98F4-4249-849C-7EFEADC935B3}"/>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312696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FF77C5-3EA2-4F14-B986-79E82FA9FCE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7887810-472A-4C3E-B7BC-45AF336151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8321694-1627-4598-9BAD-4B77FEB7CF4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4EBA5A8F-3657-448E-8DA4-E0B9CE63B8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72897E2-F2C6-4B00-B6F0-75466ED48B6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0CBAF020-58D6-4A76-ACB8-FBF23E999521}"/>
              </a:ext>
            </a:extLst>
          </p:cNvPr>
          <p:cNvSpPr>
            <a:spLocks noGrp="1"/>
          </p:cNvSpPr>
          <p:nvPr>
            <p:ph type="dt" sz="half" idx="10"/>
          </p:nvPr>
        </p:nvSpPr>
        <p:spPr/>
        <p:txBody>
          <a:bodyPr/>
          <a:lstStyle/>
          <a:p>
            <a:fld id="{DD1D2DFC-4CC7-4D74-9450-23E75288A023}" type="datetime1">
              <a:rPr lang="es-MX" smtClean="0"/>
              <a:t>12/06/2026</a:t>
            </a:fld>
            <a:endParaRPr lang="es-MX"/>
          </a:p>
        </p:txBody>
      </p:sp>
      <p:sp>
        <p:nvSpPr>
          <p:cNvPr id="8" name="Marcador de pie de página 7">
            <a:extLst>
              <a:ext uri="{FF2B5EF4-FFF2-40B4-BE49-F238E27FC236}">
                <a16:creationId xmlns:a16="http://schemas.microsoft.com/office/drawing/2014/main" id="{D28C3538-E128-44DB-B465-CB8548761276}"/>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391373A6-42F7-4A5A-8A19-5CCCE542E8B3}"/>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912746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5FC35A-B853-4EE4-8ECE-D78D402880E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FA674D59-AD07-466F-90BC-BEDC6B4D9486}"/>
              </a:ext>
            </a:extLst>
          </p:cNvPr>
          <p:cNvSpPr>
            <a:spLocks noGrp="1"/>
          </p:cNvSpPr>
          <p:nvPr>
            <p:ph type="dt" sz="half" idx="10"/>
          </p:nvPr>
        </p:nvSpPr>
        <p:spPr/>
        <p:txBody>
          <a:bodyPr/>
          <a:lstStyle/>
          <a:p>
            <a:fld id="{A9FC013D-2796-4893-9007-ED0E1FF4EF2A}" type="datetime1">
              <a:rPr lang="es-MX" smtClean="0"/>
              <a:t>12/06/2026</a:t>
            </a:fld>
            <a:endParaRPr lang="es-MX"/>
          </a:p>
        </p:txBody>
      </p:sp>
      <p:sp>
        <p:nvSpPr>
          <p:cNvPr id="4" name="Marcador de pie de página 3">
            <a:extLst>
              <a:ext uri="{FF2B5EF4-FFF2-40B4-BE49-F238E27FC236}">
                <a16:creationId xmlns:a16="http://schemas.microsoft.com/office/drawing/2014/main" id="{3D351F91-2B06-4A8D-AF1F-599A751AD3D8}"/>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66FF9EEE-8762-4E07-B617-E3D194129EEC}"/>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1029542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0E1B190-7F3B-4789-938C-9C997B7171D7}"/>
              </a:ext>
            </a:extLst>
          </p:cNvPr>
          <p:cNvSpPr>
            <a:spLocks noGrp="1"/>
          </p:cNvSpPr>
          <p:nvPr>
            <p:ph type="dt" sz="half" idx="10"/>
          </p:nvPr>
        </p:nvSpPr>
        <p:spPr/>
        <p:txBody>
          <a:bodyPr/>
          <a:lstStyle/>
          <a:p>
            <a:fld id="{46757A3B-3841-4140-86B1-9D8E15DF119B}" type="datetime1">
              <a:rPr lang="es-MX" smtClean="0"/>
              <a:t>12/06/2026</a:t>
            </a:fld>
            <a:endParaRPr lang="es-MX"/>
          </a:p>
        </p:txBody>
      </p:sp>
      <p:sp>
        <p:nvSpPr>
          <p:cNvPr id="3" name="Marcador de pie de página 2">
            <a:extLst>
              <a:ext uri="{FF2B5EF4-FFF2-40B4-BE49-F238E27FC236}">
                <a16:creationId xmlns:a16="http://schemas.microsoft.com/office/drawing/2014/main" id="{67E892DA-36A2-4D6C-8CF4-EDE08E8E3BDA}"/>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A45773EC-BE4A-4123-B04B-2C5894D6A179}"/>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347808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CF2632-81D6-4954-9B71-9417E358B7C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A35207E-BBDF-40D8-8593-0CBF22B1B4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D799F19-7711-4372-9FAF-E2802914FC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6BC65FF-1836-4A77-8D8F-7BEC47E05A6B}"/>
              </a:ext>
            </a:extLst>
          </p:cNvPr>
          <p:cNvSpPr>
            <a:spLocks noGrp="1"/>
          </p:cNvSpPr>
          <p:nvPr>
            <p:ph type="dt" sz="half" idx="10"/>
          </p:nvPr>
        </p:nvSpPr>
        <p:spPr/>
        <p:txBody>
          <a:bodyPr/>
          <a:lstStyle/>
          <a:p>
            <a:fld id="{65C7B3F9-4A39-4460-8EB3-980838FD8B3B}" type="datetime1">
              <a:rPr lang="es-MX" smtClean="0"/>
              <a:t>12/06/2026</a:t>
            </a:fld>
            <a:endParaRPr lang="es-MX"/>
          </a:p>
        </p:txBody>
      </p:sp>
      <p:sp>
        <p:nvSpPr>
          <p:cNvPr id="6" name="Marcador de pie de página 5">
            <a:extLst>
              <a:ext uri="{FF2B5EF4-FFF2-40B4-BE49-F238E27FC236}">
                <a16:creationId xmlns:a16="http://schemas.microsoft.com/office/drawing/2014/main" id="{71CF638E-1211-43CC-952E-14A96C8B834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9E302B9-CA40-4CD6-A385-E9B4BBCB3F03}"/>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772983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32B0BD-5BF0-4ADE-953A-39E9BDAC861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8A43A6F6-A94E-4102-B2BA-81C6FDE8E7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0BF4876C-6719-4C7D-AE00-9E7C322E3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4943D38-4FEB-4C2C-8BA6-348D7972F87D}"/>
              </a:ext>
            </a:extLst>
          </p:cNvPr>
          <p:cNvSpPr>
            <a:spLocks noGrp="1"/>
          </p:cNvSpPr>
          <p:nvPr>
            <p:ph type="dt" sz="half" idx="10"/>
          </p:nvPr>
        </p:nvSpPr>
        <p:spPr/>
        <p:txBody>
          <a:bodyPr/>
          <a:lstStyle/>
          <a:p>
            <a:fld id="{CE405E11-B2F0-47CD-8E73-8C8EFEA5DDE4}" type="datetime1">
              <a:rPr lang="es-MX" smtClean="0"/>
              <a:t>12/06/2026</a:t>
            </a:fld>
            <a:endParaRPr lang="es-MX"/>
          </a:p>
        </p:txBody>
      </p:sp>
      <p:sp>
        <p:nvSpPr>
          <p:cNvPr id="6" name="Marcador de pie de página 5">
            <a:extLst>
              <a:ext uri="{FF2B5EF4-FFF2-40B4-BE49-F238E27FC236}">
                <a16:creationId xmlns:a16="http://schemas.microsoft.com/office/drawing/2014/main" id="{854B384F-F38D-41D3-BD98-A9329C48208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D77AB80-AD70-40B9-A20F-8154F669C531}"/>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1701087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8880A4-BFAA-4FFD-AE49-8BCB10DB06F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0E84846A-CB6F-4F6F-A532-1A0B9089DE4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0704585-4AE0-4363-943D-5E8726F5F33D}"/>
              </a:ext>
            </a:extLst>
          </p:cNvPr>
          <p:cNvSpPr>
            <a:spLocks noGrp="1"/>
          </p:cNvSpPr>
          <p:nvPr>
            <p:ph type="dt" sz="half" idx="10"/>
          </p:nvPr>
        </p:nvSpPr>
        <p:spPr/>
        <p:txBody>
          <a:bodyPr/>
          <a:lstStyle/>
          <a:p>
            <a:fld id="{5EE24AF0-0005-419E-B0C4-CC65885AB75E}" type="datetime1">
              <a:rPr lang="es-MX" smtClean="0"/>
              <a:t>12/06/2026</a:t>
            </a:fld>
            <a:endParaRPr lang="es-MX"/>
          </a:p>
        </p:txBody>
      </p:sp>
      <p:sp>
        <p:nvSpPr>
          <p:cNvPr id="5" name="Marcador de pie de página 4">
            <a:extLst>
              <a:ext uri="{FF2B5EF4-FFF2-40B4-BE49-F238E27FC236}">
                <a16:creationId xmlns:a16="http://schemas.microsoft.com/office/drawing/2014/main" id="{EDDE55A4-91B4-401D-B76B-5BBF7182036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9551460-E787-4E4F-A92F-629A21CF9E4B}"/>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2408578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69F4F39-0948-42F9-88F1-EB273E4205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A721A08-7720-4A92-B875-209E41DA8F8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1CBB594-0BB9-42A0-9ECD-F52B8F812BE7}"/>
              </a:ext>
            </a:extLst>
          </p:cNvPr>
          <p:cNvSpPr>
            <a:spLocks noGrp="1"/>
          </p:cNvSpPr>
          <p:nvPr>
            <p:ph type="dt" sz="half" idx="10"/>
          </p:nvPr>
        </p:nvSpPr>
        <p:spPr/>
        <p:txBody>
          <a:bodyPr/>
          <a:lstStyle/>
          <a:p>
            <a:fld id="{20630822-2C10-47C7-AF9C-AF3EA88223C9}" type="datetime1">
              <a:rPr lang="es-MX" smtClean="0"/>
              <a:t>12/06/2026</a:t>
            </a:fld>
            <a:endParaRPr lang="es-MX"/>
          </a:p>
        </p:txBody>
      </p:sp>
      <p:sp>
        <p:nvSpPr>
          <p:cNvPr id="5" name="Marcador de pie de página 4">
            <a:extLst>
              <a:ext uri="{FF2B5EF4-FFF2-40B4-BE49-F238E27FC236}">
                <a16:creationId xmlns:a16="http://schemas.microsoft.com/office/drawing/2014/main" id="{6BE95B20-8021-46DE-A75E-3FC29A9F2BA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2592607-BB15-44B3-A079-DA58297F5CAD}"/>
              </a:ext>
            </a:extLst>
          </p:cNvPr>
          <p:cNvSpPr>
            <a:spLocks noGrp="1"/>
          </p:cNvSpPr>
          <p:nvPr>
            <p:ph type="sldNum" sz="quarter" idx="12"/>
          </p:nvPr>
        </p:nvSpPr>
        <p:spPr/>
        <p:txBody>
          <a:bodyPr/>
          <a:lstStyle/>
          <a:p>
            <a:fld id="{90A5DFEB-E07E-4B57-AD4A-E6E5A3B83734}" type="slidenum">
              <a:rPr lang="es-MX" smtClean="0"/>
              <a:t>‹Nº›</a:t>
            </a:fld>
            <a:endParaRPr lang="es-MX"/>
          </a:p>
        </p:txBody>
      </p:sp>
    </p:spTree>
    <p:extLst>
      <p:ext uri="{BB962C8B-B14F-4D97-AF65-F5344CB8AC3E}">
        <p14:creationId xmlns:p14="http://schemas.microsoft.com/office/powerpoint/2010/main" val="1378686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0569BB-D1AA-41BC-9020-12FA9072CA7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F5541158-CFD6-4C3C-BDE3-79C9F5F31E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C156E42B-87AB-4AF8-88AF-930AFB3369FC}"/>
              </a:ext>
            </a:extLst>
          </p:cNvPr>
          <p:cNvSpPr>
            <a:spLocks noGrp="1"/>
          </p:cNvSpPr>
          <p:nvPr>
            <p:ph type="dt" sz="half" idx="10"/>
          </p:nvPr>
        </p:nvSpPr>
        <p:spPr/>
        <p:txBody>
          <a:bodyPr/>
          <a:lstStyle/>
          <a:p>
            <a:fld id="{D77915CB-2684-4AD9-B52B-C929763090CA}" type="datetime1">
              <a:rPr lang="es-MX" smtClean="0"/>
              <a:t>12/06/2026</a:t>
            </a:fld>
            <a:endParaRPr lang="es-MX"/>
          </a:p>
        </p:txBody>
      </p:sp>
      <p:sp>
        <p:nvSpPr>
          <p:cNvPr id="5" name="Marcador de pie de página 4">
            <a:extLst>
              <a:ext uri="{FF2B5EF4-FFF2-40B4-BE49-F238E27FC236}">
                <a16:creationId xmlns:a16="http://schemas.microsoft.com/office/drawing/2014/main" id="{E2AD6A0D-EA8B-453D-AE10-AC76323DAF3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6BB4BCA-5729-478B-B189-05322C120D41}"/>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34099647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DBE825-AE03-46CC-B509-C2868569C1D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5C182F8-7F8B-4132-8504-639CE9B6A65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FB52CFE-7F0E-4B86-A717-CC8B5F37B5A9}"/>
              </a:ext>
            </a:extLst>
          </p:cNvPr>
          <p:cNvSpPr>
            <a:spLocks noGrp="1"/>
          </p:cNvSpPr>
          <p:nvPr>
            <p:ph type="dt" sz="half" idx="10"/>
          </p:nvPr>
        </p:nvSpPr>
        <p:spPr/>
        <p:txBody>
          <a:bodyPr/>
          <a:lstStyle/>
          <a:p>
            <a:fld id="{CC66BEDB-3A64-4BD9-937C-92C35E747F6B}" type="datetime1">
              <a:rPr lang="es-MX" smtClean="0"/>
              <a:t>12/06/2026</a:t>
            </a:fld>
            <a:endParaRPr lang="es-MX"/>
          </a:p>
        </p:txBody>
      </p:sp>
      <p:sp>
        <p:nvSpPr>
          <p:cNvPr id="5" name="Marcador de pie de página 4">
            <a:extLst>
              <a:ext uri="{FF2B5EF4-FFF2-40B4-BE49-F238E27FC236}">
                <a16:creationId xmlns:a16="http://schemas.microsoft.com/office/drawing/2014/main" id="{9BC654AE-C89B-4BEA-A2C6-3A2912190CF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11FBAAC-DACC-40C3-8808-14B34FDC2AA5}"/>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18423749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9024A9-ADC0-475C-A4CE-52EC4194E9C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88DEDB7-2AC4-4038-9094-37466A0EA4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C127CF8-A74A-4A66-80CA-4069A986E340}"/>
              </a:ext>
            </a:extLst>
          </p:cNvPr>
          <p:cNvSpPr>
            <a:spLocks noGrp="1"/>
          </p:cNvSpPr>
          <p:nvPr>
            <p:ph type="dt" sz="half" idx="10"/>
          </p:nvPr>
        </p:nvSpPr>
        <p:spPr/>
        <p:txBody>
          <a:bodyPr/>
          <a:lstStyle/>
          <a:p>
            <a:fld id="{7867856E-A756-49D7-9127-08A5FEE39B11}" type="datetime1">
              <a:rPr lang="es-MX" smtClean="0"/>
              <a:t>12/06/2026</a:t>
            </a:fld>
            <a:endParaRPr lang="es-MX"/>
          </a:p>
        </p:txBody>
      </p:sp>
      <p:sp>
        <p:nvSpPr>
          <p:cNvPr id="5" name="Marcador de pie de página 4">
            <a:extLst>
              <a:ext uri="{FF2B5EF4-FFF2-40B4-BE49-F238E27FC236}">
                <a16:creationId xmlns:a16="http://schemas.microsoft.com/office/drawing/2014/main" id="{89E4F050-3352-46A9-9F93-62EEA78D880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A020346-687C-4755-BD4B-F4FCB309E9F3}"/>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30582527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03DBBE-D2E4-4F04-B922-5FD7577268A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BC68BAE-5D08-4DB1-B4F8-B7570F89E75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C093BADE-23A4-4D42-A5BB-1FA6BDBCDF4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E52EA602-54A7-45EB-A826-11A0035CFF6F}"/>
              </a:ext>
            </a:extLst>
          </p:cNvPr>
          <p:cNvSpPr>
            <a:spLocks noGrp="1"/>
          </p:cNvSpPr>
          <p:nvPr>
            <p:ph type="dt" sz="half" idx="10"/>
          </p:nvPr>
        </p:nvSpPr>
        <p:spPr/>
        <p:txBody>
          <a:bodyPr/>
          <a:lstStyle/>
          <a:p>
            <a:fld id="{0F0D400F-7146-497B-9B9A-15172F13A02D}" type="datetime1">
              <a:rPr lang="es-MX" smtClean="0"/>
              <a:t>12/06/2026</a:t>
            </a:fld>
            <a:endParaRPr lang="es-MX"/>
          </a:p>
        </p:txBody>
      </p:sp>
      <p:sp>
        <p:nvSpPr>
          <p:cNvPr id="6" name="Marcador de pie de página 5">
            <a:extLst>
              <a:ext uri="{FF2B5EF4-FFF2-40B4-BE49-F238E27FC236}">
                <a16:creationId xmlns:a16="http://schemas.microsoft.com/office/drawing/2014/main" id="{844EBFCF-024B-4F45-AE25-565676518D1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6EC06DF-BE02-4D50-976E-47B7A16B6B82}"/>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29765559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460EC7-1D14-4C95-A1F8-137DF6F397A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E1B9F03-7F8A-4BB3-8FB2-248C69A9FB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931729C-46FF-4211-B612-707528778B1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F51AC62D-32E8-41C0-A71D-01FC60F837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A1F56A6-EE9F-46F9-9F6C-F5C0C65834D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5AC8D94F-CE70-4ACA-A646-58C05D558820}"/>
              </a:ext>
            </a:extLst>
          </p:cNvPr>
          <p:cNvSpPr>
            <a:spLocks noGrp="1"/>
          </p:cNvSpPr>
          <p:nvPr>
            <p:ph type="dt" sz="half" idx="10"/>
          </p:nvPr>
        </p:nvSpPr>
        <p:spPr/>
        <p:txBody>
          <a:bodyPr/>
          <a:lstStyle/>
          <a:p>
            <a:fld id="{FDBB07ED-6A46-4EC5-8D31-AF5325EB791E}" type="datetime1">
              <a:rPr lang="es-MX" smtClean="0"/>
              <a:t>12/06/2026</a:t>
            </a:fld>
            <a:endParaRPr lang="es-MX"/>
          </a:p>
        </p:txBody>
      </p:sp>
      <p:sp>
        <p:nvSpPr>
          <p:cNvPr id="8" name="Marcador de pie de página 7">
            <a:extLst>
              <a:ext uri="{FF2B5EF4-FFF2-40B4-BE49-F238E27FC236}">
                <a16:creationId xmlns:a16="http://schemas.microsoft.com/office/drawing/2014/main" id="{65D87F43-1A42-46F0-943E-15A74E8443D5}"/>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F4D81AF9-C612-4360-9AA5-05A9FA1A3B33}"/>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22950766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D94446-690F-49EA-9935-A793775A3BD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7CEF97F0-CD59-4395-819D-575B099BCC59}"/>
              </a:ext>
            </a:extLst>
          </p:cNvPr>
          <p:cNvSpPr>
            <a:spLocks noGrp="1"/>
          </p:cNvSpPr>
          <p:nvPr>
            <p:ph type="dt" sz="half" idx="10"/>
          </p:nvPr>
        </p:nvSpPr>
        <p:spPr/>
        <p:txBody>
          <a:bodyPr/>
          <a:lstStyle/>
          <a:p>
            <a:fld id="{E8E6EC20-398A-4F8E-8907-91BEED6CE050}" type="datetime1">
              <a:rPr lang="es-MX" smtClean="0"/>
              <a:t>12/06/2026</a:t>
            </a:fld>
            <a:endParaRPr lang="es-MX"/>
          </a:p>
        </p:txBody>
      </p:sp>
      <p:sp>
        <p:nvSpPr>
          <p:cNvPr id="4" name="Marcador de pie de página 3">
            <a:extLst>
              <a:ext uri="{FF2B5EF4-FFF2-40B4-BE49-F238E27FC236}">
                <a16:creationId xmlns:a16="http://schemas.microsoft.com/office/drawing/2014/main" id="{B1445D2D-714D-4012-B8DB-9A6A2B389F6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5CCCAFA4-38B3-479F-A478-DA1E2C33EF16}"/>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2347545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290A9B8-38BB-46D4-9638-31D7C88E3905}"/>
              </a:ext>
            </a:extLst>
          </p:cNvPr>
          <p:cNvSpPr>
            <a:spLocks noGrp="1"/>
          </p:cNvSpPr>
          <p:nvPr>
            <p:ph type="dt" sz="half" idx="10"/>
          </p:nvPr>
        </p:nvSpPr>
        <p:spPr/>
        <p:txBody>
          <a:bodyPr/>
          <a:lstStyle/>
          <a:p>
            <a:fld id="{96403480-F7FA-4694-86FE-8DD7AB8AAB4D}" type="datetime1">
              <a:rPr lang="es-MX" smtClean="0"/>
              <a:t>12/06/2026</a:t>
            </a:fld>
            <a:endParaRPr lang="es-MX"/>
          </a:p>
        </p:txBody>
      </p:sp>
      <p:sp>
        <p:nvSpPr>
          <p:cNvPr id="3" name="Marcador de pie de página 2">
            <a:extLst>
              <a:ext uri="{FF2B5EF4-FFF2-40B4-BE49-F238E27FC236}">
                <a16:creationId xmlns:a16="http://schemas.microsoft.com/office/drawing/2014/main" id="{8BE665E4-512D-4688-B71F-8EBF1E9EA2FA}"/>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B6B721AF-AC52-44F9-B8E1-2942BB55CA4E}"/>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30320958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5E4005-27CE-4673-8E2A-3E393024B82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E6CD5B0-4D5F-4626-8167-9BDAB9E027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B160094B-F4D6-45B5-A313-1E20154FF2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F293834-E6EA-4CA6-85FC-579B32CF794E}"/>
              </a:ext>
            </a:extLst>
          </p:cNvPr>
          <p:cNvSpPr>
            <a:spLocks noGrp="1"/>
          </p:cNvSpPr>
          <p:nvPr>
            <p:ph type="dt" sz="half" idx="10"/>
          </p:nvPr>
        </p:nvSpPr>
        <p:spPr/>
        <p:txBody>
          <a:bodyPr/>
          <a:lstStyle/>
          <a:p>
            <a:fld id="{248DDF87-7080-4D04-88C8-317B64B148B7}" type="datetime1">
              <a:rPr lang="es-MX" smtClean="0"/>
              <a:t>12/06/2026</a:t>
            </a:fld>
            <a:endParaRPr lang="es-MX"/>
          </a:p>
        </p:txBody>
      </p:sp>
      <p:sp>
        <p:nvSpPr>
          <p:cNvPr id="6" name="Marcador de pie de página 5">
            <a:extLst>
              <a:ext uri="{FF2B5EF4-FFF2-40B4-BE49-F238E27FC236}">
                <a16:creationId xmlns:a16="http://schemas.microsoft.com/office/drawing/2014/main" id="{00CA0BAB-DDE7-4DFE-90A0-23ED645316B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23202B5-385C-450E-86FD-EDE657DCA17B}"/>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35538342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D6DA8C-5A92-4395-8B52-1B64C0012F6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39150023-BFFF-4E45-BB48-B33318C3A6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9BECFF12-0C6F-4BB4-96CE-B003C0EA2E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F40389C-C27C-4B18-95B7-A39C92F10F94}"/>
              </a:ext>
            </a:extLst>
          </p:cNvPr>
          <p:cNvSpPr>
            <a:spLocks noGrp="1"/>
          </p:cNvSpPr>
          <p:nvPr>
            <p:ph type="dt" sz="half" idx="10"/>
          </p:nvPr>
        </p:nvSpPr>
        <p:spPr/>
        <p:txBody>
          <a:bodyPr/>
          <a:lstStyle/>
          <a:p>
            <a:fld id="{7F486D58-5117-4B8F-8500-5045B431E6C2}" type="datetime1">
              <a:rPr lang="es-MX" smtClean="0"/>
              <a:t>12/06/2026</a:t>
            </a:fld>
            <a:endParaRPr lang="es-MX"/>
          </a:p>
        </p:txBody>
      </p:sp>
      <p:sp>
        <p:nvSpPr>
          <p:cNvPr id="6" name="Marcador de pie de página 5">
            <a:extLst>
              <a:ext uri="{FF2B5EF4-FFF2-40B4-BE49-F238E27FC236}">
                <a16:creationId xmlns:a16="http://schemas.microsoft.com/office/drawing/2014/main" id="{7E478831-E1D8-4A43-8974-AB1822DCD2F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602E3EF-8287-47CA-9B6F-1494D91C6ADF}"/>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32456766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F10128-0488-488A-9C5F-6BE7434A08E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7090DA6-E9CE-4F26-9757-6DB2E7EAF8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E5E9C56-F4C1-48CE-AE02-C2F84544E0F0}"/>
              </a:ext>
            </a:extLst>
          </p:cNvPr>
          <p:cNvSpPr>
            <a:spLocks noGrp="1"/>
          </p:cNvSpPr>
          <p:nvPr>
            <p:ph type="dt" sz="half" idx="10"/>
          </p:nvPr>
        </p:nvSpPr>
        <p:spPr/>
        <p:txBody>
          <a:bodyPr/>
          <a:lstStyle/>
          <a:p>
            <a:fld id="{DB46EEC1-3A40-4E7C-B91C-34BA995EDB68}" type="datetime1">
              <a:rPr lang="es-MX" smtClean="0"/>
              <a:t>12/06/2026</a:t>
            </a:fld>
            <a:endParaRPr lang="es-MX"/>
          </a:p>
        </p:txBody>
      </p:sp>
      <p:sp>
        <p:nvSpPr>
          <p:cNvPr id="5" name="Marcador de pie de página 4">
            <a:extLst>
              <a:ext uri="{FF2B5EF4-FFF2-40B4-BE49-F238E27FC236}">
                <a16:creationId xmlns:a16="http://schemas.microsoft.com/office/drawing/2014/main" id="{60D66ACF-0E09-42A4-8BD5-A09F849FCF8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0FAB16C-4B13-4E12-9330-698178DFD3EF}"/>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17994735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2C6105C-27C2-4857-83E2-F751F27E66C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4A8E83D-195D-4EFF-9F61-045A05AE49A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456A393-A363-4812-8C9C-B24C41992E65}"/>
              </a:ext>
            </a:extLst>
          </p:cNvPr>
          <p:cNvSpPr>
            <a:spLocks noGrp="1"/>
          </p:cNvSpPr>
          <p:nvPr>
            <p:ph type="dt" sz="half" idx="10"/>
          </p:nvPr>
        </p:nvSpPr>
        <p:spPr/>
        <p:txBody>
          <a:bodyPr/>
          <a:lstStyle/>
          <a:p>
            <a:fld id="{9D9868A7-8A19-46D4-88B4-1A35902D5A54}" type="datetime1">
              <a:rPr lang="es-MX" smtClean="0"/>
              <a:t>12/06/2026</a:t>
            </a:fld>
            <a:endParaRPr lang="es-MX"/>
          </a:p>
        </p:txBody>
      </p:sp>
      <p:sp>
        <p:nvSpPr>
          <p:cNvPr id="5" name="Marcador de pie de página 4">
            <a:extLst>
              <a:ext uri="{FF2B5EF4-FFF2-40B4-BE49-F238E27FC236}">
                <a16:creationId xmlns:a16="http://schemas.microsoft.com/office/drawing/2014/main" id="{5DB29CA4-6735-4DFB-9D4F-0CDF0341646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F7443E7-C4C5-4D96-8315-AC8570BF4FC2}"/>
              </a:ext>
            </a:extLst>
          </p:cNvPr>
          <p:cNvSpPr>
            <a:spLocks noGrp="1"/>
          </p:cNvSpPr>
          <p:nvPr>
            <p:ph type="sldNum" sz="quarter" idx="12"/>
          </p:nvPr>
        </p:nvSpPr>
        <p:spPr/>
        <p:txBody>
          <a:bodyPr/>
          <a:lstStyle/>
          <a:p>
            <a:fld id="{28FAD80A-BD4B-4644-B5A4-99133F8C7605}" type="slidenum">
              <a:rPr lang="es-MX" smtClean="0"/>
              <a:t>‹Nº›</a:t>
            </a:fld>
            <a:endParaRPr lang="es-MX"/>
          </a:p>
        </p:txBody>
      </p:sp>
    </p:spTree>
    <p:extLst>
      <p:ext uri="{BB962C8B-B14F-4D97-AF65-F5344CB8AC3E}">
        <p14:creationId xmlns:p14="http://schemas.microsoft.com/office/powerpoint/2010/main" val="1519619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04FD0AA-29A1-4162-B679-4D47F85144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2AAE008-553E-46A0-9F31-04AB87FF44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0BBB6A6-AC9F-46A0-8D76-136DA49AC7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EC8C28-4E43-4B30-99F9-ADAAAD40CBD2}" type="datetime1">
              <a:rPr lang="es-MX" smtClean="0"/>
              <a:t>12/06/2026</a:t>
            </a:fld>
            <a:endParaRPr lang="es-MX"/>
          </a:p>
        </p:txBody>
      </p:sp>
      <p:sp>
        <p:nvSpPr>
          <p:cNvPr id="5" name="Marcador de pie de página 4">
            <a:extLst>
              <a:ext uri="{FF2B5EF4-FFF2-40B4-BE49-F238E27FC236}">
                <a16:creationId xmlns:a16="http://schemas.microsoft.com/office/drawing/2014/main" id="{98BD1803-3D43-4F9A-8C6B-399132383D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D99F700-F3B2-40B0-9EA1-F773A612AF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A5DFEB-E07E-4B57-AD4A-E6E5A3B83734}" type="slidenum">
              <a:rPr lang="es-MX" smtClean="0"/>
              <a:t>‹Nº›</a:t>
            </a:fld>
            <a:endParaRPr lang="es-MX"/>
          </a:p>
        </p:txBody>
      </p:sp>
    </p:spTree>
    <p:extLst>
      <p:ext uri="{BB962C8B-B14F-4D97-AF65-F5344CB8AC3E}">
        <p14:creationId xmlns:p14="http://schemas.microsoft.com/office/powerpoint/2010/main" val="3024910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39B675D-071B-4847-9543-0DCB7D9C78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8D314C1-8F19-418C-856F-AC97FC978A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7BC66FD-9D89-41C0-BC61-80EDD1C390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A7DDD1-9F77-4F12-BA00-45107A5EA290}" type="datetime1">
              <a:rPr lang="es-MX" smtClean="0"/>
              <a:t>12/06/2026</a:t>
            </a:fld>
            <a:endParaRPr lang="es-MX"/>
          </a:p>
        </p:txBody>
      </p:sp>
      <p:sp>
        <p:nvSpPr>
          <p:cNvPr id="5" name="Marcador de pie de página 4">
            <a:extLst>
              <a:ext uri="{FF2B5EF4-FFF2-40B4-BE49-F238E27FC236}">
                <a16:creationId xmlns:a16="http://schemas.microsoft.com/office/drawing/2014/main" id="{7AA1CAEC-B7C9-432B-A5D8-7E64531535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3DC3655C-7C03-453D-8F41-CD80804D8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FAD80A-BD4B-4644-B5A4-99133F8C7605}" type="slidenum">
              <a:rPr lang="es-MX" smtClean="0"/>
              <a:t>‹Nº›</a:t>
            </a:fld>
            <a:endParaRPr lang="es-MX"/>
          </a:p>
        </p:txBody>
      </p:sp>
    </p:spTree>
    <p:extLst>
      <p:ext uri="{BB962C8B-B14F-4D97-AF65-F5344CB8AC3E}">
        <p14:creationId xmlns:p14="http://schemas.microsoft.com/office/powerpoint/2010/main" val="9264724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1EC1F6CC-7BF3-471C-ACB4-A42ECE5F5FC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0" y="399828"/>
            <a:ext cx="1685296" cy="687876"/>
          </a:xfrm>
          <a:prstGeom prst="rect">
            <a:avLst/>
          </a:prstGeom>
        </p:spPr>
      </p:pic>
      <p:pic>
        <p:nvPicPr>
          <p:cNvPr id="3" name="Imagen 2">
            <a:extLst>
              <a:ext uri="{FF2B5EF4-FFF2-40B4-BE49-F238E27FC236}">
                <a16:creationId xmlns:a16="http://schemas.microsoft.com/office/drawing/2014/main" id="{D5AFBEAA-4C56-4B12-A262-9A51F25B018C}"/>
              </a:ext>
            </a:extLst>
          </p:cNvPr>
          <p:cNvPicPr>
            <a:picLocks noChangeAspect="1"/>
          </p:cNvPicPr>
          <p:nvPr/>
        </p:nvPicPr>
        <p:blipFill>
          <a:blip r:embed="rId3">
            <a:extLst>
              <a:ext uri="{28A0092B-C50C-407E-A947-70E740481C1C}">
                <a14:useLocalDpi xmlns:a14="http://schemas.microsoft.com/office/drawing/2010/main" val="0"/>
              </a:ext>
            </a:extLst>
          </a:blip>
          <a:srcRect l="65474" t="-1" b="-40163"/>
          <a:stretch/>
        </p:blipFill>
        <p:spPr>
          <a:xfrm>
            <a:off x="5725501" y="309135"/>
            <a:ext cx="1752758" cy="1054163"/>
          </a:xfrm>
          <a:prstGeom prst="rect">
            <a:avLst/>
          </a:prstGeom>
        </p:spPr>
      </p:pic>
      <p:sp>
        <p:nvSpPr>
          <p:cNvPr id="4" name="CuadroTexto 3">
            <a:extLst>
              <a:ext uri="{FF2B5EF4-FFF2-40B4-BE49-F238E27FC236}">
                <a16:creationId xmlns:a16="http://schemas.microsoft.com/office/drawing/2014/main" id="{DDFEC3B5-7446-4AA9-9BA0-C981DBC6B43E}"/>
              </a:ext>
            </a:extLst>
          </p:cNvPr>
          <p:cNvSpPr txBox="1"/>
          <p:nvPr/>
        </p:nvSpPr>
        <p:spPr>
          <a:xfrm>
            <a:off x="2547226" y="1359301"/>
            <a:ext cx="7234002" cy="5362174"/>
          </a:xfrm>
          <a:prstGeom prst="rect">
            <a:avLst/>
          </a:prstGeom>
          <a:noFill/>
        </p:spPr>
        <p:txBody>
          <a:bodyPr wrap="square">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Tecnológico Nacional de México</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Instituto Tecnológico de Frontera Comalapa </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MX"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Reporte de práctica </a:t>
            </a: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ptos" panose="020B0004020202020204" pitchFamily="34" charset="0"/>
                <a:cs typeface="Arial" panose="020B0604020202020204" pitchFamily="34" charset="0"/>
              </a:rPr>
              <a:t>Programación web</a:t>
            </a:r>
          </a:p>
          <a:p>
            <a:pPr marL="0" marR="0" lvl="0" indent="0" algn="ctr" defTabSz="914400" rtl="0" eaLnBrk="1" fontAlgn="auto" latinLnBrk="0" hangingPunct="1">
              <a:lnSpc>
                <a:spcPct val="150000"/>
              </a:lnSpc>
              <a:spcBef>
                <a:spcPts val="0"/>
              </a:spcBef>
              <a:spcAft>
                <a:spcPts val="800"/>
              </a:spcAft>
              <a:buClrTx/>
              <a:buSzTx/>
              <a:buFontTx/>
              <a:buNone/>
              <a:tabLst/>
              <a:defRPr/>
            </a:pPr>
            <a:endPar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Alumna: Gleysi Yoselin Escobedo López</a:t>
            </a: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Semestre: 8</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Número de control: 22270456</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Carrera: Ingeniería en Sistemas Computacionales</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Docente: Ing. </a:t>
            </a:r>
            <a:r>
              <a:rPr kumimoji="0" lang="es-E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Francisco Javier Velázquez Mingo</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Fecha de entrega: 12 de junio de 2026</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9D4C9BBF-FEB7-426F-9540-01718B54F0DD}"/>
              </a:ext>
            </a:extLst>
          </p:cNvPr>
          <p:cNvPicPr>
            <a:picLocks noChangeAspect="1"/>
          </p:cNvPicPr>
          <p:nvPr/>
        </p:nvPicPr>
        <p:blipFill>
          <a:blip r:embed="rId3">
            <a:extLst>
              <a:ext uri="{28A0092B-C50C-407E-A947-70E740481C1C}">
                <a14:useLocalDpi xmlns:a14="http://schemas.microsoft.com/office/drawing/2010/main" val="0"/>
              </a:ext>
            </a:extLst>
          </a:blip>
          <a:srcRect r="37787" b="6206"/>
          <a:stretch/>
        </p:blipFill>
        <p:spPr>
          <a:xfrm>
            <a:off x="2017468" y="122721"/>
            <a:ext cx="2599700" cy="580650"/>
          </a:xfrm>
          <a:prstGeom prst="rect">
            <a:avLst/>
          </a:prstGeom>
        </p:spPr>
      </p:pic>
      <p:sp>
        <p:nvSpPr>
          <p:cNvPr id="6" name="Marcador de número de diapositiva 5">
            <a:extLst>
              <a:ext uri="{FF2B5EF4-FFF2-40B4-BE49-F238E27FC236}">
                <a16:creationId xmlns:a16="http://schemas.microsoft.com/office/drawing/2014/main" id="{D0B9732A-2E66-4426-B98C-DE2B98A09AB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FAD80A-BD4B-4644-B5A4-99133F8C7605}"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2595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8E05B76-8C46-41F1-8E3D-E9CCAACF8FAF}"/>
              </a:ext>
            </a:extLst>
          </p:cNvPr>
          <p:cNvSpPr txBox="1"/>
          <p:nvPr/>
        </p:nvSpPr>
        <p:spPr>
          <a:xfrm>
            <a:off x="2412189" y="255658"/>
            <a:ext cx="9305144" cy="1084450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Contenido</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Introducción……………………………………………………………..……………3</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Justificación……………………………………………………………..……………4</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Creación de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requisitos_documento</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……………………………………….………5</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Inserción de datos en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requisitos_documento</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…………………………………….6</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Políticas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requisitos_documento</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……………………………………………………7</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Dashboard</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alumno-Mostrar requisitos……..……...…………..…………………</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8-9</a:t>
            </a:r>
          </a:p>
          <a:p>
            <a:pPr algn="just">
              <a:lnSpc>
                <a:spcPct val="150000"/>
              </a:lnSpc>
              <a:spcAft>
                <a:spcPts val="800"/>
              </a:spcAft>
              <a:defRPr/>
            </a:pP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Solicitudes.service</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Mostrar requisitos……..……...…………..…………………10-11</a:t>
            </a:r>
          </a:p>
          <a:p>
            <a:pPr algn="just">
              <a:lnSpc>
                <a:spcPct val="150000"/>
              </a:lnSpc>
              <a:spcAft>
                <a:spcPts val="800"/>
              </a:spcAft>
              <a:defRPr/>
            </a:pPr>
            <a:r>
              <a:rPr lang="es-MX" sz="1800" b="0" i="0" kern="1200" spc="0" baseline="0" dirty="0" err="1">
                <a:ln>
                  <a:noFill/>
                </a:ln>
                <a:solidFill>
                  <a:srgbClr val="000000"/>
                </a:solidFill>
                <a:effectLst/>
                <a:latin typeface="Arial" panose="020B0604020202020204" pitchFamily="34" charset="0"/>
                <a:ea typeface="Aptos" panose="020B0004020202020204"/>
                <a:cs typeface="Arial" panose="020B0604020202020204" pitchFamily="34" charset="0"/>
              </a:rPr>
              <a:t>Dashboard</a:t>
            </a:r>
            <a:r>
              <a:rPr lang="es-MX" sz="1800" b="0" i="0" kern="1200" spc="0" baseline="0" dirty="0">
                <a:ln>
                  <a:noFill/>
                </a:ln>
                <a:solidFill>
                  <a:srgbClr val="000000"/>
                </a:solidFill>
                <a:effectLst/>
                <a:latin typeface="Arial" panose="020B0604020202020204" pitchFamily="34" charset="0"/>
                <a:ea typeface="Aptos" panose="020B0004020202020204"/>
                <a:cs typeface="Arial" panose="020B0604020202020204" pitchFamily="34" charset="0"/>
              </a:rPr>
              <a:t> Alumno-Mostrar estado de solicitudes….…………………</a:t>
            </a:r>
            <a:r>
              <a:rPr lang="es-MX" b="0" i="0" spc="0" baseline="0" dirty="0">
                <a:ln>
                  <a:noFill/>
                </a:ln>
                <a:solidFill>
                  <a:srgbClr val="000000"/>
                </a:solidFill>
                <a:latin typeface="Arial" panose="020B0604020202020204" pitchFamily="34" charset="0"/>
                <a:ea typeface="Aptos" panose="020B0004020202020204"/>
                <a:cs typeface="Arial" panose="020B0604020202020204" pitchFamily="34" charset="0"/>
              </a:rPr>
              <a:t>12</a:t>
            </a:r>
          </a:p>
          <a:p>
            <a:pPr algn="just">
              <a:lnSpc>
                <a:spcPct val="150000"/>
              </a:lnSpc>
              <a:spcAft>
                <a:spcPts val="800"/>
              </a:spcAft>
              <a:defRPr/>
            </a:pPr>
            <a:r>
              <a:rPr lang="es-MX" sz="1800" b="0" i="0" kern="1200" spc="0" baseline="0" dirty="0">
                <a:ln>
                  <a:noFill/>
                </a:ln>
                <a:solidFill>
                  <a:srgbClr val="000000"/>
                </a:solidFill>
                <a:effectLst/>
                <a:latin typeface="Arial" panose="020B0604020202020204" pitchFamily="34" charset="0"/>
                <a:ea typeface="Aptos" panose="020B0004020202020204"/>
                <a:cs typeface="Arial" panose="020B0604020202020204" pitchFamily="34" charset="0"/>
              </a:rPr>
              <a:t>Enviar requisitos solicitados………..……...…………..…………………</a:t>
            </a:r>
            <a:r>
              <a:rPr lang="es-MX" b="0" i="0" spc="0" baseline="0" dirty="0">
                <a:ln>
                  <a:noFill/>
                </a:ln>
                <a:solidFill>
                  <a:srgbClr val="000000"/>
                </a:solidFill>
                <a:latin typeface="Arial" panose="020B0604020202020204" pitchFamily="34" charset="0"/>
                <a:ea typeface="Aptos" panose="020B0004020202020204"/>
                <a:cs typeface="Arial" panose="020B0604020202020204" pitchFamily="34" charset="0"/>
              </a:rPr>
              <a:t>13-14</a:t>
            </a:r>
            <a:endParaRPr lang="es-MX" sz="1600" dirty="0">
              <a:effectLst/>
            </a:endParaRPr>
          </a:p>
          <a:p>
            <a:pPr algn="just">
              <a:lnSpc>
                <a:spcPct val="150000"/>
              </a:lnSpc>
              <a:spcAft>
                <a:spcPts val="800"/>
              </a:spcAft>
              <a:defRPr/>
            </a:pPr>
            <a:r>
              <a:rPr lang="es-MX" sz="1800" b="0" i="0" kern="1200" spc="0" baseline="0" dirty="0">
                <a:ln>
                  <a:noFill/>
                </a:ln>
                <a:solidFill>
                  <a:srgbClr val="000000"/>
                </a:solidFill>
                <a:effectLst/>
                <a:latin typeface="Arial" panose="020B0604020202020204" pitchFamily="34" charset="0"/>
                <a:ea typeface="Aptos" panose="020B0004020202020204"/>
                <a:cs typeface="Arial" panose="020B0604020202020204" pitchFamily="34" charset="0"/>
              </a:rPr>
              <a:t>Despliegue en Azure………………..……...…………..…………………</a:t>
            </a:r>
            <a:r>
              <a:rPr lang="es-MX" b="0" i="0" spc="0" baseline="0" dirty="0">
                <a:ln>
                  <a:noFill/>
                </a:ln>
                <a:solidFill>
                  <a:srgbClr val="000000"/>
                </a:solidFill>
                <a:latin typeface="Arial" panose="020B0604020202020204" pitchFamily="34" charset="0"/>
                <a:ea typeface="Aptos" panose="020B0004020202020204"/>
                <a:cs typeface="Arial" panose="020B0604020202020204" pitchFamily="34" charset="0"/>
              </a:rPr>
              <a:t>15-21</a:t>
            </a: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Conclusión…………………………………………………………………………....</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22</a:t>
            </a: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Fuentes de información………………………..…………………………………....</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23</a:t>
            </a: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4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4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3" name="Marcador de número de diapositiva 2">
            <a:extLst>
              <a:ext uri="{FF2B5EF4-FFF2-40B4-BE49-F238E27FC236}">
                <a16:creationId xmlns:a16="http://schemas.microsoft.com/office/drawing/2014/main" id="{D0658A4E-72AE-4243-BE78-EB0ECDB469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MX"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1573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0CE0191-9C54-491F-AFCD-659839E54898}"/>
              </a:ext>
            </a:extLst>
          </p:cNvPr>
          <p:cNvSpPr txBox="1"/>
          <p:nvPr/>
        </p:nvSpPr>
        <p:spPr>
          <a:xfrm>
            <a:off x="1578009" y="1261960"/>
            <a:ext cx="9305144" cy="342144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Introducción</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El presente reporte describe el avance final y despliegue del proyecto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SolicitaTec</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una aplicación web diseñada para la gestión y solicitud de documentos académicos en el Instituto Tecnológico de Frontera Comalapa. En esta fase del desarrollo, el enfoque principal consistió en mejorar y asegurar la interacción entre el usuario y el sistema mediante la implementación de una base de datos dinámica en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Supabase</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para el manejo de requisitos específicos por trámite. Asimismo, se terminó con el despliegue de la infraestructura en la plataforma Microsoft Azure, el documento el procedimiento seguido.</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3" name="Marcador de número de diapositiva 2">
            <a:extLst>
              <a:ext uri="{FF2B5EF4-FFF2-40B4-BE49-F238E27FC236}">
                <a16:creationId xmlns:a16="http://schemas.microsoft.com/office/drawing/2014/main" id="{C0844D1A-B0B6-46CC-A6F2-230A2CC20DD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0446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69FE783-E8E1-4393-A7C7-9A7FFD018D1D}"/>
              </a:ext>
            </a:extLst>
          </p:cNvPr>
          <p:cNvSpPr txBox="1"/>
          <p:nvPr/>
        </p:nvSpPr>
        <p:spPr>
          <a:xfrm>
            <a:off x="1559542" y="1304383"/>
            <a:ext cx="9305144" cy="347325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Justificación</a:t>
            </a: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dirty="0">
                <a:solidFill>
                  <a:prstClr val="black"/>
                </a:solidFill>
                <a:latin typeface="Arial" panose="020B0604020202020204" pitchFamily="34" charset="0"/>
                <a:cs typeface="Arial" panose="020B0604020202020204" pitchFamily="34" charset="0"/>
              </a:rPr>
              <a:t>L</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 creación de la aplicación web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SolicitaTec</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surge de la necesidad de modernizar este proceso dentro del Instituto Tecnológico de Frontera Comalapa. La importancia de este proyecto radica en su capacidad para transformar una gestión tradicional, brindando accesibilidad total para que los alumnos consulten requisitos y suban documentación desde cualquier lugar, al mismo tiempo que permite el seguimiento en tiempo real de los estados de cada trámite, para tener la certeza de cuándo estará listo. Para el desarrollo de este proyecto se utilizó el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framework</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Angular para una interfaz de usuario dinámica, para el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backend</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se integró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Supabase</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que permitió estructurar las reglas y requisitos específicos de cada documento.</a:t>
            </a: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3" name="Marcador de número de diapositiva 2">
            <a:extLst>
              <a:ext uri="{FF2B5EF4-FFF2-40B4-BE49-F238E27FC236}">
                <a16:creationId xmlns:a16="http://schemas.microsoft.com/office/drawing/2014/main" id="{956A23CC-72DB-482E-A641-B0ED1127D5F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FAD80A-BD4B-4644-B5A4-99133F8C7605}"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0629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1FDCDFF-7A3D-4E38-86FC-8F7F48746273}"/>
              </a:ext>
            </a:extLst>
          </p:cNvPr>
          <p:cNvPicPr>
            <a:picLocks noChangeAspect="1"/>
          </p:cNvPicPr>
          <p:nvPr/>
        </p:nvPicPr>
        <p:blipFill rotWithShape="1">
          <a:blip r:embed="rId2"/>
          <a:srcRect l="6112" t="4496" r="773" b="6745"/>
          <a:stretch/>
        </p:blipFill>
        <p:spPr>
          <a:xfrm>
            <a:off x="6717251" y="627342"/>
            <a:ext cx="5093607" cy="2729753"/>
          </a:xfrm>
          <a:prstGeom prst="rect">
            <a:avLst/>
          </a:prstGeom>
        </p:spPr>
      </p:pic>
      <p:pic>
        <p:nvPicPr>
          <p:cNvPr id="7" name="Imagen 6">
            <a:extLst>
              <a:ext uri="{FF2B5EF4-FFF2-40B4-BE49-F238E27FC236}">
                <a16:creationId xmlns:a16="http://schemas.microsoft.com/office/drawing/2014/main" id="{070E0C53-CE7B-45EE-A9ED-CB2312F710D9}"/>
              </a:ext>
            </a:extLst>
          </p:cNvPr>
          <p:cNvPicPr>
            <a:picLocks noChangeAspect="1"/>
          </p:cNvPicPr>
          <p:nvPr/>
        </p:nvPicPr>
        <p:blipFill rotWithShape="1">
          <a:blip r:embed="rId3"/>
          <a:srcRect l="21548" t="14136" b="5001"/>
          <a:stretch/>
        </p:blipFill>
        <p:spPr>
          <a:xfrm>
            <a:off x="7355542" y="3774515"/>
            <a:ext cx="4455316" cy="2581835"/>
          </a:xfrm>
          <a:prstGeom prst="rect">
            <a:avLst/>
          </a:prstGeom>
        </p:spPr>
      </p:pic>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5</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475271" y="627342"/>
            <a:ext cx="5879051" cy="6632585"/>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C</a:t>
            </a:r>
            <a:r>
              <a:rPr kumimoji="0" lang="es-MX" sz="1600" b="1"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reación</a:t>
            </a: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de </a:t>
            </a:r>
            <a:r>
              <a:rPr kumimoji="0" lang="es-MX" sz="1600" b="1"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requisitos_documento</a:t>
            </a: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Para añadir más funcionalidades a la  aplicación web se creó una nueva tabla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requisitos_documentos</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La tabla cuenta con tres columnas:</a:t>
            </a:r>
          </a:p>
          <a:p>
            <a:pPr marL="342900" marR="0" lvl="0" indent="-342900" algn="just" defTabSz="914400" rtl="0" eaLnBrk="1" fontAlgn="auto" latinLnBrk="0" hangingPunct="1">
              <a:lnSpc>
                <a:spcPct val="150000"/>
              </a:lnSpc>
              <a:spcBef>
                <a:spcPts val="0"/>
              </a:spcBef>
              <a:spcAft>
                <a:spcPts val="800"/>
              </a:spcAft>
              <a:buClrTx/>
              <a:buSzTx/>
              <a:buFont typeface="Arial" panose="020B0604020202020204" pitchFamily="34" charset="0"/>
              <a:buChar char="•"/>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Id</a:t>
            </a:r>
          </a:p>
          <a:p>
            <a:pPr marL="342900" marR="0" lvl="0" indent="-342900" algn="just" defTabSz="914400" rtl="0" eaLnBrk="1" fontAlgn="auto" latinLnBrk="0" hangingPunct="1">
              <a:lnSpc>
                <a:spcPct val="150000"/>
              </a:lnSpc>
              <a:spcBef>
                <a:spcPts val="0"/>
              </a:spcBef>
              <a:spcAft>
                <a:spcPts val="800"/>
              </a:spcAft>
              <a:buClrTx/>
              <a:buSzTx/>
              <a:buFont typeface="Arial" panose="020B0604020202020204" pitchFamily="34" charset="0"/>
              <a:buChar char="•"/>
              <a:tabLst/>
              <a:defRPr/>
            </a:pPr>
            <a:r>
              <a:rPr lang="es-MX" dirty="0" err="1">
                <a:solidFill>
                  <a:prstClr val="black"/>
                </a:solidFill>
                <a:latin typeface="Arial" panose="020B0604020202020204" pitchFamily="34" charset="0"/>
                <a:ea typeface="Calibri" panose="020F0502020204030204" pitchFamily="34" charset="0"/>
                <a:cs typeface="Arial" panose="020B0604020202020204" pitchFamily="34" charset="0"/>
              </a:rPr>
              <a:t>Tipo_documento</a:t>
            </a:r>
            <a:endParaRPr lang="es-MX"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 typeface="Arial" panose="020B0604020202020204" pitchFamily="34" charset="0"/>
              <a:buChar char="•"/>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Requisito</a:t>
            </a:r>
          </a:p>
          <a:p>
            <a:pPr marR="0" lvl="0" algn="just" defTabSz="914400" rtl="0" eaLnBrk="1" fontAlgn="auto" latinLnBrk="0" hangingPunct="1">
              <a:lnSpc>
                <a:spcPct val="150000"/>
              </a:lnSpc>
              <a:spcBef>
                <a:spcPts val="0"/>
              </a:spcBef>
              <a:spcAft>
                <a:spcPts val="800"/>
              </a:spcAft>
              <a:buClrTx/>
              <a:buSzTx/>
              <a:tabLst/>
              <a:defRPr/>
            </a:pPr>
            <a:endParaRPr lang="es-MX"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marR="0" lvl="0" algn="just" defTabSz="914400" rtl="0" eaLnBrk="1" fontAlgn="auto" latinLnBrk="0" hangingPunct="1">
              <a:lnSpc>
                <a:spcPct val="150000"/>
              </a:lnSpc>
              <a:spcBef>
                <a:spcPts val="0"/>
              </a:spcBef>
              <a:spcAft>
                <a:spcPts val="800"/>
              </a:spcAft>
              <a:buClrTx/>
              <a:buSzTx/>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Esta tabla será encargada de mantener almacenado los requisitos para la solicitud de cualquier documento para mostrarlo en pantalla cuando el alumno hace la solicitud.</a:t>
            </a:r>
          </a:p>
          <a:p>
            <a:pPr marR="0" lvl="0" algn="r" defTabSz="914400" rtl="0" eaLnBrk="1" fontAlgn="auto" latinLnBrk="0" hangingPunct="1">
              <a:lnSpc>
                <a:spcPct val="150000"/>
              </a:lnSpc>
              <a:spcBef>
                <a:spcPts val="0"/>
              </a:spcBef>
              <a:spcAft>
                <a:spcPts val="800"/>
              </a:spcAft>
              <a:buClrTx/>
              <a:buSzTx/>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 </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663676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6</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1592871" y="817842"/>
            <a:ext cx="9964129" cy="3313728"/>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Inserción de datos en </a:t>
            </a:r>
            <a:r>
              <a:rPr kumimoji="0" lang="es-MX" sz="1600" b="1"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requisitos_documento</a:t>
            </a: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Los datos para esta tabla se añadieron directamente en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supabase</a:t>
            </a: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En cada fila se especificó el tipo de documento y el requisito, en caso de existir más de un requisito se debe incluir uno por fila.</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En el panel de alumno se mostrarán en forma de lista los requerimientos, esto se obtiene de la base de datos.</a:t>
            </a:r>
          </a:p>
          <a:p>
            <a:pPr marR="0" lvl="0" algn="r" defTabSz="914400" rtl="0" eaLnBrk="1" fontAlgn="auto" latinLnBrk="0" hangingPunct="1">
              <a:lnSpc>
                <a:spcPct val="150000"/>
              </a:lnSpc>
              <a:spcBef>
                <a:spcPts val="0"/>
              </a:spcBef>
              <a:spcAft>
                <a:spcPts val="800"/>
              </a:spcAft>
              <a:buClrTx/>
              <a:buSzTx/>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 </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FDBAD178-967A-4EDB-A52C-7655E2CF8D8D}"/>
              </a:ext>
            </a:extLst>
          </p:cNvPr>
          <p:cNvPicPr>
            <a:picLocks noChangeAspect="1"/>
          </p:cNvPicPr>
          <p:nvPr/>
        </p:nvPicPr>
        <p:blipFill>
          <a:blip r:embed="rId2"/>
          <a:stretch>
            <a:fillRect/>
          </a:stretch>
        </p:blipFill>
        <p:spPr>
          <a:xfrm>
            <a:off x="3405419" y="3848100"/>
            <a:ext cx="6089336" cy="2508250"/>
          </a:xfrm>
          <a:prstGeom prst="rect">
            <a:avLst/>
          </a:prstGeom>
        </p:spPr>
      </p:pic>
      <p:cxnSp>
        <p:nvCxnSpPr>
          <p:cNvPr id="6" name="Conector recto de flecha 5">
            <a:extLst>
              <a:ext uri="{FF2B5EF4-FFF2-40B4-BE49-F238E27FC236}">
                <a16:creationId xmlns:a16="http://schemas.microsoft.com/office/drawing/2014/main" id="{71CC1403-2E4D-4F43-BF09-175CF0EE6689}"/>
              </a:ext>
            </a:extLst>
          </p:cNvPr>
          <p:cNvCxnSpPr/>
          <p:nvPr/>
        </p:nvCxnSpPr>
        <p:spPr>
          <a:xfrm flipH="1">
            <a:off x="8658225" y="5748338"/>
            <a:ext cx="433388"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C3898AB5-26D4-41BA-85A1-0C05FF306177}"/>
              </a:ext>
            </a:extLst>
          </p:cNvPr>
          <p:cNvCxnSpPr/>
          <p:nvPr/>
        </p:nvCxnSpPr>
        <p:spPr>
          <a:xfrm flipH="1">
            <a:off x="8705850" y="5981700"/>
            <a:ext cx="433388"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5893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7</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983271" y="1669544"/>
            <a:ext cx="5303229" cy="1759456"/>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Políticas </a:t>
            </a:r>
            <a:r>
              <a:rPr kumimoji="0" lang="es-MX" sz="1600" b="1"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requisitos_documento</a:t>
            </a: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Nos dirigimos a políticas para deshabilitar RLS para que los datos puedan leerse y mostrarse en pantalla del alumno cuando se necesite.</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2D5E3852-E93D-4006-9DE7-ED0EFB09255C}"/>
              </a:ext>
            </a:extLst>
          </p:cNvPr>
          <p:cNvPicPr>
            <a:picLocks noChangeAspect="1"/>
          </p:cNvPicPr>
          <p:nvPr/>
        </p:nvPicPr>
        <p:blipFill rotWithShape="1">
          <a:blip r:embed="rId2"/>
          <a:srcRect l="4977" t="6063" r="2395" b="8644"/>
          <a:stretch/>
        </p:blipFill>
        <p:spPr>
          <a:xfrm>
            <a:off x="6743700" y="1669544"/>
            <a:ext cx="4610100" cy="2386607"/>
          </a:xfrm>
          <a:prstGeom prst="rect">
            <a:avLst/>
          </a:prstGeom>
        </p:spPr>
      </p:pic>
    </p:spTree>
    <p:extLst>
      <p:ext uri="{BB962C8B-B14F-4D97-AF65-F5344CB8AC3E}">
        <p14:creationId xmlns:p14="http://schemas.microsoft.com/office/powerpoint/2010/main" val="2716572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8</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678471" y="978745"/>
            <a:ext cx="4795229" cy="490050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b="1"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Dashboard</a:t>
            </a:r>
            <a:r>
              <a:rPr kumimoji="0" lang="es-MX"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alumno</a:t>
            </a: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b="1" dirty="0">
                <a:solidFill>
                  <a:prstClr val="black"/>
                </a:solidFill>
                <a:latin typeface="Arial" panose="020B0604020202020204" pitchFamily="34" charset="0"/>
                <a:ea typeface="Calibri" panose="020F0502020204030204" pitchFamily="34" charset="0"/>
                <a:cs typeface="Arial" panose="020B0604020202020204" pitchFamily="34" charset="0"/>
              </a:rPr>
              <a:t>Mostrar requisitos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El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dashboard</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se construye dentro de un componente llamado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alumno.ts</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Este componente se ha abordado en avances anteriores, sin embargo en esta ocasión se realizaron últimos ajustes, por ejemplo mostrar un menú desplegable de documentos y al seleccionar uno muestre la lista de requisitos.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58AD608B-48EF-41B2-92B4-424D221F5C10}"/>
              </a:ext>
            </a:extLst>
          </p:cNvPr>
          <p:cNvPicPr>
            <a:picLocks noChangeAspect="1"/>
          </p:cNvPicPr>
          <p:nvPr/>
        </p:nvPicPr>
        <p:blipFill rotWithShape="1">
          <a:blip r:embed="rId2"/>
          <a:srcRect l="22604" t="3310" r="3854" b="32701"/>
          <a:stretch/>
        </p:blipFill>
        <p:spPr>
          <a:xfrm>
            <a:off x="5892800" y="1520785"/>
            <a:ext cx="5876808" cy="2874876"/>
          </a:xfrm>
          <a:prstGeom prst="rect">
            <a:avLst/>
          </a:prstGeom>
        </p:spPr>
      </p:pic>
    </p:spTree>
    <p:extLst>
      <p:ext uri="{BB962C8B-B14F-4D97-AF65-F5344CB8AC3E}">
        <p14:creationId xmlns:p14="http://schemas.microsoft.com/office/powerpoint/2010/main" val="2779324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9</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678471" y="978745"/>
            <a:ext cx="4795229" cy="5437386"/>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b="1"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Dashboard</a:t>
            </a:r>
            <a:r>
              <a:rPr kumimoji="0" lang="es-MX"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alumno</a:t>
            </a: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b="1" dirty="0">
                <a:solidFill>
                  <a:prstClr val="black"/>
                </a:solidFill>
                <a:latin typeface="Arial" panose="020B0604020202020204" pitchFamily="34" charset="0"/>
                <a:ea typeface="Calibri" panose="020F0502020204030204" pitchFamily="34" charset="0"/>
                <a:cs typeface="Arial" panose="020B0604020202020204" pitchFamily="34" charset="0"/>
              </a:rPr>
              <a:t>Mostrar requisitos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R="0" lvl="0" algn="just" defTabSz="914400" rtl="0" eaLnBrk="1" fontAlgn="auto" latinLnBrk="0" hangingPunct="1">
              <a:lnSpc>
                <a:spcPct val="150000"/>
              </a:lnSpc>
              <a:spcBef>
                <a:spcPts val="0"/>
              </a:spcBef>
              <a:spcAft>
                <a:spcPts val="800"/>
              </a:spcAft>
              <a:buClrTx/>
              <a:buSzTx/>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3. Se compone de 4 principales</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 autenticación de usuario, cargar información del alumno, se cargan las solicitudes del usuario desde </a:t>
            </a:r>
            <a:r>
              <a:rPr lang="es-MX" dirty="0" err="1">
                <a:solidFill>
                  <a:prstClr val="black"/>
                </a:solidFill>
                <a:latin typeface="Arial" panose="020B0604020202020204" pitchFamily="34" charset="0"/>
                <a:ea typeface="Aptos" panose="020B0004020202020204" pitchFamily="34" charset="0"/>
                <a:cs typeface="Arial" panose="020B0604020202020204" pitchFamily="34" charset="0"/>
              </a:rPr>
              <a:t>Supabase</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 y funciones del </a:t>
            </a:r>
            <a:r>
              <a:rPr lang="es-MX" dirty="0" err="1">
                <a:solidFill>
                  <a:prstClr val="black"/>
                </a:solidFill>
                <a:latin typeface="Arial" panose="020B0604020202020204" pitchFamily="34" charset="0"/>
                <a:ea typeface="Aptos" panose="020B0004020202020204" pitchFamily="34" charset="0"/>
                <a:cs typeface="Arial" panose="020B0604020202020204" pitchFamily="34" charset="0"/>
              </a:rPr>
              <a:t>dashboard</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a:t>
            </a:r>
          </a:p>
          <a:p>
            <a:pPr marR="0" lvl="0" algn="just" defTabSz="914400" rtl="0" eaLnBrk="1" fontAlgn="auto" latinLnBrk="0" hangingPunct="1">
              <a:lnSpc>
                <a:spcPct val="150000"/>
              </a:lnSpc>
              <a:spcBef>
                <a:spcPts val="0"/>
              </a:spcBef>
              <a:spcAft>
                <a:spcPts val="800"/>
              </a:spcAft>
              <a:buClrTx/>
              <a:buSzTx/>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4.actualizarRequisitos() filtra requisitos según el tipo de documento seleccionado.</a:t>
            </a:r>
          </a:p>
          <a:p>
            <a:pPr marR="0" lvl="0" algn="just" defTabSz="914400" rtl="0" eaLnBrk="1" fontAlgn="auto" latinLnBrk="0" hangingPunct="1">
              <a:lnSpc>
                <a:spcPct val="150000"/>
              </a:lnSpc>
              <a:spcBef>
                <a:spcPts val="0"/>
              </a:spcBef>
              <a:spcAft>
                <a:spcPts val="800"/>
              </a:spcAft>
              <a:buClrTx/>
              <a:buSzTx/>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5.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agregarArchivo</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requisitoId</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input) toma el archivo seleccionado y lo guarda en el arreglo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archivosSubidos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58AD608B-48EF-41B2-92B4-424D221F5C10}"/>
              </a:ext>
            </a:extLst>
          </p:cNvPr>
          <p:cNvPicPr>
            <a:picLocks noChangeAspect="1"/>
          </p:cNvPicPr>
          <p:nvPr/>
        </p:nvPicPr>
        <p:blipFill rotWithShape="1">
          <a:blip r:embed="rId2"/>
          <a:srcRect l="22604" t="3310" r="3854" b="32701"/>
          <a:stretch/>
        </p:blipFill>
        <p:spPr>
          <a:xfrm>
            <a:off x="5892800" y="1520785"/>
            <a:ext cx="5876808" cy="2874876"/>
          </a:xfrm>
          <a:prstGeom prst="rect">
            <a:avLst/>
          </a:prstGeom>
        </p:spPr>
      </p:pic>
    </p:spTree>
    <p:extLst>
      <p:ext uri="{BB962C8B-B14F-4D97-AF65-F5344CB8AC3E}">
        <p14:creationId xmlns:p14="http://schemas.microsoft.com/office/powerpoint/2010/main" val="2335791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10</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463551" y="833602"/>
            <a:ext cx="5168900" cy="5750292"/>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b="1"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Solicitudes.service</a:t>
            </a:r>
            <a:endParaRPr kumimoji="0" lang="es-MX"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b="1" dirty="0">
                <a:solidFill>
                  <a:prstClr val="black"/>
                </a:solidFill>
                <a:latin typeface="Arial" panose="020B0604020202020204" pitchFamily="34" charset="0"/>
                <a:ea typeface="Calibri" panose="020F0502020204030204" pitchFamily="34" charset="0"/>
                <a:cs typeface="Arial" panose="020B0604020202020204" pitchFamily="34" charset="0"/>
              </a:rPr>
              <a:t>Mostrar requisitos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Este servicio es la parte que conecta el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dashboard</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con la base de datos de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Supabase</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por lo tanto es una pieza clave para mostrar los requisitos. Entonces también es necesario realizar alguna modificaciones en este archivo.</a:t>
            </a: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Se usó </a:t>
            </a:r>
            <a:r>
              <a:rPr lang="es-MX" dirty="0" err="1">
                <a:solidFill>
                  <a:prstClr val="black"/>
                </a:solidFill>
                <a:latin typeface="Arial" panose="020B0604020202020204" pitchFamily="34" charset="0"/>
                <a:ea typeface="Aptos" panose="020B0004020202020204" pitchFamily="34" charset="0"/>
                <a:cs typeface="Arial" panose="020B0604020202020204" pitchFamily="34" charset="0"/>
              </a:rPr>
              <a:t>getRequisitos</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 para conectar con </a:t>
            </a:r>
            <a:r>
              <a:rPr lang="es-MX" dirty="0" err="1">
                <a:solidFill>
                  <a:prstClr val="black"/>
                </a:solidFill>
                <a:latin typeface="Arial" panose="020B0604020202020204" pitchFamily="34" charset="0"/>
                <a:ea typeface="Aptos" panose="020B0004020202020204" pitchFamily="34" charset="0"/>
                <a:cs typeface="Arial" panose="020B0604020202020204" pitchFamily="34" charset="0"/>
              </a:rPr>
              <a:t>Supabase</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 leer la tabla “</a:t>
            </a:r>
            <a:r>
              <a:rPr lang="es-MX" dirty="0" err="1">
                <a:solidFill>
                  <a:prstClr val="black"/>
                </a:solidFill>
                <a:latin typeface="Arial" panose="020B0604020202020204" pitchFamily="34" charset="0"/>
                <a:ea typeface="Aptos" panose="020B0004020202020204" pitchFamily="34" charset="0"/>
                <a:cs typeface="Arial" panose="020B0604020202020204" pitchFamily="34" charset="0"/>
              </a:rPr>
              <a:t>requisitos_documentos</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 leer la tabla: </a:t>
            </a:r>
            <a:r>
              <a:rPr lang="es-MX" dirty="0" err="1">
                <a:solidFill>
                  <a:prstClr val="black"/>
                </a:solidFill>
                <a:latin typeface="Arial" panose="020B0604020202020204" pitchFamily="34" charset="0"/>
                <a:ea typeface="Aptos" panose="020B0004020202020204" pitchFamily="34" charset="0"/>
                <a:cs typeface="Arial" panose="020B0604020202020204" pitchFamily="34" charset="0"/>
              </a:rPr>
              <a:t>requisitos_documentos</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 con todos los requisitos guardados.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F01A66F9-2A52-453E-BB4E-A182CEFE5B9C}"/>
              </a:ext>
            </a:extLst>
          </p:cNvPr>
          <p:cNvPicPr>
            <a:picLocks noChangeAspect="1"/>
          </p:cNvPicPr>
          <p:nvPr/>
        </p:nvPicPr>
        <p:blipFill rotWithShape="1">
          <a:blip r:embed="rId2"/>
          <a:srcRect l="25119" r="19882" b="30360"/>
          <a:stretch/>
        </p:blipFill>
        <p:spPr>
          <a:xfrm>
            <a:off x="5951905" y="1652669"/>
            <a:ext cx="5776544" cy="4112158"/>
          </a:xfrm>
          <a:prstGeom prst="rect">
            <a:avLst/>
          </a:prstGeom>
        </p:spPr>
      </p:pic>
    </p:spTree>
    <p:extLst>
      <p:ext uri="{BB962C8B-B14F-4D97-AF65-F5344CB8AC3E}">
        <p14:creationId xmlns:p14="http://schemas.microsoft.com/office/powerpoint/2010/main" val="2316099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11</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853516" y="941179"/>
            <a:ext cx="4068108" cy="4190891"/>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b="1"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Solicitudes.service</a:t>
            </a:r>
            <a:endParaRPr kumimoji="0" lang="es-MX"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b="1" dirty="0">
                <a:solidFill>
                  <a:prstClr val="black"/>
                </a:solidFill>
                <a:latin typeface="Arial" panose="020B0604020202020204" pitchFamily="34" charset="0"/>
                <a:ea typeface="Calibri" panose="020F0502020204030204" pitchFamily="34" charset="0"/>
                <a:cs typeface="Arial" panose="020B0604020202020204" pitchFamily="34" charset="0"/>
              </a:rPr>
              <a:t>Mostrar requisitos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En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Alumno.ts</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se aplica esto:</a:t>
            </a:r>
          </a:p>
          <a:p>
            <a:pPr marR="0" lvl="0" algn="just" defTabSz="914400" rtl="0" eaLnBrk="1" fontAlgn="auto" latinLnBrk="0" hangingPunct="1">
              <a:lnSpc>
                <a:spcPct val="150000"/>
              </a:lnSpc>
              <a:spcBef>
                <a:spcPts val="0"/>
              </a:spcBef>
              <a:spcAft>
                <a:spcPts val="800"/>
              </a:spcAft>
              <a:buClrTx/>
              <a:buSzTx/>
              <a:tabLst/>
              <a:defRPr/>
            </a:pP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this.todosRequisitos</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await</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this.solicitudesService.getRequisitos</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t>
            </a:r>
          </a:p>
          <a:p>
            <a:pPr marR="0" lvl="0" algn="just" defTabSz="914400" rtl="0" eaLnBrk="1" fontAlgn="auto" latinLnBrk="0" hangingPunct="1">
              <a:lnSpc>
                <a:spcPct val="150000"/>
              </a:lnSpc>
              <a:spcBef>
                <a:spcPts val="0"/>
              </a:spcBef>
              <a:spcAft>
                <a:spcPts val="800"/>
              </a:spcAft>
              <a:buClrTx/>
              <a:buSzTx/>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Esto indica que el servicio trae los datos desde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SupabaseEl</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componente los guarda en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todosRequisitos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F01A66F9-2A52-453E-BB4E-A182CEFE5B9C}"/>
              </a:ext>
            </a:extLst>
          </p:cNvPr>
          <p:cNvPicPr>
            <a:picLocks noChangeAspect="1"/>
          </p:cNvPicPr>
          <p:nvPr/>
        </p:nvPicPr>
        <p:blipFill rotWithShape="1">
          <a:blip r:embed="rId2"/>
          <a:srcRect l="25119" t="5210" r="25029" b="36062"/>
          <a:stretch/>
        </p:blipFill>
        <p:spPr>
          <a:xfrm>
            <a:off x="5992616" y="136525"/>
            <a:ext cx="5235967" cy="3467787"/>
          </a:xfrm>
          <a:prstGeom prst="rect">
            <a:avLst/>
          </a:prstGeom>
        </p:spPr>
      </p:pic>
      <p:pic>
        <p:nvPicPr>
          <p:cNvPr id="5" name="Imagen 4">
            <a:extLst>
              <a:ext uri="{FF2B5EF4-FFF2-40B4-BE49-F238E27FC236}">
                <a16:creationId xmlns:a16="http://schemas.microsoft.com/office/drawing/2014/main" id="{622C8402-2F87-4DCE-8A9A-F47B121BED01}"/>
              </a:ext>
            </a:extLst>
          </p:cNvPr>
          <p:cNvPicPr>
            <a:picLocks noChangeAspect="1"/>
          </p:cNvPicPr>
          <p:nvPr/>
        </p:nvPicPr>
        <p:blipFill rotWithShape="1">
          <a:blip r:embed="rId3"/>
          <a:srcRect l="22059" t="4488" r="16617" b="32786"/>
          <a:stretch/>
        </p:blipFill>
        <p:spPr>
          <a:xfrm>
            <a:off x="6415073" y="3879740"/>
            <a:ext cx="4623905" cy="2659172"/>
          </a:xfrm>
          <a:prstGeom prst="rect">
            <a:avLst/>
          </a:prstGeom>
        </p:spPr>
      </p:pic>
    </p:spTree>
    <p:extLst>
      <p:ext uri="{BB962C8B-B14F-4D97-AF65-F5344CB8AC3E}">
        <p14:creationId xmlns:p14="http://schemas.microsoft.com/office/powerpoint/2010/main" val="2263936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12</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853516" y="953301"/>
            <a:ext cx="4068108" cy="4919295"/>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b="1"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Dashboard</a:t>
            </a:r>
            <a:r>
              <a:rPr kumimoji="0" lang="es-MX"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Alumno</a:t>
            </a: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b="1" dirty="0">
                <a:solidFill>
                  <a:prstClr val="black"/>
                </a:solidFill>
                <a:latin typeface="Arial" panose="020B0604020202020204" pitchFamily="34" charset="0"/>
                <a:ea typeface="Calibri" panose="020F0502020204030204" pitchFamily="34" charset="0"/>
                <a:cs typeface="Arial" panose="020B0604020202020204" pitchFamily="34" charset="0"/>
              </a:rPr>
              <a:t>Mostrar estado de solicitudes</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R="0" lvl="0" algn="just" defTabSz="914400" rtl="0" eaLnBrk="1" fontAlgn="auto" latinLnBrk="0" hangingPunct="1">
              <a:lnSpc>
                <a:spcPct val="150000"/>
              </a:lnSpc>
              <a:spcBef>
                <a:spcPts val="0"/>
              </a:spcBef>
              <a:spcAft>
                <a:spcPts val="800"/>
              </a:spcAft>
              <a:buClrTx/>
              <a:buSzTx/>
              <a:tabLst/>
              <a:defRPr/>
            </a:pP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1. En el método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async</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cargarSolicitudes</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conecta a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Supabase</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y filtra solo las solicitudes  del alumno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logueado</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t>
            </a:r>
          </a:p>
          <a:p>
            <a:pPr marR="0" lvl="0" algn="just" defTabSz="914400" rtl="0" eaLnBrk="1" fontAlgn="auto" latinLnBrk="0" hangingPunct="1">
              <a:lnSpc>
                <a:spcPct val="150000"/>
              </a:lnSpc>
              <a:spcBef>
                <a:spcPts val="0"/>
              </a:spcBef>
              <a:spcAft>
                <a:spcPts val="800"/>
              </a:spcAft>
              <a:buClrTx/>
              <a:buSzTx/>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2. Dentro del método enviar solicitud, en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const</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se define el estado inicial para todas las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solicitude</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s </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como "pendiente“, esto cambiará cuando el administrador interactúe con ella.</a:t>
            </a:r>
          </a:p>
        </p:txBody>
      </p:sp>
      <p:pic>
        <p:nvPicPr>
          <p:cNvPr id="3" name="Imagen 2">
            <a:extLst>
              <a:ext uri="{FF2B5EF4-FFF2-40B4-BE49-F238E27FC236}">
                <a16:creationId xmlns:a16="http://schemas.microsoft.com/office/drawing/2014/main" id="{71A7EDD0-0E63-4931-8453-F48DA10BBFD6}"/>
              </a:ext>
            </a:extLst>
          </p:cNvPr>
          <p:cNvPicPr>
            <a:picLocks noChangeAspect="1"/>
          </p:cNvPicPr>
          <p:nvPr/>
        </p:nvPicPr>
        <p:blipFill rotWithShape="1">
          <a:blip r:embed="rId2"/>
          <a:srcRect l="24044" t="4488" r="8676" b="25477"/>
          <a:stretch/>
        </p:blipFill>
        <p:spPr>
          <a:xfrm>
            <a:off x="5983666" y="455610"/>
            <a:ext cx="5053156" cy="2957339"/>
          </a:xfrm>
          <a:prstGeom prst="rect">
            <a:avLst/>
          </a:prstGeom>
        </p:spPr>
      </p:pic>
      <p:pic>
        <p:nvPicPr>
          <p:cNvPr id="10" name="Imagen 9">
            <a:extLst>
              <a:ext uri="{FF2B5EF4-FFF2-40B4-BE49-F238E27FC236}">
                <a16:creationId xmlns:a16="http://schemas.microsoft.com/office/drawing/2014/main" id="{E3381FF2-326B-42DA-B69E-D1F9267A060F}"/>
              </a:ext>
            </a:extLst>
          </p:cNvPr>
          <p:cNvPicPr>
            <a:picLocks noChangeAspect="1"/>
          </p:cNvPicPr>
          <p:nvPr/>
        </p:nvPicPr>
        <p:blipFill rotWithShape="1">
          <a:blip r:embed="rId3"/>
          <a:srcRect l="20952" t="3575" r="20119" b="28667"/>
          <a:stretch/>
        </p:blipFill>
        <p:spPr>
          <a:xfrm>
            <a:off x="6208333" y="3600028"/>
            <a:ext cx="4828489" cy="3121447"/>
          </a:xfrm>
          <a:prstGeom prst="rect">
            <a:avLst/>
          </a:prstGeom>
        </p:spPr>
      </p:pic>
    </p:spTree>
    <p:extLst>
      <p:ext uri="{BB962C8B-B14F-4D97-AF65-F5344CB8AC3E}">
        <p14:creationId xmlns:p14="http://schemas.microsoft.com/office/powerpoint/2010/main" val="3791828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851D9036-0E87-4F53-988F-8FD9D1C49196}"/>
              </a:ext>
            </a:extLst>
          </p:cNvPr>
          <p:cNvSpPr>
            <a:spLocks noGrp="1"/>
          </p:cNvSpPr>
          <p:nvPr>
            <p:ph type="sldNum" sz="quarter" idx="12"/>
          </p:nvPr>
        </p:nvSpPr>
        <p:spPr/>
        <p:txBody>
          <a:bodyPr/>
          <a:lstStyle/>
          <a:p>
            <a:fld id="{90A5DFEB-E07E-4B57-AD4A-E6E5A3B83734}" type="slidenum">
              <a:rPr lang="es-MX" smtClean="0"/>
              <a:t>13</a:t>
            </a:fld>
            <a:endParaRPr lang="es-MX"/>
          </a:p>
        </p:txBody>
      </p:sp>
      <p:pic>
        <p:nvPicPr>
          <p:cNvPr id="5" name="Imagen 4">
            <a:extLst>
              <a:ext uri="{FF2B5EF4-FFF2-40B4-BE49-F238E27FC236}">
                <a16:creationId xmlns:a16="http://schemas.microsoft.com/office/drawing/2014/main" id="{BC289D21-75FC-4F76-9E03-572B476CCC7D}"/>
              </a:ext>
            </a:extLst>
          </p:cNvPr>
          <p:cNvPicPr>
            <a:picLocks noChangeAspect="1"/>
          </p:cNvPicPr>
          <p:nvPr/>
        </p:nvPicPr>
        <p:blipFill rotWithShape="1">
          <a:blip r:embed="rId2"/>
          <a:srcRect l="4434" t="6430" r="12892" b="11017"/>
          <a:stretch/>
        </p:blipFill>
        <p:spPr>
          <a:xfrm>
            <a:off x="5748932" y="1326243"/>
            <a:ext cx="5723335" cy="3213100"/>
          </a:xfrm>
          <a:prstGeom prst="rect">
            <a:avLst/>
          </a:prstGeom>
        </p:spPr>
      </p:pic>
      <p:sp>
        <p:nvSpPr>
          <p:cNvPr id="6" name="CuadroTexto 5">
            <a:extLst>
              <a:ext uri="{FF2B5EF4-FFF2-40B4-BE49-F238E27FC236}">
                <a16:creationId xmlns:a16="http://schemas.microsoft.com/office/drawing/2014/main" id="{F67EDEB5-51C2-451B-9956-DD426A9A4955}"/>
              </a:ext>
            </a:extLst>
          </p:cNvPr>
          <p:cNvSpPr txBox="1"/>
          <p:nvPr/>
        </p:nvSpPr>
        <p:spPr>
          <a:xfrm>
            <a:off x="853516" y="953301"/>
            <a:ext cx="4068108" cy="4816703"/>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Enviar requisitos solicitados</a:t>
            </a: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Para mejorar la aplicación web se pretende aplicar esta función para que el administrador visualice los datos solicitados para elaborar el documento. En este caso por el momento solo se configuró en el lado del alumno.</a:t>
            </a: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Para seguir con esta propuesta se creó un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bucket</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en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storage</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de </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Supabase</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t>
            </a:r>
          </a:p>
        </p:txBody>
      </p:sp>
    </p:spTree>
    <p:extLst>
      <p:ext uri="{BB962C8B-B14F-4D97-AF65-F5344CB8AC3E}">
        <p14:creationId xmlns:p14="http://schemas.microsoft.com/office/powerpoint/2010/main" val="273413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851D9036-0E87-4F53-988F-8FD9D1C49196}"/>
              </a:ext>
            </a:extLst>
          </p:cNvPr>
          <p:cNvSpPr>
            <a:spLocks noGrp="1"/>
          </p:cNvSpPr>
          <p:nvPr>
            <p:ph type="sldNum" sz="quarter" idx="12"/>
          </p:nvPr>
        </p:nvSpPr>
        <p:spPr/>
        <p:txBody>
          <a:bodyPr/>
          <a:lstStyle/>
          <a:p>
            <a:fld id="{90A5DFEB-E07E-4B57-AD4A-E6E5A3B83734}" type="slidenum">
              <a:rPr lang="es-MX" smtClean="0"/>
              <a:t>14</a:t>
            </a:fld>
            <a:endParaRPr lang="es-MX"/>
          </a:p>
        </p:txBody>
      </p:sp>
      <p:sp>
        <p:nvSpPr>
          <p:cNvPr id="6" name="CuadroTexto 5">
            <a:extLst>
              <a:ext uri="{FF2B5EF4-FFF2-40B4-BE49-F238E27FC236}">
                <a16:creationId xmlns:a16="http://schemas.microsoft.com/office/drawing/2014/main" id="{F67EDEB5-51C2-451B-9956-DD426A9A4955}"/>
              </a:ext>
            </a:extLst>
          </p:cNvPr>
          <p:cNvSpPr txBox="1"/>
          <p:nvPr/>
        </p:nvSpPr>
        <p:spPr>
          <a:xfrm>
            <a:off x="853516" y="953301"/>
            <a:ext cx="4068108" cy="450379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Enviar requisitos solicitados</a:t>
            </a: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El </a:t>
            </a:r>
            <a:r>
              <a:rPr lang="es-MX" dirty="0" err="1">
                <a:solidFill>
                  <a:prstClr val="black"/>
                </a:solidFill>
                <a:latin typeface="Arial" panose="020B0604020202020204" pitchFamily="34" charset="0"/>
                <a:ea typeface="Aptos" panose="020B0004020202020204" pitchFamily="34" charset="0"/>
                <a:cs typeface="Arial" panose="020B0604020202020204" pitchFamily="34" charset="0"/>
              </a:rPr>
              <a:t>bucket</a:t>
            </a: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 se nombró “documentos”.</a:t>
            </a: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También se dejaron las configuraciones por defecto.</a:t>
            </a:r>
          </a:p>
          <a:p>
            <a:pPr marL="342900" marR="0" lvl="0" indent="-342900" algn="just" defTabSz="914400" rtl="0" eaLnBrk="1" fontAlgn="auto" latinLnBrk="0" hangingPunct="1">
              <a:lnSpc>
                <a:spcPct val="150000"/>
              </a:lnSpc>
              <a:spcBef>
                <a:spcPts val="0"/>
              </a:spcBef>
              <a:spcAft>
                <a:spcPts val="800"/>
              </a:spcAft>
              <a:buClrTx/>
              <a:buSzTx/>
              <a:buAutoNum type="arabicPeriod"/>
              <a:tabLst/>
              <a:defRPr/>
            </a:pPr>
            <a:r>
              <a:rPr lang="es-MX" dirty="0">
                <a:solidFill>
                  <a:prstClr val="black"/>
                </a:solidFill>
                <a:latin typeface="Arial" panose="020B0604020202020204" pitchFamily="34" charset="0"/>
                <a:ea typeface="Aptos" panose="020B0004020202020204" pitchFamily="34" charset="0"/>
                <a:cs typeface="Arial" panose="020B0604020202020204" pitchFamily="34" charset="0"/>
              </a:rPr>
              <a:t>En políticas se especificó que el usuario tiene permiso de subir, descargar y editar documentos, siempre y cuando sea un usuario autenticado.</a:t>
            </a: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A6299466-CC06-4833-9191-0401C3BCB8B3}"/>
              </a:ext>
            </a:extLst>
          </p:cNvPr>
          <p:cNvPicPr>
            <a:picLocks noChangeAspect="1"/>
          </p:cNvPicPr>
          <p:nvPr/>
        </p:nvPicPr>
        <p:blipFill rotWithShape="1">
          <a:blip r:embed="rId2"/>
          <a:srcRect l="7785" t="5643" r="8185" b="11431"/>
          <a:stretch/>
        </p:blipFill>
        <p:spPr>
          <a:xfrm>
            <a:off x="6096000" y="203201"/>
            <a:ext cx="5362690" cy="2975429"/>
          </a:xfrm>
          <a:prstGeom prst="rect">
            <a:avLst/>
          </a:prstGeom>
        </p:spPr>
      </p:pic>
      <p:pic>
        <p:nvPicPr>
          <p:cNvPr id="8" name="Imagen 7">
            <a:extLst>
              <a:ext uri="{FF2B5EF4-FFF2-40B4-BE49-F238E27FC236}">
                <a16:creationId xmlns:a16="http://schemas.microsoft.com/office/drawing/2014/main" id="{A86F7672-F3B8-4F16-B7DB-EF93F83BD103}"/>
              </a:ext>
            </a:extLst>
          </p:cNvPr>
          <p:cNvPicPr>
            <a:picLocks noChangeAspect="1"/>
          </p:cNvPicPr>
          <p:nvPr/>
        </p:nvPicPr>
        <p:blipFill rotWithShape="1">
          <a:blip r:embed="rId3"/>
          <a:srcRect l="6734" t="9847" r="2003" b="9229"/>
          <a:stretch/>
        </p:blipFill>
        <p:spPr>
          <a:xfrm>
            <a:off x="6360084" y="3537077"/>
            <a:ext cx="4978400" cy="2481942"/>
          </a:xfrm>
          <a:prstGeom prst="rect">
            <a:avLst/>
          </a:prstGeom>
        </p:spPr>
      </p:pic>
    </p:spTree>
    <p:extLst>
      <p:ext uri="{BB962C8B-B14F-4D97-AF65-F5344CB8AC3E}">
        <p14:creationId xmlns:p14="http://schemas.microsoft.com/office/powerpoint/2010/main" val="145832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851D9036-0E87-4F53-988F-8FD9D1C49196}"/>
              </a:ext>
            </a:extLst>
          </p:cNvPr>
          <p:cNvSpPr>
            <a:spLocks noGrp="1"/>
          </p:cNvSpPr>
          <p:nvPr>
            <p:ph type="sldNum" sz="quarter" idx="12"/>
          </p:nvPr>
        </p:nvSpPr>
        <p:spPr/>
        <p:txBody>
          <a:bodyPr/>
          <a:lstStyle/>
          <a:p>
            <a:fld id="{90A5DFEB-E07E-4B57-AD4A-E6E5A3B83734}" type="slidenum">
              <a:rPr lang="es-MX" smtClean="0"/>
              <a:t>15</a:t>
            </a:fld>
            <a:endParaRPr lang="es-MX"/>
          </a:p>
        </p:txBody>
      </p:sp>
      <p:sp>
        <p:nvSpPr>
          <p:cNvPr id="5" name="CuadroTexto 4">
            <a:extLst>
              <a:ext uri="{FF2B5EF4-FFF2-40B4-BE49-F238E27FC236}">
                <a16:creationId xmlns:a16="http://schemas.microsoft.com/office/drawing/2014/main" id="{EA78528A-BC4F-45C8-AE8D-390765EB3F52}"/>
              </a:ext>
            </a:extLst>
          </p:cNvPr>
          <p:cNvSpPr txBox="1"/>
          <p:nvPr/>
        </p:nvSpPr>
        <p:spPr>
          <a:xfrm>
            <a:off x="1046167" y="891495"/>
            <a:ext cx="10099666" cy="2217082"/>
          </a:xfrm>
          <a:prstGeom prst="rect">
            <a:avLst/>
          </a:prstGeom>
          <a:noFill/>
        </p:spPr>
        <p:txBody>
          <a:bodyPr wrap="square">
            <a:spAutoFit/>
          </a:bodyPr>
          <a:lstStyle/>
          <a:p>
            <a:pPr lvl="1" algn="ctr">
              <a:lnSpc>
                <a:spcPct val="150000"/>
              </a:lnSpc>
              <a:spcAft>
                <a:spcPts val="800"/>
              </a:spcAft>
              <a:defRPr/>
            </a:pPr>
            <a:r>
              <a:rPr kumimoji="0" lang="es-MX" sz="3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APLICANDO SERVICIOS DE CÓMPUTO EN LA NUBE PARA EL DESPLIEGUE DE LA APLICACIÓN WEB</a:t>
            </a:r>
          </a:p>
        </p:txBody>
      </p:sp>
      <p:pic>
        <p:nvPicPr>
          <p:cNvPr id="7170" name="Picture 2" descr="Qué es Azure y para qué sirve? Por qué elegir la plataforma cloud de  Microsoft - Blog de hiberus">
            <a:extLst>
              <a:ext uri="{FF2B5EF4-FFF2-40B4-BE49-F238E27FC236}">
                <a16:creationId xmlns:a16="http://schemas.microsoft.com/office/drawing/2014/main" id="{3772684C-5B0A-49B6-864A-A2CC7B825B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931" y="3429000"/>
            <a:ext cx="6142138" cy="2217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6116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16</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1046167" y="891495"/>
            <a:ext cx="10099666" cy="279563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Despliegue en Azure</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Se utilizó el servicio App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Service</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para crear una nueva aplicación web. </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Para completar los campos necesarios se creó un nuevo grupo de recursos para alojar esta aplicación. Además de nombrar la aplicación, también se eligió el entorno de ejecución; </a:t>
            </a:r>
          </a:p>
          <a:p>
            <a:pPr marL="342900" marR="0" lvl="0" indent="-342900" algn="just" defTabSz="914400" rtl="0" eaLnBrk="1" fontAlgn="auto" latinLnBrk="0" hangingPunct="1">
              <a:lnSpc>
                <a:spcPct val="150000"/>
              </a:lnSpc>
              <a:spcBef>
                <a:spcPts val="0"/>
              </a:spcBef>
              <a:spcAft>
                <a:spcPts val="800"/>
              </a:spcAft>
              <a:buClrTx/>
              <a:buSzTx/>
              <a:buFontTx/>
              <a:buAutoNum type="arabicPeriod"/>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para este caso el proyecto que se utilizó fue desarrollado con Angular y una base de datos en </a:t>
            </a:r>
            <a:r>
              <a:rPr lang="es-MX" dirty="0" err="1">
                <a:solidFill>
                  <a:prstClr val="black"/>
                </a:solidFill>
                <a:latin typeface="Arial" panose="020B0604020202020204" pitchFamily="34" charset="0"/>
                <a:ea typeface="Calibri" panose="020F0502020204030204" pitchFamily="34" charset="0"/>
                <a:cs typeface="Arial" panose="020B0604020202020204" pitchFamily="34" charset="0"/>
              </a:rPr>
              <a:t>Supabase</a:t>
            </a: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 por lo tanto, se eligió la opción </a:t>
            </a:r>
            <a:r>
              <a:rPr lang="es-MX" dirty="0" err="1">
                <a:solidFill>
                  <a:prstClr val="black"/>
                </a:solidFill>
                <a:latin typeface="Arial" panose="020B0604020202020204" pitchFamily="34" charset="0"/>
                <a:ea typeface="Calibri" panose="020F0502020204030204" pitchFamily="34" charset="0"/>
                <a:cs typeface="Arial" panose="020B0604020202020204" pitchFamily="34" charset="0"/>
              </a:rPr>
              <a:t>Node</a:t>
            </a: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 22 LTS.</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09DED773-EF3E-419A-B9A8-29E7C5C0A7C4}"/>
              </a:ext>
            </a:extLst>
          </p:cNvPr>
          <p:cNvPicPr/>
          <p:nvPr/>
        </p:nvPicPr>
        <p:blipFill rotWithShape="1">
          <a:blip r:embed="rId2"/>
          <a:srcRect b="32741"/>
          <a:stretch/>
        </p:blipFill>
        <p:spPr bwMode="auto">
          <a:xfrm>
            <a:off x="713822" y="3941104"/>
            <a:ext cx="5612130" cy="2122170"/>
          </a:xfrm>
          <a:prstGeom prst="rect">
            <a:avLst/>
          </a:prstGeom>
          <a:ln>
            <a:noFill/>
          </a:ln>
          <a:extLst>
            <a:ext uri="{53640926-AAD7-44D8-BBD7-CCE9431645EC}">
              <a14:shadowObscured xmlns:a14="http://schemas.microsoft.com/office/drawing/2010/main"/>
            </a:ext>
          </a:extLst>
        </p:spPr>
      </p:pic>
      <p:pic>
        <p:nvPicPr>
          <p:cNvPr id="5" name="Imagen 4">
            <a:extLst>
              <a:ext uri="{FF2B5EF4-FFF2-40B4-BE49-F238E27FC236}">
                <a16:creationId xmlns:a16="http://schemas.microsoft.com/office/drawing/2014/main" id="{048F60D7-0BE8-4160-A747-E6A642C77C81}"/>
              </a:ext>
            </a:extLst>
          </p:cNvPr>
          <p:cNvPicPr/>
          <p:nvPr/>
        </p:nvPicPr>
        <p:blipFill rotWithShape="1">
          <a:blip r:embed="rId3"/>
          <a:srcRect b="7438"/>
          <a:stretch/>
        </p:blipFill>
        <p:spPr bwMode="auto">
          <a:xfrm>
            <a:off x="6720113" y="3941104"/>
            <a:ext cx="4194630" cy="197228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52094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17</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1177293" y="757162"/>
            <a:ext cx="10176507" cy="3313728"/>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Despliegue en Azure</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R="0" lvl="0" algn="just" defTabSz="914400" rtl="0" eaLnBrk="1" fontAlgn="auto" latinLnBrk="0" hangingPunct="1">
              <a:lnSpc>
                <a:spcPct val="150000"/>
              </a:lnSpc>
              <a:spcBef>
                <a:spcPts val="0"/>
              </a:spcBef>
              <a:spcAft>
                <a:spcPts val="800"/>
              </a:spcAft>
              <a:buClrTx/>
              <a:buSzTx/>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5. Al terminar el proceso de implementación se observó la generación del dominio de la página web.</a:t>
            </a:r>
          </a:p>
          <a:p>
            <a:pPr marR="0" lvl="0" algn="just" defTabSz="914400" rtl="0" eaLnBrk="1" fontAlgn="auto" latinLnBrk="0" hangingPunct="1">
              <a:lnSpc>
                <a:spcPct val="150000"/>
              </a:lnSpc>
              <a:spcBef>
                <a:spcPts val="0"/>
              </a:spcBef>
              <a:spcAft>
                <a:spcPts val="800"/>
              </a:spcAft>
              <a:buClrTx/>
              <a:buSzTx/>
              <a:tabLst/>
              <a:defRPr/>
            </a:pP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6. El código fuente no se subió directamente, sino que se preparó un paquete optimizado para producción. Para esto nos dirigimos a la carpeta del proyecto dentro de </a:t>
            </a:r>
            <a:r>
              <a:rPr lang="es-MX" dirty="0" err="1">
                <a:solidFill>
                  <a:prstClr val="black"/>
                </a:solidFill>
                <a:latin typeface="Arial" panose="020B0604020202020204" pitchFamily="34" charset="0"/>
                <a:ea typeface="Calibri" panose="020F0502020204030204" pitchFamily="34" charset="0"/>
                <a:cs typeface="Arial" panose="020B0604020202020204" pitchFamily="34" charset="0"/>
              </a:rPr>
              <a:t>Visul</a:t>
            </a: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 Studio </a:t>
            </a:r>
            <a:r>
              <a:rPr lang="es-MX" dirty="0" err="1">
                <a:solidFill>
                  <a:prstClr val="black"/>
                </a:solidFill>
                <a:latin typeface="Arial" panose="020B0604020202020204" pitchFamily="34" charset="0"/>
                <a:ea typeface="Calibri" panose="020F0502020204030204" pitchFamily="34" charset="0"/>
                <a:cs typeface="Arial" panose="020B0604020202020204" pitchFamily="34" charset="0"/>
              </a:rPr>
              <a:t>Code</a:t>
            </a:r>
            <a:r>
              <a:rPr lang="es-MX" dirty="0">
                <a:solidFill>
                  <a:prstClr val="black"/>
                </a:solidFill>
                <a:latin typeface="Arial" panose="020B0604020202020204" pitchFamily="34" charset="0"/>
                <a:ea typeface="Calibri" panose="020F0502020204030204" pitchFamily="34" charset="0"/>
                <a:cs typeface="Arial" panose="020B0604020202020204" pitchFamily="34" charset="0"/>
              </a:rPr>
              <a:t>.</a:t>
            </a:r>
          </a:p>
          <a:p>
            <a:pPr marR="0" lvl="0" algn="just" defTabSz="914400" rtl="0" eaLnBrk="1" fontAlgn="auto" latinLnBrk="0" hangingPunct="1">
              <a:lnSpc>
                <a:spcPct val="150000"/>
              </a:lnSpc>
              <a:spcBef>
                <a:spcPts val="0"/>
              </a:spcBef>
              <a:spcAft>
                <a:spcPts val="800"/>
              </a:spcAft>
              <a:buClrTx/>
              <a:buSzTx/>
              <a:tabLst/>
              <a:defRPr/>
            </a:pP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7. Se abrió una nueva terminal y nos aseguramos de estar en la raíz del proyecto (solicita-</a:t>
            </a:r>
            <a:r>
              <a:rPr kumimoji="0" lang="es-MX"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tec</a:t>
            </a:r>
            <a:r>
              <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t>
            </a:r>
          </a:p>
          <a:p>
            <a:pPr marR="0" lvl="0" algn="just" defTabSz="914400" rtl="0" eaLnBrk="1" fontAlgn="auto" latinLnBrk="0" hangingPunct="1">
              <a:lnSpc>
                <a:spcPct val="150000"/>
              </a:lnSpc>
              <a:spcBef>
                <a:spcPts val="0"/>
              </a:spcBef>
              <a:spcAft>
                <a:spcPts val="800"/>
              </a:spcAft>
              <a:buClrTx/>
              <a:buSzTx/>
              <a:tabLst/>
              <a:defRPr/>
            </a:pP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8C4B645F-B2ED-4481-A3F6-1F24D244DC22}"/>
              </a:ext>
            </a:extLst>
          </p:cNvPr>
          <p:cNvPicPr/>
          <p:nvPr/>
        </p:nvPicPr>
        <p:blipFill rotWithShape="1">
          <a:blip r:embed="rId2"/>
          <a:srcRect t="20402" b="11048"/>
          <a:stretch/>
        </p:blipFill>
        <p:spPr bwMode="auto">
          <a:xfrm>
            <a:off x="653416" y="4070890"/>
            <a:ext cx="5612130" cy="2162810"/>
          </a:xfrm>
          <a:prstGeom prst="rect">
            <a:avLst/>
          </a:prstGeom>
          <a:ln>
            <a:noFill/>
          </a:ln>
          <a:extLst>
            <a:ext uri="{53640926-AAD7-44D8-BBD7-CCE9431645EC}">
              <a14:shadowObscured xmlns:a14="http://schemas.microsoft.com/office/drawing/2010/main"/>
            </a:ext>
          </a:extLst>
        </p:spPr>
      </p:pic>
      <p:pic>
        <p:nvPicPr>
          <p:cNvPr id="6" name="Imagen 5">
            <a:extLst>
              <a:ext uri="{FF2B5EF4-FFF2-40B4-BE49-F238E27FC236}">
                <a16:creationId xmlns:a16="http://schemas.microsoft.com/office/drawing/2014/main" id="{C9EDF744-3A1D-4771-AB48-306FB781F860}"/>
              </a:ext>
            </a:extLst>
          </p:cNvPr>
          <p:cNvPicPr/>
          <p:nvPr/>
        </p:nvPicPr>
        <p:blipFill rotWithShape="1">
          <a:blip r:embed="rId3"/>
          <a:srcRect b="24855"/>
          <a:stretch/>
        </p:blipFill>
        <p:spPr bwMode="auto">
          <a:xfrm>
            <a:off x="6850743" y="4290102"/>
            <a:ext cx="4242979" cy="194359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95590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18</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680180" y="1221619"/>
            <a:ext cx="5415820" cy="4144724"/>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Despliegue en Azure</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lvl="0"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8. Una vez dentro del proyecto se ejecutó el comando: ng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build</a:t>
            </a:r>
            <a:r>
              <a:rPr lang="es-MX" sz="1800" dirty="0">
                <a:effectLst/>
                <a:latin typeface="Arial" panose="020B0604020202020204" pitchFamily="34" charset="0"/>
                <a:ea typeface="Calibri" panose="020F0502020204030204" pitchFamily="34" charset="0"/>
                <a:cs typeface="Times New Roman" panose="02020603050405020304" pitchFamily="18" charset="0"/>
              </a:rPr>
              <a:t>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configuration</a:t>
            </a:r>
            <a:r>
              <a:rPr lang="es-MX" sz="1800" dirty="0">
                <a:effectLst/>
                <a:latin typeface="Arial" panose="020B0604020202020204" pitchFamily="34" charset="0"/>
                <a:ea typeface="Calibri" panose="020F0502020204030204" pitchFamily="34" charset="0"/>
                <a:cs typeface="Times New Roman" panose="02020603050405020304" pitchFamily="18" charset="0"/>
              </a:rPr>
              <a:t>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production</a:t>
            </a:r>
            <a:r>
              <a:rPr lang="es-MX" sz="1800" dirty="0">
                <a:effectLst/>
                <a:latin typeface="Arial" panose="020B0604020202020204" pitchFamily="34" charset="0"/>
                <a:ea typeface="Calibri" panose="020F0502020204030204" pitchFamily="34" charset="0"/>
                <a:cs typeface="Times New Roman" panose="02020603050405020304" pitchFamily="18" charset="0"/>
              </a:rPr>
              <a:t>.</a:t>
            </a:r>
          </a:p>
          <a:p>
            <a:pPr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9. Con el comando anterior se creó una carpeta llamada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dist</a:t>
            </a:r>
            <a:r>
              <a:rPr lang="es-MX" sz="1800" dirty="0">
                <a:effectLst/>
                <a:latin typeface="Arial" panose="020B0604020202020204" pitchFamily="34" charset="0"/>
                <a:ea typeface="Calibri" panose="020F0502020204030204" pitchFamily="34" charset="0"/>
                <a:cs typeface="Times New Roman" panose="02020603050405020304" pitchFamily="18" charset="0"/>
              </a:rPr>
              <a:t> en el proyecto, esta nueva carpeta contiene los archivos listos para subir, para que Azure pueda interpretarlos.</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defTabSz="914400" rtl="0" eaLnBrk="1" fontAlgn="auto" latinLnBrk="0" hangingPunct="1">
              <a:lnSpc>
                <a:spcPct val="150000"/>
              </a:lnSpc>
              <a:spcBef>
                <a:spcPts val="0"/>
              </a:spcBef>
              <a:spcAft>
                <a:spcPts val="800"/>
              </a:spcAft>
              <a:buClrTx/>
              <a:buSzTx/>
              <a:tabLst/>
              <a:defRPr/>
            </a:pP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44CE2EE8-2994-4ADC-9A8D-05A91DD79F65}"/>
              </a:ext>
            </a:extLst>
          </p:cNvPr>
          <p:cNvPicPr/>
          <p:nvPr/>
        </p:nvPicPr>
        <p:blipFill rotWithShape="1">
          <a:blip r:embed="rId2"/>
          <a:srcRect b="16094"/>
          <a:stretch/>
        </p:blipFill>
        <p:spPr bwMode="auto">
          <a:xfrm>
            <a:off x="6360273" y="1698171"/>
            <a:ext cx="5202147" cy="258147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70976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19</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680180" y="1221619"/>
            <a:ext cx="5415820" cy="539121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Despliegue en Azure</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lvl="0"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10. Utilizando el enlace del dominio generado en Azure se accedió a la página, pero utilizando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scm</a:t>
            </a:r>
            <a:r>
              <a:rPr lang="es-MX" sz="1800" dirty="0">
                <a:effectLst/>
                <a:latin typeface="Arial" panose="020B0604020202020204" pitchFamily="34" charset="0"/>
                <a:ea typeface="Calibri" panose="020F0502020204030204" pitchFamily="34" charset="0"/>
                <a:cs typeface="Times New Roman" panose="02020603050405020304" pitchFamily="18" charset="0"/>
              </a:rPr>
              <a:t>” se redirigió al panel de control donde se puede acceder a la ruta indicada para subir los archivos del proyecto.</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s-MX" sz="1800" dirty="0">
                <a:effectLst/>
                <a:latin typeface="Calibri" panose="020F0502020204030204" pitchFamily="34" charset="0"/>
                <a:ea typeface="Calibri" panose="020F0502020204030204" pitchFamily="34" charset="0"/>
                <a:cs typeface="Times New Roman" panose="02020603050405020304" pitchFamily="18" charset="0"/>
              </a:rPr>
              <a:t>11. </a:t>
            </a:r>
            <a:r>
              <a:rPr lang="es-MX" sz="1800" dirty="0">
                <a:effectLst/>
                <a:latin typeface="Arial" panose="020B0604020202020204" pitchFamily="34" charset="0"/>
                <a:ea typeface="Calibri" panose="020F0502020204030204" pitchFamily="34" charset="0"/>
                <a:cs typeface="Times New Roman" panose="02020603050405020304" pitchFamily="18" charset="0"/>
              </a:rPr>
              <a:t>Dentro de este panel se utilizó la siguiente ruta:</a:t>
            </a:r>
            <a:r>
              <a:rPr lang="es-MX" dirty="0">
                <a:latin typeface="Arial" panose="020B0604020202020204" pitchFamily="34" charset="0"/>
                <a:ea typeface="Calibri" panose="020F0502020204030204" pitchFamily="34" charset="0"/>
                <a:cs typeface="Times New Roman" panose="02020603050405020304" pitchFamily="18" charset="0"/>
              </a:rPr>
              <a:t> home/site/</a:t>
            </a:r>
            <a:r>
              <a:rPr lang="es-MX" dirty="0" err="1">
                <a:latin typeface="Arial" panose="020B0604020202020204" pitchFamily="34" charset="0"/>
                <a:ea typeface="Calibri" panose="020F0502020204030204" pitchFamily="34" charset="0"/>
                <a:cs typeface="Times New Roman" panose="02020603050405020304" pitchFamily="18" charset="0"/>
              </a:rPr>
              <a:t>wwwroot</a:t>
            </a:r>
            <a:r>
              <a:rPr lang="es-MX" dirty="0">
                <a:latin typeface="Arial" panose="020B0604020202020204" pitchFamily="34" charset="0"/>
                <a:ea typeface="Calibri" panose="020F0502020204030204" pitchFamily="34" charset="0"/>
                <a:cs typeface="Times New Roman" panose="02020603050405020304" pitchFamily="18" charset="0"/>
              </a:rPr>
              <a:t> y </a:t>
            </a:r>
            <a:r>
              <a:rPr lang="es-MX" sz="1800" dirty="0">
                <a:effectLst/>
                <a:latin typeface="Arial" panose="020B0604020202020204" pitchFamily="34" charset="0"/>
                <a:ea typeface="Calibri" panose="020F0502020204030204" pitchFamily="34" charset="0"/>
              </a:rPr>
              <a:t> se prosiguió a subir la carpeta comprimida que contiene los archivos de la aplicación web.</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defTabSz="914400" rtl="0" eaLnBrk="1" fontAlgn="auto" latinLnBrk="0" hangingPunct="1">
              <a:lnSpc>
                <a:spcPct val="150000"/>
              </a:lnSpc>
              <a:spcBef>
                <a:spcPts val="0"/>
              </a:spcBef>
              <a:spcAft>
                <a:spcPts val="800"/>
              </a:spcAft>
              <a:buClrTx/>
              <a:buSzTx/>
              <a:tabLst/>
              <a:defRPr/>
            </a:pP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4B1A382E-CA8B-4B76-B386-5ECDC8757702}"/>
              </a:ext>
            </a:extLst>
          </p:cNvPr>
          <p:cNvPicPr/>
          <p:nvPr/>
        </p:nvPicPr>
        <p:blipFill rotWithShape="1">
          <a:blip r:embed="rId2"/>
          <a:srcRect b="24855"/>
          <a:stretch/>
        </p:blipFill>
        <p:spPr bwMode="auto">
          <a:xfrm>
            <a:off x="6294392" y="739140"/>
            <a:ext cx="5612130" cy="2370455"/>
          </a:xfrm>
          <a:prstGeom prst="rect">
            <a:avLst/>
          </a:prstGeom>
          <a:ln>
            <a:noFill/>
          </a:ln>
          <a:extLst>
            <a:ext uri="{53640926-AAD7-44D8-BBD7-CCE9431645EC}">
              <a14:shadowObscured xmlns:a14="http://schemas.microsoft.com/office/drawing/2010/main"/>
            </a:ext>
          </a:extLst>
        </p:spPr>
      </p:pic>
      <p:pic>
        <p:nvPicPr>
          <p:cNvPr id="6" name="Imagen 5">
            <a:extLst>
              <a:ext uri="{FF2B5EF4-FFF2-40B4-BE49-F238E27FC236}">
                <a16:creationId xmlns:a16="http://schemas.microsoft.com/office/drawing/2014/main" id="{50B04C2A-94B0-4D7B-A0FE-CA6E14F84479}"/>
              </a:ext>
            </a:extLst>
          </p:cNvPr>
          <p:cNvPicPr/>
          <p:nvPr/>
        </p:nvPicPr>
        <p:blipFill>
          <a:blip r:embed="rId3"/>
          <a:stretch>
            <a:fillRect/>
          </a:stretch>
        </p:blipFill>
        <p:spPr>
          <a:xfrm>
            <a:off x="6096000" y="3748405"/>
            <a:ext cx="5612130" cy="2607945"/>
          </a:xfrm>
          <a:prstGeom prst="rect">
            <a:avLst/>
          </a:prstGeom>
        </p:spPr>
      </p:pic>
    </p:spTree>
    <p:extLst>
      <p:ext uri="{BB962C8B-B14F-4D97-AF65-F5344CB8AC3E}">
        <p14:creationId xmlns:p14="http://schemas.microsoft.com/office/powerpoint/2010/main" val="3717979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20</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971461" y="760091"/>
            <a:ext cx="10249078" cy="476540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Despliegue en Azure</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lvl="0"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12. También se realizaron algunos ajustes dentro del App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Service</a:t>
            </a:r>
            <a:r>
              <a:rPr lang="es-MX" sz="1800" dirty="0">
                <a:effectLst/>
                <a:latin typeface="Arial" panose="020B0604020202020204" pitchFamily="34" charset="0"/>
                <a:ea typeface="Calibri" panose="020F0502020204030204" pitchFamily="34" charset="0"/>
                <a:cs typeface="Times New Roman" panose="02020603050405020304" pitchFamily="18" charset="0"/>
              </a:rPr>
              <a:t>, estos cambios se implementaron en la configuración general.</a:t>
            </a:r>
          </a:p>
          <a:p>
            <a:pPr lvl="0"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13.En “configuración en la pila”, se modificó el comando de inicio para que Azure sepa cómo mostrar las pantallas de Angular. Aquí se indica que se está ejecutando un servidor web estático, el cual redirige la petición al archivo principal index.html para que Angular muestre la vista correcta.</a:t>
            </a:r>
          </a:p>
          <a:p>
            <a:pPr lvl="0"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Además, también se especificó el puerto a utilizar.</a:t>
            </a:r>
          </a:p>
          <a:p>
            <a:pPr lvl="0" algn="just">
              <a:lnSpc>
                <a:spcPct val="150000"/>
              </a:lnSpc>
              <a:spcAft>
                <a:spcPts val="800"/>
              </a:spcAft>
            </a:pP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defTabSz="914400" rtl="0" eaLnBrk="1" fontAlgn="auto" latinLnBrk="0" hangingPunct="1">
              <a:lnSpc>
                <a:spcPct val="150000"/>
              </a:lnSpc>
              <a:spcBef>
                <a:spcPts val="0"/>
              </a:spcBef>
              <a:spcAft>
                <a:spcPts val="800"/>
              </a:spcAft>
              <a:buClrTx/>
              <a:buSzTx/>
              <a:tabLst/>
              <a:defRPr/>
            </a:pP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10" name="Imagen 9">
            <a:extLst>
              <a:ext uri="{FF2B5EF4-FFF2-40B4-BE49-F238E27FC236}">
                <a16:creationId xmlns:a16="http://schemas.microsoft.com/office/drawing/2014/main" id="{AC57E5D0-2021-421C-A38C-2D90760DB771}"/>
              </a:ext>
            </a:extLst>
          </p:cNvPr>
          <p:cNvPicPr/>
          <p:nvPr/>
        </p:nvPicPr>
        <p:blipFill rotWithShape="1">
          <a:blip r:embed="rId2"/>
          <a:srcRect t="15501" b="4622"/>
          <a:stretch/>
        </p:blipFill>
        <p:spPr bwMode="auto">
          <a:xfrm>
            <a:off x="4055747" y="4019232"/>
            <a:ext cx="5610860" cy="251968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06188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21</a:t>
            </a:fld>
            <a:endParaRPr lang="es-MX"/>
          </a:p>
        </p:txBody>
      </p:sp>
      <p:sp>
        <p:nvSpPr>
          <p:cNvPr id="9" name="CuadroTexto 8">
            <a:extLst>
              <a:ext uri="{FF2B5EF4-FFF2-40B4-BE49-F238E27FC236}">
                <a16:creationId xmlns:a16="http://schemas.microsoft.com/office/drawing/2014/main" id="{6D01E51C-8E4B-4736-A160-4F62493D3029}"/>
              </a:ext>
            </a:extLst>
          </p:cNvPr>
          <p:cNvSpPr txBox="1"/>
          <p:nvPr/>
        </p:nvSpPr>
        <p:spPr>
          <a:xfrm>
            <a:off x="1914889" y="910648"/>
            <a:ext cx="9010739" cy="424731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b="1" dirty="0">
                <a:solidFill>
                  <a:prstClr val="black"/>
                </a:solidFill>
                <a:latin typeface="Arial" panose="020B0604020202020204" pitchFamily="34" charset="0"/>
                <a:ea typeface="Aptos" panose="020B0004020202020204" pitchFamily="34" charset="0"/>
                <a:cs typeface="Arial" panose="020B0604020202020204" pitchFamily="34" charset="0"/>
              </a:rPr>
              <a:t>Despliegue en Azure</a:t>
            </a: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14.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Supabase</a:t>
            </a:r>
            <a:r>
              <a:rPr lang="es-MX" sz="1800" dirty="0">
                <a:effectLst/>
                <a:latin typeface="Arial" panose="020B0604020202020204" pitchFamily="34" charset="0"/>
                <a:ea typeface="Calibri" panose="020F0502020204030204" pitchFamily="34" charset="0"/>
                <a:cs typeface="Times New Roman" panose="02020603050405020304" pitchFamily="18" charset="0"/>
              </a:rPr>
              <a:t> estaba correctamente conectado a la aplicación a través de la URL y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Anon</a:t>
            </a:r>
            <a:r>
              <a:rPr lang="es-MX" sz="1800" dirty="0">
                <a:effectLst/>
                <a:latin typeface="Arial" panose="020B0604020202020204" pitchFamily="34" charset="0"/>
                <a:ea typeface="Calibri" panose="020F0502020204030204" pitchFamily="34" charset="0"/>
                <a:cs typeface="Times New Roman" panose="02020603050405020304" pitchFamily="18" charset="0"/>
              </a:rPr>
              <a:t> Key, por lo tanto, dentro de esta plataforma no se realizó ninguna modificación; esto quiere decir que utilizando el enlace generado ya se puede acceder a la página correspondiente.</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s-MX" sz="1800" dirty="0">
              <a:effectLst/>
              <a:latin typeface="Arial" panose="020B060402020202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defTabSz="914400" rtl="0" eaLnBrk="1" fontAlgn="auto" latinLnBrk="0" hangingPunct="1">
              <a:lnSpc>
                <a:spcPct val="150000"/>
              </a:lnSpc>
              <a:spcBef>
                <a:spcPts val="0"/>
              </a:spcBef>
              <a:spcAft>
                <a:spcPts val="800"/>
              </a:spcAft>
              <a:buClrTx/>
              <a:buSzTx/>
              <a:tabLst/>
              <a:defRPr/>
            </a:pPr>
            <a:endParaRPr kumimoji="0" lang="es-MX"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4DF4B2BD-214D-4CA7-9212-EF44F6B95237}"/>
              </a:ext>
            </a:extLst>
          </p:cNvPr>
          <p:cNvPicPr/>
          <p:nvPr/>
        </p:nvPicPr>
        <p:blipFill rotWithShape="1">
          <a:blip r:embed="rId2"/>
          <a:srcRect b="72532"/>
          <a:stretch/>
        </p:blipFill>
        <p:spPr bwMode="auto">
          <a:xfrm>
            <a:off x="3083106" y="3561986"/>
            <a:ext cx="6899094" cy="159597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75175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número de diapositiva 7">
            <a:extLst>
              <a:ext uri="{FF2B5EF4-FFF2-40B4-BE49-F238E27FC236}">
                <a16:creationId xmlns:a16="http://schemas.microsoft.com/office/drawing/2014/main" id="{197D1D81-AAD6-4B14-AFF4-9DFBDE37F824}"/>
              </a:ext>
            </a:extLst>
          </p:cNvPr>
          <p:cNvSpPr>
            <a:spLocks noGrp="1"/>
          </p:cNvSpPr>
          <p:nvPr>
            <p:ph type="sldNum" sz="quarter" idx="12"/>
          </p:nvPr>
        </p:nvSpPr>
        <p:spPr/>
        <p:txBody>
          <a:bodyPr/>
          <a:lstStyle/>
          <a:p>
            <a:fld id="{90A5DFEB-E07E-4B57-AD4A-E6E5A3B83734}" type="slidenum">
              <a:rPr lang="es-MX" smtClean="0"/>
              <a:t>22</a:t>
            </a:fld>
            <a:endParaRPr lang="es-MX"/>
          </a:p>
        </p:txBody>
      </p:sp>
      <p:sp>
        <p:nvSpPr>
          <p:cNvPr id="3" name="CuadroTexto 2">
            <a:extLst>
              <a:ext uri="{FF2B5EF4-FFF2-40B4-BE49-F238E27FC236}">
                <a16:creationId xmlns:a16="http://schemas.microsoft.com/office/drawing/2014/main" id="{57048350-3116-40C2-9397-36C0BF0F0EE8}"/>
              </a:ext>
            </a:extLst>
          </p:cNvPr>
          <p:cNvSpPr txBox="1"/>
          <p:nvPr/>
        </p:nvSpPr>
        <p:spPr>
          <a:xfrm>
            <a:off x="1690407" y="849742"/>
            <a:ext cx="8811185" cy="5858014"/>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s-MX" b="1" dirty="0">
                <a:solidFill>
                  <a:prstClr val="black"/>
                </a:solidFill>
                <a:latin typeface="Arial" panose="020B0604020202020204" pitchFamily="34" charset="0"/>
                <a:cs typeface="Arial" panose="020B0604020202020204" pitchFamily="34" charset="0"/>
              </a:rPr>
              <a:t>Conclusión</a:t>
            </a: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Terminar este proyecto demuestra la viabilidad de integrar tecnologías modernas para resolver problemáticas reales. El desarrollo de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SolicitaTec</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permitió aplicar de manera práctica conceptos analizados a lo largo de las asignaturas como el desarrollo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frontend</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con Angular, el diseño de bases de datos relacionales con </a:t>
            </a:r>
            <a:r>
              <a:rPr kumimoji="0" lang="es-MX" sz="1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backend</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como servicios y el despliegue de aplicaciones con Microsoft Azure.</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 logró una aplicación funcional que conecta el flujo de solicitudes: desde la interfaz del a la bandeja de control del administrador para el cambio de estados del trámite. Los resultados presentados en este reporte son el alcance máximo que se pudo lograr y alcanzar durante el periodo de desarrollo de la asignatura, considerando el tiempo, la aplicación web queda completamente preparada para recibir mejoras continuas y solución de detalles lógicos.</a:t>
            </a: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91707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E5F54803-36AB-42B2-925B-BCB3F3F0DC5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FAD80A-BD4B-4644-B5A4-99133F8C7605}"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CED9B3DC-05D8-4D96-B190-4A50865B4A34}"/>
              </a:ext>
            </a:extLst>
          </p:cNvPr>
          <p:cNvSpPr txBox="1"/>
          <p:nvPr/>
        </p:nvSpPr>
        <p:spPr>
          <a:xfrm>
            <a:off x="1690407" y="849742"/>
            <a:ext cx="8811185" cy="710450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Fuentes de información</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Vázquez Escobedo, C. (2026). Tópicos de Programación Web Instituto Tecnológico de Frontera Comalapa.</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 presente práctica se llevó a cabo siguiendo las indicaciones del catedrático</a:t>
            </a:r>
            <a:r>
              <a:rPr kumimoji="0" lang="es-ES" sz="18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 </a:t>
            </a:r>
            <a:r>
              <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Francisco Javier Velázquez Mingo, además de utilizar l</a:t>
            </a: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os conocimientos adquiridos durante la asignatura Tópicos de Programación Web  impartida en el periodo enero-junio de 2026.</a:t>
            </a: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95486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E5F54803-36AB-42B2-925B-BCB3F3F0DC5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FAD80A-BD4B-4644-B5A4-99133F8C7605}"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CED9B3DC-05D8-4D96-B190-4A50865B4A34}"/>
              </a:ext>
            </a:extLst>
          </p:cNvPr>
          <p:cNvSpPr txBox="1"/>
          <p:nvPr/>
        </p:nvSpPr>
        <p:spPr>
          <a:xfrm>
            <a:off x="1690407" y="887842"/>
            <a:ext cx="8811185" cy="3365024"/>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s-ES" dirty="0">
                <a:solidFill>
                  <a:prstClr val="black"/>
                </a:solidFill>
                <a:latin typeface="Arial" panose="020B0604020202020204" pitchFamily="34" charset="0"/>
                <a:ea typeface="Aptos" panose="020B0004020202020204" pitchFamily="34" charset="0"/>
                <a:cs typeface="Arial" panose="020B0604020202020204" pitchFamily="34" charset="0"/>
              </a:rPr>
              <a:t>Anexo carpeta que contiene el código fuente correspondiente a este avance “</a:t>
            </a:r>
            <a:r>
              <a:rPr lang="es-ES" dirty="0" err="1">
                <a:solidFill>
                  <a:prstClr val="black"/>
                </a:solidFill>
                <a:latin typeface="Arial" panose="020B0604020202020204" pitchFamily="34" charset="0"/>
                <a:ea typeface="Aptos" panose="020B0004020202020204" pitchFamily="34" charset="0"/>
                <a:cs typeface="Arial" panose="020B0604020202020204" pitchFamily="34" charset="0"/>
              </a:rPr>
              <a:t>Proyecto_angular</a:t>
            </a:r>
            <a:r>
              <a:rPr lang="es-ES" dirty="0">
                <a:solidFill>
                  <a:prstClr val="black"/>
                </a:solidFill>
                <a:latin typeface="Arial" panose="020B0604020202020204" pitchFamily="34" charset="0"/>
                <a:ea typeface="Aptos" panose="020B0004020202020204" pitchFamily="34" charset="0"/>
                <a:cs typeface="Arial" panose="020B0604020202020204" pitchFamily="34" charset="0"/>
              </a:rPr>
              <a:t>”</a:t>
            </a: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50808713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446</TotalTime>
  <Words>1563</Words>
  <Application>Microsoft Office PowerPoint</Application>
  <PresentationFormat>Panorámica</PresentationFormat>
  <Paragraphs>148</Paragraphs>
  <Slides>24</Slides>
  <Notes>0</Notes>
  <HiddenSlides>0</HiddenSlides>
  <MMClips>0</MMClips>
  <ScaleCrop>false</ScaleCrop>
  <HeadingPairs>
    <vt:vector size="6" baseType="variant">
      <vt:variant>
        <vt:lpstr>Fuentes usadas</vt:lpstr>
      </vt:variant>
      <vt:variant>
        <vt:i4>3</vt:i4>
      </vt:variant>
      <vt:variant>
        <vt:lpstr>Tema</vt:lpstr>
      </vt:variant>
      <vt:variant>
        <vt:i4>2</vt:i4>
      </vt:variant>
      <vt:variant>
        <vt:lpstr>Títulos de diapositiva</vt:lpstr>
      </vt:variant>
      <vt:variant>
        <vt:i4>24</vt:i4>
      </vt:variant>
    </vt:vector>
  </HeadingPairs>
  <TitlesOfParts>
    <vt:vector size="29" baseType="lpstr">
      <vt:lpstr>Arial</vt:lpstr>
      <vt:lpstr>Calibri</vt:lpstr>
      <vt:lpstr>Calibri Light</vt:lpstr>
      <vt:lpstr>Tema de Office</vt:lpstr>
      <vt:lpstr>1_Tema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Gleysi Yoselin Escobedo López</dc:creator>
  <cp:lastModifiedBy>Gleysi Yoselin Escobedo López</cp:lastModifiedBy>
  <cp:revision>30</cp:revision>
  <dcterms:created xsi:type="dcterms:W3CDTF">2026-06-12T07:29:57Z</dcterms:created>
  <dcterms:modified xsi:type="dcterms:W3CDTF">2026-06-13T02:40:56Z</dcterms:modified>
</cp:coreProperties>
</file>