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2" r:id="rId3"/>
    <p:sldId id="275" r:id="rId4"/>
    <p:sldId id="265" r:id="rId5"/>
    <p:sldId id="258" r:id="rId6"/>
    <p:sldId id="281" r:id="rId7"/>
    <p:sldId id="260" r:id="rId8"/>
    <p:sldId id="277" r:id="rId9"/>
    <p:sldId id="282" r:id="rId10"/>
    <p:sldId id="259" r:id="rId11"/>
    <p:sldId id="283" r:id="rId12"/>
    <p:sldId id="278" r:id="rId13"/>
    <p:sldId id="276" r:id="rId14"/>
    <p:sldId id="280" r:id="rId15"/>
    <p:sldId id="284" r:id="rId16"/>
    <p:sldId id="264" r:id="rId17"/>
    <p:sldId id="285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E7852-A243-4D1F-BE40-4A8CEDC54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09EC3-B48B-4910-8BE8-066415183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22463D-EEAF-46E0-9523-786DBC88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3CB658-C89F-4DA4-854A-07E8D4F5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EB943-C2F5-492B-B024-06155D85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433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7EEAE-94B1-49BC-8D99-085F369B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D28A0-6DE2-4990-8792-D8ECD2AD3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E103F-4E68-4F60-B5EB-8BB15A0C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8A701-9887-4756-8F8E-044178CC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03A57-86D8-4B29-9D91-E7CAE745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189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1AB2-394C-4966-B49D-2FBF3FF3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03259B-A2CF-45E0-B2EF-7127E0971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DD69F3-C452-4D12-B2AC-B15FB0D4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53CD9-4361-4D82-ABBA-74703399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FB274-CD73-4D42-A5AF-475669E2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22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47888-5B47-4D51-8CAA-E7357F13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8720D-0872-4F34-AAF3-35D5CBA53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972BBB-CA6B-4F8B-942E-710D8F683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C51797-B344-4021-811C-CC22E8D0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BCA487-4223-4095-8A3B-AA41C755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ABA45-1E91-4926-8C7B-7CB01CF4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86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AA6E-8DC6-4570-93B9-4585046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DC2329-7EA8-424F-BC5A-4500E794E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9487F-7081-4433-AE74-90B1DD817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67BE92-0421-4527-B094-6E55B6DEB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90E1A0-B13F-4C9A-810E-0C400F02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27281D-EE87-4FDE-BB98-6FA0D54B3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120C4B-DFA5-4C54-BD36-E61AD7B5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45B18C-FF35-4399-86D9-806968D5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019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ECBB1-E18D-4236-9A00-91C48529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ADD218-C11D-4DE4-8311-E41CA9B5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0AEE03-56BF-4CA2-89CA-CFCD6286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7286C0-922F-463F-9621-100CD018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895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FCC752-686A-49C0-B756-CA94A60E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88CF80-2AF6-4C2E-9030-85AD578C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D24E1F-C2CF-4DF9-8E19-20300D33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486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82B44-C91F-4109-AC06-2DF69FE9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F49BE-B85B-4303-B6A0-DC957C63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033CBA-30BF-47CF-ADB8-A1C39AE1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5A13B-2371-43A4-8586-98D5D42F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868FB4-E6D2-4CEE-B820-E26BF627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F0E385-2214-40DD-BA03-5529FAD0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636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1890E-B6D8-4758-A235-1ED2EEE0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D59FD8-F370-4BCE-9E7F-28D85547F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612B11-AD4E-491F-89BE-EC6F13879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12812A-85AC-4973-AB10-37A03CA7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581B2F-8780-49C3-8D94-F0D32621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92AC2-C7D1-4CF2-B344-DDD3C163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593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9D0E7-7198-4481-8D06-E3958617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70956-E965-4AA2-89C1-35FFDB6C9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CF4658-8D7F-42CA-AF74-5ED5C8FB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69CF4-DBE8-4CE7-9157-202C6D27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2AF937-D57E-4758-AFE7-E3689864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95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D5253B-DEF1-43E8-B065-22E14D04A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6D5654-DBBD-4DFA-8649-C04423897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FD275A-CD8C-44B1-92ED-BB36C530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97CF4E-101E-4F8C-BE98-57E8641C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9A414-0438-4D64-BA41-EC8EDB00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26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569BB-D1AA-41BC-9020-12FA9072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541158-CFD6-4C3C-BDE3-79C9F5F31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56E42B-87AB-4AF8-88AF-930AFB33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15CB-2684-4AD9-B52B-C929763090CA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D6A0D-EA8B-453D-AE10-AC76323D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B4BCA-5729-478B-B189-05322C12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8446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BE825-AE03-46CC-B509-C2868569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182F8-7F8B-4132-8504-639CE9B6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52CFE-7F0E-4B86-A717-CC8B5F37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BEDB-3A64-4BD9-937C-92C35E747F6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654AE-C89B-4BEA-A2C6-3A29121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FBAAC-DACC-40C3-8808-14B34FDC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351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024A9-ADC0-475C-A4CE-52EC4194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8DEDB7-2AC4-4038-9094-37466A0EA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127CF8-A74A-4A66-80CA-4069A986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7856E-A756-49D7-9127-08A5FEE39B11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4F050-3352-46A9-9F93-62EEA78D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20346-687C-4755-BD4B-F4FCB309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108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3DBBE-D2E4-4F04-B922-5FD75772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68BAE-5D08-4DB1-B4F8-B7570F89E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93BADE-23A4-4D42-A5BB-1FA6BDBCD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EA602-54A7-45EB-A826-11A0035C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D400F-7146-497B-9B9A-15172F13A02D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4EBFCF-024B-4F45-AE25-56567651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C06DF-BE02-4D50-976E-47B7A16B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3075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60EC7-1D14-4C95-A1F8-137DF6F3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1B9F03-7F8A-4BB3-8FB2-248C69A9F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31729C-46FF-4211-B612-707528778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1AC62D-32E8-41C0-A71D-01FC60F83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1F56A6-EE9F-46F9-9F6C-F5C0C6583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8D94F-CE70-4ACA-A646-58C05D55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07ED-6A46-4EC5-8D31-AF5325EB791E}" type="datetime1">
              <a:rPr lang="es-MX" smtClean="0"/>
              <a:t>12/06/2026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D87F43-1A42-46F0-943E-15A74E84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81AF9-C612-4360-9AA5-05A9FA1A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483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94446-690F-49EA-9935-A793775A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EF97F0-CD59-4395-819D-575B099B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EC20-398A-4F8E-8907-91BEED6CE050}" type="datetime1">
              <a:rPr lang="es-MX" smtClean="0"/>
              <a:t>12/06/2026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445D2D-714D-4012-B8DB-9A6A2B38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CCAFA4-38B3-479F-A478-DA1E2C33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2521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90A9B8-38BB-46D4-9638-31D7C88E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3480-F7FA-4694-86FE-8DD7AB8AAB4D}" type="datetime1">
              <a:rPr lang="es-MX" smtClean="0"/>
              <a:t>12/06/2026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E665E4-512D-4688-B71F-8EBF1E9E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B721AF-AC52-44F9-B8E1-2942BB55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6634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E4005-27CE-4673-8E2A-3E393024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CD5B0-4D5F-4626-8167-9BDAB9E0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60094B-F4D6-45B5-A313-1E20154F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293834-E6EA-4CA6-85FC-579B32CF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DF87-7080-4D04-88C8-317B64B148B7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CA0BAB-DDE7-4DFE-90A0-23ED6453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02B5-385C-450E-86FD-EDE657DC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224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DA8C-5A92-4395-8B52-1B64C0012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150023-BFFF-4E45-BB48-B33318C3A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ECFF12-0C6F-4BB4-96CE-B003C0EA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389C-C27C-4B18-95B7-A39C92F1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6D58-5117-4B8F-8500-5045B431E6C2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78831-E1D8-4A43-8974-AB1822DC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2E3EF-8287-47CA-9B6F-1494D91C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6596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10128-0488-488A-9C5F-6BE7434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090DA6-E9CE-4F26-9757-6DB2E7EAF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E9C56-F4C1-48CE-AE02-C2F8454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EEC1-3A40-4E7C-B91C-34BA995EDB68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66ACF-0E09-42A4-8BD5-A09F849F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AB16C-4B13-4E12-9330-698178DF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9031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C6105C-27C2-4857-83E2-F751F27E6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A8E83D-195D-4EFF-9F61-045A05AE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6A393-A363-4812-8C9C-B24C4199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8A7-8A19-46D4-88B4-1A35902D5A54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29CA4-6735-4DFB-9D4F-0CDF0341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7443E7-C4C5-4D96-8315-AC8570BF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2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E9071C-E239-4F2F-99E4-F1B6666D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ABD2C9-BD8F-4F08-9B61-E3F2E336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30EAD6-059F-4F1B-8452-6B192A047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5AACC-8CFD-4B4E-AC65-813CD604AE9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336F97-0791-47BD-8101-8EA42D1BE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C57ABA-0464-439C-B559-CCFDAC584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B9C71-F594-41BD-81F8-0002EB234F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069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B675D-071B-4847-9543-0DCB7D9C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D314C1-8F19-418C-856F-AC97FC978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C66FD-9D89-41C0-BC61-80EDD1C39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DDD1-9F77-4F12-BA00-45107A5EA290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1CAEC-B7C9-432B-A5D8-7E6453153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C3655C-7C03-453D-8F41-CD80804D8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AD80A-BD4B-4644-B5A4-99133F8C76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635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olicitatec-drg8g5fvgbere6as.canadacentral-01.azurewebsites.ne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EC1F6CC-7BF3-471C-ACB4-A42ECE5F5F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99828"/>
            <a:ext cx="1685296" cy="6878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AFBEAA-4C56-4B12-A262-9A51F25B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4" t="-1" b="-40163"/>
          <a:stretch/>
        </p:blipFill>
        <p:spPr>
          <a:xfrm>
            <a:off x="5725501" y="309135"/>
            <a:ext cx="1752758" cy="1054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DFEC3B5-7446-4AA9-9BA0-C981DBC6B43E}"/>
              </a:ext>
            </a:extLst>
          </p:cNvPr>
          <p:cNvSpPr txBox="1"/>
          <p:nvPr/>
        </p:nvSpPr>
        <p:spPr>
          <a:xfrm>
            <a:off x="2547226" y="1359301"/>
            <a:ext cx="7234002" cy="5362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Tecnológico Nacional de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 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Reporte de práctica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Alumna: Gleysi Yoselin Escobedo López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8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Número de control: 22270456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Carrera: Ingeniería en Sistemas Computacionales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Docente: Ing.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entrega: 14 de junio de 2026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4C9BBF-FEB7-426F-9540-01718B54F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87" b="6206"/>
          <a:stretch/>
        </p:blipFill>
        <p:spPr>
          <a:xfrm>
            <a:off x="2017468" y="122721"/>
            <a:ext cx="2599700" cy="58065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9732A-2E66-4426-B98C-DE2B98A0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59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CE0191-9C54-491F-AFCD-659839E54898}"/>
              </a:ext>
            </a:extLst>
          </p:cNvPr>
          <p:cNvSpPr txBox="1"/>
          <p:nvPr/>
        </p:nvSpPr>
        <p:spPr>
          <a:xfrm>
            <a:off x="1578009" y="1140937"/>
            <a:ext cx="930514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este documento se presentan los resultados correspondiente al avance final de la aplicación web "Solicita-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". Esta actividad demuestra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cómo es la interacción de la aplicación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 el usuario final en un entorno real. A lo largo del documento se muestra evidencia del funcionamiento, a través de capturas.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la inserción de registros en la tabla de requisitos mediante el editor de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Supabase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la lógica de programación para los componentes dinámicos en la interfaz del alumno y el proceso de interconexión con el panel del administrador para la gestión de estados.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44D1A-B0B6-46CC-A6F2-230A2CC2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FE783-E8E1-4393-A7C7-9A7FFD018D1D}"/>
              </a:ext>
            </a:extLst>
          </p:cNvPr>
          <p:cNvSpPr txBox="1"/>
          <p:nvPr/>
        </p:nvSpPr>
        <p:spPr>
          <a:xfrm>
            <a:off x="1586436" y="605136"/>
            <a:ext cx="93051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importancia de esta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es 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demostrar que el sistema no solo muestra información visual, sino que procesa datos de manera inteligente; al implementar componentes dinámicos e interactivos. Para lograr este avance, como se ha mencionado en actividades anteriores, se utilizó Angular y </a:t>
            </a:r>
            <a:r>
              <a:rPr kumimoji="0" lang="es-MX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Supabase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para facilitar el almacenamiento seguro de archivos y contar con servicios de </a:t>
            </a:r>
            <a:r>
              <a:rPr kumimoji="0" lang="es-MX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Backend</a:t>
            </a: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Además también se interactuó con una plataforma nueva “Microsoft Azure” para hospedar la aplicación, lo que garantiza su disponibilidad; el anexo de este procedimiento se relaciona con el Tema 5 de la asignatura Programación Web que se centra en los servicios de cómputo en la nube.</a:t>
            </a:r>
            <a:endParaRPr kumimoji="0" lang="es-MX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6A23CC-72DB-482E-A641-B0ED1127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62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D85610-C870-4D57-90DB-281DD78C4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1" t="6450" r="4485" b="15669"/>
          <a:stretch/>
        </p:blipFill>
        <p:spPr>
          <a:xfrm>
            <a:off x="6335168" y="1741715"/>
            <a:ext cx="5492517" cy="26334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2DB544-50A4-4796-84F4-1640C0384A63}"/>
              </a:ext>
            </a:extLst>
          </p:cNvPr>
          <p:cNvSpPr txBox="1"/>
          <p:nvPr/>
        </p:nvSpPr>
        <p:spPr>
          <a:xfrm>
            <a:off x="770575" y="1012017"/>
            <a:ext cx="5086258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Inserción en la tabla </a:t>
            </a:r>
            <a:r>
              <a:rPr lang="es-MX" b="1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requisitos_documentos</a:t>
            </a:r>
            <a:endParaRPr lang="es-MX" b="1" i="0" dirty="0">
              <a:solidFill>
                <a:srgbClr val="0F172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tabla creada está compuesta por 3 campos: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Tipo_documento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Para este caso solo se implementaron 4 posibles documentos a solicitar: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Boleta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Kardex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Constancia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Servicio social</a:t>
            </a:r>
          </a:p>
        </p:txBody>
      </p:sp>
    </p:spTree>
    <p:extLst>
      <p:ext uri="{BB962C8B-B14F-4D97-AF65-F5344CB8AC3E}">
        <p14:creationId xmlns:p14="http://schemas.microsoft.com/office/powerpoint/2010/main" val="203710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D85610-C870-4D57-90DB-281DD78C4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1" t="6450" r="4485" b="15669"/>
          <a:stretch/>
        </p:blipFill>
        <p:spPr>
          <a:xfrm>
            <a:off x="6335170" y="2112255"/>
            <a:ext cx="5492517" cy="26334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2DB544-50A4-4796-84F4-1640C0384A63}"/>
              </a:ext>
            </a:extLst>
          </p:cNvPr>
          <p:cNvSpPr txBox="1"/>
          <p:nvPr/>
        </p:nvSpPr>
        <p:spPr>
          <a:xfrm>
            <a:off x="770573" y="1538738"/>
            <a:ext cx="5086258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Inserción en la tabla </a:t>
            </a:r>
            <a:r>
              <a:rPr lang="es-MX" b="1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requisitos_documentos</a:t>
            </a:r>
            <a:endParaRPr lang="es-MX" b="1" i="0" dirty="0">
              <a:solidFill>
                <a:srgbClr val="0F172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información de la tabla debe ser ingresada en la base de datos, ya que esta información no se manipula directamente por el usuario.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Algunos requisitos son: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Credencial Escolar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Documento con datos escolares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Comprobante de pago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59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E77E521-7D74-47D5-AF13-763A4D839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" t="4094" r="1106" b="9149"/>
          <a:stretch/>
        </p:blipFill>
        <p:spPr>
          <a:xfrm>
            <a:off x="6467953" y="2017058"/>
            <a:ext cx="5298221" cy="263121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4BF094F-459A-4B2A-ABF4-D7E6FF937797}"/>
              </a:ext>
            </a:extLst>
          </p:cNvPr>
          <p:cNvSpPr txBox="1"/>
          <p:nvPr/>
        </p:nvSpPr>
        <p:spPr>
          <a:xfrm>
            <a:off x="770575" y="1360360"/>
            <a:ext cx="5500237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estático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lograr actualizar el panel del alumno, se realizaron los avances por etapas.</a:t>
            </a: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Lo primero que se logró fue obtener y mostrar los datos en pantalla directo de la base de datos, pero en un formato limpio y ordenado.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2. Además del lado derecho se pueden visualizar el estado de la solicitud que el alumno envió, de esa manera sabe cuando está listo para recogerse.</a:t>
            </a:r>
          </a:p>
          <a:p>
            <a:pPr algn="just">
              <a:lnSpc>
                <a:spcPct val="150000"/>
              </a:lnSpc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 embargo más adelante pueden hacerse mejoras para automatizar más este proceso.</a:t>
            </a:r>
          </a:p>
        </p:txBody>
      </p:sp>
    </p:spTree>
    <p:extLst>
      <p:ext uri="{BB962C8B-B14F-4D97-AF65-F5344CB8AC3E}">
        <p14:creationId xmlns:p14="http://schemas.microsoft.com/office/powerpoint/2010/main" val="191884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E1BDC79-564E-48A3-AB78-66111403E8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58" r="1452" b="5684"/>
          <a:stretch/>
        </p:blipFill>
        <p:spPr>
          <a:xfrm>
            <a:off x="5992401" y="350429"/>
            <a:ext cx="5836742" cy="26358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F9A1C4-A35E-46AD-9EDB-A30243708E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0" t="4729" r="4773" b="9414"/>
          <a:stretch/>
        </p:blipFill>
        <p:spPr>
          <a:xfrm>
            <a:off x="5992401" y="3163768"/>
            <a:ext cx="5836742" cy="29815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BC38698-6329-4F72-BF2C-C84DF69F4CAE}"/>
              </a:ext>
            </a:extLst>
          </p:cNvPr>
          <p:cNvSpPr txBox="1"/>
          <p:nvPr/>
        </p:nvSpPr>
        <p:spPr>
          <a:xfrm>
            <a:off x="801419" y="1014770"/>
            <a:ext cx="4836675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 de Documentos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alumno tiene el permiso para solicitar documentos en la opción Nueva solicitud.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Aparece un menú desplegable con las opciones de documentos disponibles para solicitar.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Inmediatamente al seleccionar lo anterior en la parte de abajo aparecen los requisitos a manera de lista.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También se implementó la función para subir cada uno de los requisitos solicitados. 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03F0FAD-6A09-4556-97C5-8AE54F5A80F8}"/>
              </a:ext>
            </a:extLst>
          </p:cNvPr>
          <p:cNvCxnSpPr/>
          <p:nvPr/>
        </p:nvCxnSpPr>
        <p:spPr>
          <a:xfrm flipH="1">
            <a:off x="8781143" y="5733143"/>
            <a:ext cx="140788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8ED6983-59BA-425E-8DA2-35A6170996F4}"/>
              </a:ext>
            </a:extLst>
          </p:cNvPr>
          <p:cNvCxnSpPr/>
          <p:nvPr/>
        </p:nvCxnSpPr>
        <p:spPr>
          <a:xfrm flipH="1">
            <a:off x="8685893" y="5152118"/>
            <a:ext cx="140788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58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B913A2-D706-46B5-BD07-DC252C4ECE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19" b="8378"/>
          <a:stretch/>
        </p:blipFill>
        <p:spPr>
          <a:xfrm>
            <a:off x="5845575" y="1328418"/>
            <a:ext cx="6021721" cy="314020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93DAF6-FC24-4649-8DBA-1BEA5D858C49}"/>
              </a:ext>
            </a:extLst>
          </p:cNvPr>
          <p:cNvSpPr txBox="1"/>
          <p:nvPr/>
        </p:nvSpPr>
        <p:spPr>
          <a:xfrm>
            <a:off x="801419" y="1631508"/>
            <a:ext cx="4836675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</a:t>
            </a:r>
            <a:r>
              <a:rPr lang="es-MX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una </a:t>
            </a: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1. Para que el alumno suba los documentos solicitados se debe utilizar el botón seleccionar archivo y posteriormente se agrega el documento para al final enviar la solicitud junto con los requerimientos.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21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C595B8-AF77-4FAA-B47B-3D51A29B4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7" r="1235" b="11558"/>
          <a:stretch/>
        </p:blipFill>
        <p:spPr>
          <a:xfrm>
            <a:off x="5954650" y="1468531"/>
            <a:ext cx="5808165" cy="27622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EDE62EF-7214-47C5-A5A0-D406446D448A}"/>
              </a:ext>
            </a:extLst>
          </p:cNvPr>
          <p:cNvSpPr txBox="1"/>
          <p:nvPr/>
        </p:nvSpPr>
        <p:spPr>
          <a:xfrm>
            <a:off x="653502" y="1084259"/>
            <a:ext cx="4836675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Ejemplo de envío de solicitud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Primero se inicio sesión con una cuenta previamente registrada.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el apartado de solicitud se seleccionó el documento Kardex.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desplegaron los requisitos, en este caso solo uno, credencial escolar vigente.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Posteriormente aparece una barra para seleccionar el tipo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requisito y agregar a la solicitud.</a:t>
            </a:r>
          </a:p>
        </p:txBody>
      </p:sp>
    </p:spTree>
    <p:extLst>
      <p:ext uri="{BB962C8B-B14F-4D97-AF65-F5344CB8AC3E}">
        <p14:creationId xmlns:p14="http://schemas.microsoft.com/office/powerpoint/2010/main" val="169906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C595B8-AF77-4FAA-B47B-3D51A29B4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7" r="1235" b="11558"/>
          <a:stretch/>
        </p:blipFill>
        <p:spPr>
          <a:xfrm>
            <a:off x="5954650" y="1468531"/>
            <a:ext cx="5808165" cy="27622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EDE62EF-7214-47C5-A5A0-D406446D448A}"/>
              </a:ext>
            </a:extLst>
          </p:cNvPr>
          <p:cNvSpPr txBox="1"/>
          <p:nvPr/>
        </p:nvSpPr>
        <p:spPr>
          <a:xfrm>
            <a:off x="680396" y="1468531"/>
            <a:ext cx="483667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Ejemplo de envío de solicitud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Opcionalmente también se puede escribir el motivo de la solicitud o algún dato adicional.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solicitud se envía a la tabla correspondiente y aparece en el panel del administrador.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47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EF6DD2-EBC5-4EF7-A4A0-303A99205F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684" r="1" b="9196"/>
          <a:stretch/>
        </p:blipFill>
        <p:spPr>
          <a:xfrm>
            <a:off x="5806263" y="1744916"/>
            <a:ext cx="5929365" cy="287094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A53F5E3-B82A-4D8E-B439-7BDD3C5B50F9}"/>
              </a:ext>
            </a:extLst>
          </p:cNvPr>
          <p:cNvSpPr txBox="1"/>
          <p:nvPr/>
        </p:nvSpPr>
        <p:spPr>
          <a:xfrm>
            <a:off x="636853" y="584488"/>
            <a:ext cx="4836675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Solicitudes en el panel de administrador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puede observar que dentro de los documentos pendientes por realizar se encuentra la solicitud realizada anteriormente por el usuario </a:t>
            </a:r>
            <a:r>
              <a:rPr lang="es-MX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Madeni</a:t>
            </a: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Pérez Mazariegos.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puede cambiar el estado de la solicitud: pendiente, proceso y realizado.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actualizar un estado de solicitud inmediatamente se ve reflejado el cambio en el panel de solicitudes del alumno.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Además aparece un botón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ver detalles para poder visualizar los requisitos proporcionados por el alumno.</a:t>
            </a: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s-MX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25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3922BE7-0AA5-40D0-B5D4-62FA964631CF}"/>
              </a:ext>
            </a:extLst>
          </p:cNvPr>
          <p:cNvPicPr/>
          <p:nvPr/>
        </p:nvPicPr>
        <p:blipFill rotWithShape="1">
          <a:blip r:embed="rId2"/>
          <a:srcRect b="7013"/>
          <a:stretch/>
        </p:blipFill>
        <p:spPr bwMode="auto">
          <a:xfrm>
            <a:off x="5831429" y="294714"/>
            <a:ext cx="5612130" cy="29337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5B698C-620F-40BC-83E3-139800741D02}"/>
              </a:ext>
            </a:extLst>
          </p:cNvPr>
          <p:cNvPicPr/>
          <p:nvPr/>
        </p:nvPicPr>
        <p:blipFill rotWithShape="1">
          <a:blip r:embed="rId3"/>
          <a:srcRect b="12809"/>
          <a:stretch/>
        </p:blipFill>
        <p:spPr bwMode="auto">
          <a:xfrm>
            <a:off x="5831429" y="3429000"/>
            <a:ext cx="5612130" cy="27508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AF56F54-49E6-4D1D-ABF1-A87D2D188921}"/>
              </a:ext>
            </a:extLst>
          </p:cNvPr>
          <p:cNvSpPr txBox="1"/>
          <p:nvPr/>
        </p:nvSpPr>
        <p:spPr>
          <a:xfrm>
            <a:off x="492946" y="913869"/>
            <a:ext cx="5082988" cy="501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Azure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realizó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 despliegue exitoso, y la interconexión de la aplicación web “Solicita-</a:t>
            </a: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se observa en las capturas del navegador, la aplicación de Angular ha dejado de depender de un entorno local para pasar a estar completamente disponible en internet a través del dominio asignado por el proveedor de nube: 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https://solicitatec-drg8g5fvgbere6as.canadacentral-01.azurewebsites.net/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0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077A918-6078-4412-9ADB-9C5D492980DA}"/>
              </a:ext>
            </a:extLst>
          </p:cNvPr>
          <p:cNvSpPr txBox="1"/>
          <p:nvPr/>
        </p:nvSpPr>
        <p:spPr>
          <a:xfrm>
            <a:off x="521074" y="1276422"/>
            <a:ext cx="6098240" cy="4305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Dentro de la página se realizó una solicitud a </a:t>
            </a: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Supabase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La base de datos validó la existencia de la cuenta ingresada y permitió el acceso. Una vez dentro del sistema, tanto el panel del Alumno como el panel del Administrador demostraron una sincronización con la base de datos; se pudieron insertar y visualizar registros de solicitudes de documentos.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Supabase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 trabaja de forma nativa como un servicio en la nube, debido a esto, la base de datos se encuentra alojada de manera independiente a la aplicación web.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3B69B9-E263-4566-A794-D7917AAEB0E9}"/>
              </a:ext>
            </a:extLst>
          </p:cNvPr>
          <p:cNvPicPr/>
          <p:nvPr/>
        </p:nvPicPr>
        <p:blipFill rotWithShape="1">
          <a:blip r:embed="rId2"/>
          <a:srcRect t="7309" b="12305"/>
          <a:stretch/>
        </p:blipFill>
        <p:spPr bwMode="auto">
          <a:xfrm>
            <a:off x="7221070" y="2216888"/>
            <a:ext cx="4341756" cy="24242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720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CB6EA05-7F75-47C0-B59A-580A88D3EE35}"/>
              </a:ext>
            </a:extLst>
          </p:cNvPr>
          <p:cNvSpPr txBox="1"/>
          <p:nvPr/>
        </p:nvSpPr>
        <p:spPr>
          <a:xfrm>
            <a:off x="1772770" y="637184"/>
            <a:ext cx="9065559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Terminar este proyecto demuestra la viabilidad de integrar tecnologías modernas para resolver problemáticas reales. El desarrollo de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SolicitaTec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permitió aplicar de manera práctica conceptos analizados a lo largo de las asignaturas como el desarrollo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 Angular, el diseño de bases de datos relacionales con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backend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como servicios y el despliegue de aplicaciones con Microsoft Azure.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logró una aplicación funcional que conecta el flujo de solicitudes: desde la interfaz del a la bandeja de control del administrador para el cambio de estados del trámite. Los resultados presentados en este reporte son el alcance máximo que se pudo lograr y alcanzar durante el periodo de desarrollo de la asignatura, considerando el tiempo, la aplicación web queda completamente preparada para recibir mejoras continuas y solución de detalles lógicos. No cabe duda que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conocimientos adquiridos a lo largo de esta actividad nos proporcionaron experiencia en el desarrollo web, que se podrán aplicar en futuros proyectos.</a:t>
            </a:r>
          </a:p>
        </p:txBody>
      </p:sp>
    </p:spTree>
    <p:extLst>
      <p:ext uri="{BB962C8B-B14F-4D97-AF65-F5344CB8AC3E}">
        <p14:creationId xmlns:p14="http://schemas.microsoft.com/office/powerpoint/2010/main" val="237805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Fuentes de información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Vázquez Escobedo, C. (2026). Tópicos de Programación Web Instituto Tecnológico de Frontera Comalapa.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presente práctica se llevó a cabo siguiendo las indicaciones del catedrático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Mingo, además de utilizar l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 conocimientos adquiridos durante la asignatura Tópicos de Programación Web  impartida en el periodo enero-junio de 2026.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8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F54803-36AB-42B2-925B-BCB3F3F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AD80A-BD4B-4644-B5A4-99133F8C760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D9B3DC-05D8-4D96-B190-4A50865B4A34}"/>
              </a:ext>
            </a:extLst>
          </p:cNvPr>
          <p:cNvSpPr txBox="1"/>
          <p:nvPr/>
        </p:nvSpPr>
        <p:spPr>
          <a:xfrm>
            <a:off x="1690407" y="849742"/>
            <a:ext cx="8811185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Anexo carpeta que contiene el código fuente correspondiente a este avance “</a:t>
            </a:r>
            <a:r>
              <a:rPr lang="es-ES" dirty="0" err="1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Proyecto_angular</a:t>
            </a: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”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77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1124</Words>
  <Application>Microsoft Office PowerPoint</Application>
  <PresentationFormat>Panorámica</PresentationFormat>
  <Paragraphs>83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Gleysi Yoselin Escobedo López</dc:creator>
  <cp:lastModifiedBy>Gleysi Yoselin Escobedo López</cp:lastModifiedBy>
  <cp:revision>16</cp:revision>
  <dcterms:created xsi:type="dcterms:W3CDTF">2026-06-12T15:40:20Z</dcterms:created>
  <dcterms:modified xsi:type="dcterms:W3CDTF">2026-06-13T03:05:41Z</dcterms:modified>
</cp:coreProperties>
</file>